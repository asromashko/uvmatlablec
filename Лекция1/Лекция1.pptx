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72" r:id="rId1"/>
  </p:sldMasterIdLst>
  <p:notesMasterIdLst>
    <p:notesMasterId r:id="rId27"/>
  </p:notesMasterIdLst>
  <p:sldIdLst>
    <p:sldId id="258" r:id="rId2"/>
    <p:sldId id="257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  <p:sldId id="276" r:id="rId21"/>
    <p:sldId id="277" r:id="rId22"/>
    <p:sldId id="278" r:id="rId23"/>
    <p:sldId id="279" r:id="rId24"/>
    <p:sldId id="280" r:id="rId25"/>
    <p:sldId id="281" r:id="rId2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54A3D8"/>
    <a:srgbClr val="63CDDF"/>
    <a:srgbClr val="F57041"/>
    <a:srgbClr val="F46718"/>
    <a:srgbClr val="2CABC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2" d="100"/>
          <a:sy n="102" d="100"/>
        </p:scale>
        <p:origin x="870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notesMaster" Target="notesMasters/notesMaster1.xml"/><Relationship Id="rId30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9B5F00A-51B7-4331-8B21-77675F9FED1E}" type="datetimeFigureOut">
              <a:rPr lang="ru-RU" smtClean="0"/>
              <a:t>01.09.2026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28AACF-F7CE-4699-9710-58C08EA487B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757655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347508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97037824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 algn="ctr">
              <a:defRPr sz="6000"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 dirty="0"/>
              <a:t>Образец заголовка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7385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4066224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823251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602029"/>
          </a:xfrm>
        </p:spPr>
        <p:txBody>
          <a:bodyPr/>
          <a:lstStyle>
            <a:lvl1pPr algn="ctr">
              <a:defRPr>
                <a:solidFill>
                  <a:schemeClr val="bg2">
                    <a:lumMod val="50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353800" y="6322573"/>
            <a:ext cx="506018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862901F9-C394-4AD0-8AC1-89113BB3056D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213399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8874688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709189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7313743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9350009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5191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62901F9-C394-4AD0-8AC1-89113BB3056D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644220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6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6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6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6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6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6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5DF6DD7-9C94-BFD2-A85A-E0F3092854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Основы моделирования и исследования систем подводных аппаратов</a:t>
            </a:r>
          </a:p>
        </p:txBody>
      </p:sp>
    </p:spTree>
    <p:extLst>
      <p:ext uri="{BB962C8B-B14F-4D97-AF65-F5344CB8AC3E}">
        <p14:creationId xmlns:p14="http://schemas.microsoft.com/office/powerpoint/2010/main" val="25783542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62DA842-A32B-DAE1-968B-B27C92854C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>
                <a:solidFill>
                  <a:schemeClr val="bg2">
                    <a:lumMod val="50000"/>
                  </a:schemeClr>
                </a:solidFill>
              </a:rPr>
              <a:t>Организационные вопросы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070A044-9D34-1B8E-1AC5-100D5F7C5B16}"/>
              </a:ext>
            </a:extLst>
          </p:cNvPr>
          <p:cNvSpPr txBox="1"/>
          <p:nvPr/>
        </p:nvSpPr>
        <p:spPr>
          <a:xfrm>
            <a:off x="942680" y="1131216"/>
            <a:ext cx="7635712" cy="1569660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dirty="0">
                <a:latin typeface="Arial" pitchFamily="34" charset="0"/>
                <a:cs typeface="Arial" pitchFamily="34" charset="0"/>
              </a:rPr>
              <a:t>Ромашко Анна Сергеевна</a:t>
            </a:r>
          </a:p>
          <a:p>
            <a:r>
              <a:rPr lang="ru-RU" sz="2400" dirty="0">
                <a:latin typeface="Arial" pitchFamily="34" charset="0"/>
                <a:cs typeface="Arial" pitchFamily="34" charset="0"/>
              </a:rPr>
              <a:t>601а</a:t>
            </a: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romashko@bmstu.ru</a:t>
            </a:r>
            <a:endParaRPr lang="ru-RU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 err="1">
                <a:latin typeface="Arial" pitchFamily="34" charset="0"/>
                <a:cs typeface="Arial" pitchFamily="34" charset="0"/>
              </a:rPr>
              <a:t>Github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: asromashko</a:t>
            </a:r>
          </a:p>
        </p:txBody>
      </p:sp>
      <p:sp>
        <p:nvSpPr>
          <p:cNvPr id="4" name="Номер слайда 3">
            <a:extLst>
              <a:ext uri="{FF2B5EF4-FFF2-40B4-BE49-F238E27FC236}">
                <a16:creationId xmlns:a16="http://schemas.microsoft.com/office/drawing/2014/main" id="{A7D7838A-C07D-FA8A-BDF8-F58643FF3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</a:t>
            </a:fld>
            <a:endParaRPr lang="ru-RU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05A504C-BC09-1B2C-8B1E-D4CD040D7EE6}"/>
              </a:ext>
            </a:extLst>
          </p:cNvPr>
          <p:cNvSpPr txBox="1"/>
          <p:nvPr/>
        </p:nvSpPr>
        <p:spPr>
          <a:xfrm>
            <a:off x="942679" y="2906253"/>
            <a:ext cx="10411119" cy="3416320"/>
          </a:xfrm>
          <a:prstGeom prst="rect">
            <a:avLst/>
          </a:prstGeom>
          <a:noFill/>
          <a:ln w="38100">
            <a:solidFill>
              <a:srgbClr val="2CABCE"/>
            </a:solidFill>
          </a:ln>
        </p:spPr>
        <p:txBody>
          <a:bodyPr wrap="square" rtlCol="0">
            <a:spAutoFit/>
          </a:bodyPr>
          <a:lstStyle/>
          <a:p>
            <a:r>
              <a:rPr lang="en-US" sz="2400" dirty="0">
                <a:latin typeface="Arial" pitchFamily="34" charset="0"/>
                <a:cs typeface="Arial" pitchFamily="34" charset="0"/>
              </a:rPr>
              <a:t>16 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занятий</a:t>
            </a:r>
            <a:endParaRPr lang="en-US" sz="2400" dirty="0">
              <a:latin typeface="Arial" pitchFamily="34" charset="0"/>
              <a:cs typeface="Arial" pitchFamily="34" charset="0"/>
            </a:endParaRPr>
          </a:p>
          <a:p>
            <a:r>
              <a:rPr lang="en-US" sz="2400" dirty="0">
                <a:latin typeface="Arial" pitchFamily="34" charset="0"/>
                <a:cs typeface="Arial" pitchFamily="34" charset="0"/>
              </a:rPr>
              <a:t>2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модуля</a:t>
            </a:r>
          </a:p>
          <a:p>
            <a:r>
              <a:rPr lang="ru-RU" sz="2400" dirty="0">
                <a:latin typeface="Arial" pitchFamily="34" charset="0"/>
                <a:cs typeface="Arial" pitchFamily="34" charset="0"/>
              </a:rPr>
              <a:t>Минимум для зачета: </a:t>
            </a:r>
          </a:p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	- решение задач по 1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2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лекциям;</a:t>
            </a:r>
          </a:p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	- получение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1-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го «+» в каждом модуле.</a:t>
            </a:r>
          </a:p>
          <a:p>
            <a:r>
              <a:rPr lang="ru-RU" sz="2400" dirty="0">
                <a:latin typeface="Arial" pitchFamily="34" charset="0"/>
                <a:cs typeface="Arial" pitchFamily="34" charset="0"/>
              </a:rPr>
              <a:t>Условия получения «+»:</a:t>
            </a:r>
          </a:p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	- решение задачи у доски;</a:t>
            </a:r>
          </a:p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	- решение задачи первым;</a:t>
            </a:r>
          </a:p>
          <a:p>
            <a:pPr>
              <a:buNone/>
            </a:pPr>
            <a:r>
              <a:rPr lang="ru-RU" sz="2400" dirty="0">
                <a:latin typeface="Arial" pitchFamily="34" charset="0"/>
                <a:cs typeface="Arial" pitchFamily="34" charset="0"/>
              </a:rPr>
              <a:t>	- помощь в решении задачи </a:t>
            </a:r>
            <a:r>
              <a:rPr lang="en-US" sz="2400" dirty="0">
                <a:latin typeface="Arial" pitchFamily="34" charset="0"/>
                <a:cs typeface="Arial" pitchFamily="34" charset="0"/>
              </a:rPr>
              <a:t>3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-м коллегам. </a:t>
            </a:r>
          </a:p>
        </p:txBody>
      </p:sp>
    </p:spTree>
    <p:extLst>
      <p:ext uri="{BB962C8B-B14F-4D97-AF65-F5344CB8AC3E}">
        <p14:creationId xmlns:p14="http://schemas.microsoft.com/office/powerpoint/2010/main" val="206411757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C0E32D9-ADA7-B24B-4DDA-CB0EC05A31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Система управления и моделирование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D1297FE5-2C22-4518-98BA-A6F77C205EB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3</a:t>
            </a:fld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FCA3B198-E8AF-BA96-DCA8-528D40F823E3}"/>
              </a:ext>
            </a:extLst>
          </p:cNvPr>
          <p:cNvSpPr/>
          <p:nvPr/>
        </p:nvSpPr>
        <p:spPr>
          <a:xfrm>
            <a:off x="871593" y="1893479"/>
            <a:ext cx="1921492" cy="92932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Система управления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ABFEAF37-3A53-1045-1638-0A2065A061EF}"/>
              </a:ext>
            </a:extLst>
          </p:cNvPr>
          <p:cNvSpPr/>
          <p:nvPr/>
        </p:nvSpPr>
        <p:spPr>
          <a:xfrm>
            <a:off x="2020092" y="3493226"/>
            <a:ext cx="2205869" cy="9293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Навигационная система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987AF93C-D16A-A117-F29D-A2CA017E2F82}"/>
              </a:ext>
            </a:extLst>
          </p:cNvPr>
          <p:cNvSpPr/>
          <p:nvPr/>
        </p:nvSpPr>
        <p:spPr>
          <a:xfrm>
            <a:off x="3566872" y="1893479"/>
            <a:ext cx="1921492" cy="929324"/>
          </a:xfrm>
          <a:prstGeom prst="roundRect">
            <a:avLst/>
          </a:prstGeom>
          <a:solidFill>
            <a:srgbClr val="F4671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Объект управления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16ECD42E-F5C4-579B-E672-FD5D1E73774C}"/>
              </a:ext>
            </a:extLst>
          </p:cNvPr>
          <p:cNvCxnSpPr>
            <a:cxnSpLocks/>
            <a:stCxn id="4" idx="3"/>
            <a:endCxn id="6" idx="1"/>
          </p:cNvCxnSpPr>
          <p:nvPr/>
        </p:nvCxnSpPr>
        <p:spPr>
          <a:xfrm>
            <a:off x="2793085" y="2358141"/>
            <a:ext cx="7737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94A3DBFD-6E02-6481-CA31-9B39B53D9DDC}"/>
              </a:ext>
            </a:extLst>
          </p:cNvPr>
          <p:cNvCxnSpPr>
            <a:cxnSpLocks/>
            <a:endCxn id="5" idx="3"/>
          </p:cNvCxnSpPr>
          <p:nvPr/>
        </p:nvCxnSpPr>
        <p:spPr>
          <a:xfrm flipH="1">
            <a:off x="4225961" y="3957886"/>
            <a:ext cx="556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C8E86A0B-0348-EE1B-F91D-791E863A42D1}"/>
              </a:ext>
            </a:extLst>
          </p:cNvPr>
          <p:cNvCxnSpPr>
            <a:cxnSpLocks/>
          </p:cNvCxnSpPr>
          <p:nvPr/>
        </p:nvCxnSpPr>
        <p:spPr>
          <a:xfrm flipV="1">
            <a:off x="1397922" y="2822802"/>
            <a:ext cx="0" cy="1135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>
            <a:extLst>
              <a:ext uri="{FF2B5EF4-FFF2-40B4-BE49-F238E27FC236}">
                <a16:creationId xmlns:a16="http://schemas.microsoft.com/office/drawing/2014/main" id="{DACE3092-5AFC-314C-B87F-AB349631C096}"/>
              </a:ext>
            </a:extLst>
          </p:cNvPr>
          <p:cNvCxnSpPr>
            <a:cxnSpLocks/>
            <a:endCxn id="5" idx="1"/>
          </p:cNvCxnSpPr>
          <p:nvPr/>
        </p:nvCxnSpPr>
        <p:spPr>
          <a:xfrm flipV="1">
            <a:off x="1397922" y="3957886"/>
            <a:ext cx="622170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единительная линия 19">
            <a:extLst>
              <a:ext uri="{FF2B5EF4-FFF2-40B4-BE49-F238E27FC236}">
                <a16:creationId xmlns:a16="http://schemas.microsoft.com/office/drawing/2014/main" id="{2D7D57D5-3066-A87A-6E67-BA7156FFFA24}"/>
              </a:ext>
            </a:extLst>
          </p:cNvPr>
          <p:cNvCxnSpPr>
            <a:cxnSpLocks/>
          </p:cNvCxnSpPr>
          <p:nvPr/>
        </p:nvCxnSpPr>
        <p:spPr>
          <a:xfrm>
            <a:off x="4782144" y="2822802"/>
            <a:ext cx="0" cy="113508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F3E4FFC1-3824-9F5A-B79D-0988FE0D3B72}"/>
              </a:ext>
            </a:extLst>
          </p:cNvPr>
          <p:cNvCxnSpPr>
            <a:cxnSpLocks/>
          </p:cNvCxnSpPr>
          <p:nvPr/>
        </p:nvCxnSpPr>
        <p:spPr>
          <a:xfrm>
            <a:off x="332693" y="2340074"/>
            <a:ext cx="5389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Прямая соединительная линия 39">
            <a:extLst>
              <a:ext uri="{FF2B5EF4-FFF2-40B4-BE49-F238E27FC236}">
                <a16:creationId xmlns:a16="http://schemas.microsoft.com/office/drawing/2014/main" id="{E8A09A26-F992-AAB4-F997-7FBD9FBB0A5D}"/>
              </a:ext>
            </a:extLst>
          </p:cNvPr>
          <p:cNvCxnSpPr>
            <a:cxnSpLocks/>
          </p:cNvCxnSpPr>
          <p:nvPr/>
        </p:nvCxnSpPr>
        <p:spPr>
          <a:xfrm>
            <a:off x="6096000" y="1253765"/>
            <a:ext cx="0" cy="3310318"/>
          </a:xfrm>
          <a:prstGeom prst="line">
            <a:avLst/>
          </a:prstGeom>
          <a:ln w="38100">
            <a:solidFill>
              <a:srgbClr val="2CABCE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Прямоугольник: скругленные углы 40">
            <a:extLst>
              <a:ext uri="{FF2B5EF4-FFF2-40B4-BE49-F238E27FC236}">
                <a16:creationId xmlns:a16="http://schemas.microsoft.com/office/drawing/2014/main" id="{7228407C-01D0-47DE-0B52-984AF95F1488}"/>
              </a:ext>
            </a:extLst>
          </p:cNvPr>
          <p:cNvSpPr/>
          <p:nvPr/>
        </p:nvSpPr>
        <p:spPr>
          <a:xfrm>
            <a:off x="7005294" y="1893479"/>
            <a:ext cx="1921492" cy="929323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Система управления</a:t>
            </a:r>
          </a:p>
        </p:txBody>
      </p:sp>
      <p:sp>
        <p:nvSpPr>
          <p:cNvPr id="42" name="Прямоугольник: скругленные углы 41">
            <a:extLst>
              <a:ext uri="{FF2B5EF4-FFF2-40B4-BE49-F238E27FC236}">
                <a16:creationId xmlns:a16="http://schemas.microsoft.com/office/drawing/2014/main" id="{1125034A-8139-64C2-FF86-E9FB156D2DB6}"/>
              </a:ext>
            </a:extLst>
          </p:cNvPr>
          <p:cNvSpPr/>
          <p:nvPr/>
        </p:nvSpPr>
        <p:spPr>
          <a:xfrm>
            <a:off x="8153793" y="3493226"/>
            <a:ext cx="2205869" cy="929320"/>
          </a:xfrm>
          <a:prstGeom prst="roundRect">
            <a:avLst/>
          </a:prstGeom>
          <a:solidFill>
            <a:srgbClr val="00B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Навигационная система</a:t>
            </a:r>
          </a:p>
        </p:txBody>
      </p:sp>
      <p:sp>
        <p:nvSpPr>
          <p:cNvPr id="43" name="Прямоугольник: скругленные углы 42">
            <a:extLst>
              <a:ext uri="{FF2B5EF4-FFF2-40B4-BE49-F238E27FC236}">
                <a16:creationId xmlns:a16="http://schemas.microsoft.com/office/drawing/2014/main" id="{0B0C74B8-C3C0-09D2-183C-6BE74CE69B2B}"/>
              </a:ext>
            </a:extLst>
          </p:cNvPr>
          <p:cNvSpPr/>
          <p:nvPr/>
        </p:nvSpPr>
        <p:spPr>
          <a:xfrm>
            <a:off x="9700573" y="1893479"/>
            <a:ext cx="1921492" cy="92932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2000" dirty="0"/>
              <a:t>Модель объекта управления</a:t>
            </a:r>
          </a:p>
        </p:txBody>
      </p:sp>
      <p:cxnSp>
        <p:nvCxnSpPr>
          <p:cNvPr id="44" name="Прямая со стрелкой 43">
            <a:extLst>
              <a:ext uri="{FF2B5EF4-FFF2-40B4-BE49-F238E27FC236}">
                <a16:creationId xmlns:a16="http://schemas.microsoft.com/office/drawing/2014/main" id="{A26B600F-C431-D95C-E160-12117F4E485A}"/>
              </a:ext>
            </a:extLst>
          </p:cNvPr>
          <p:cNvCxnSpPr>
            <a:cxnSpLocks/>
            <a:stCxn id="41" idx="3"/>
            <a:endCxn id="43" idx="1"/>
          </p:cNvCxnSpPr>
          <p:nvPr/>
        </p:nvCxnSpPr>
        <p:spPr>
          <a:xfrm>
            <a:off x="8926786" y="2358141"/>
            <a:ext cx="773787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Прямая со стрелкой 44">
            <a:extLst>
              <a:ext uri="{FF2B5EF4-FFF2-40B4-BE49-F238E27FC236}">
                <a16:creationId xmlns:a16="http://schemas.microsoft.com/office/drawing/2014/main" id="{7FCB102F-241E-B7AB-B76F-E207A41BD0E7}"/>
              </a:ext>
            </a:extLst>
          </p:cNvPr>
          <p:cNvCxnSpPr>
            <a:cxnSpLocks/>
            <a:endCxn id="42" idx="3"/>
          </p:cNvCxnSpPr>
          <p:nvPr/>
        </p:nvCxnSpPr>
        <p:spPr>
          <a:xfrm flipH="1">
            <a:off x="10359662" y="3957886"/>
            <a:ext cx="556183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Прямая со стрелкой 45">
            <a:extLst>
              <a:ext uri="{FF2B5EF4-FFF2-40B4-BE49-F238E27FC236}">
                <a16:creationId xmlns:a16="http://schemas.microsoft.com/office/drawing/2014/main" id="{5F194E7A-C2A9-F7BB-E89D-1FC592744D75}"/>
              </a:ext>
            </a:extLst>
          </p:cNvPr>
          <p:cNvCxnSpPr>
            <a:cxnSpLocks/>
          </p:cNvCxnSpPr>
          <p:nvPr/>
        </p:nvCxnSpPr>
        <p:spPr>
          <a:xfrm flipV="1">
            <a:off x="7531623" y="2822802"/>
            <a:ext cx="0" cy="1135084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Прямая соединительная линия 46">
            <a:extLst>
              <a:ext uri="{FF2B5EF4-FFF2-40B4-BE49-F238E27FC236}">
                <a16:creationId xmlns:a16="http://schemas.microsoft.com/office/drawing/2014/main" id="{0D03601F-80DC-BFDE-D996-8A80B3DBB26E}"/>
              </a:ext>
            </a:extLst>
          </p:cNvPr>
          <p:cNvCxnSpPr>
            <a:cxnSpLocks/>
            <a:endCxn id="42" idx="1"/>
          </p:cNvCxnSpPr>
          <p:nvPr/>
        </p:nvCxnSpPr>
        <p:spPr>
          <a:xfrm flipV="1">
            <a:off x="7531623" y="3957886"/>
            <a:ext cx="622170" cy="1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Прямая соединительная линия 47">
            <a:extLst>
              <a:ext uri="{FF2B5EF4-FFF2-40B4-BE49-F238E27FC236}">
                <a16:creationId xmlns:a16="http://schemas.microsoft.com/office/drawing/2014/main" id="{5EBED9B9-3547-EC9E-0A55-33EE012C7B45}"/>
              </a:ext>
            </a:extLst>
          </p:cNvPr>
          <p:cNvCxnSpPr>
            <a:cxnSpLocks/>
          </p:cNvCxnSpPr>
          <p:nvPr/>
        </p:nvCxnSpPr>
        <p:spPr>
          <a:xfrm>
            <a:off x="10915845" y="2822802"/>
            <a:ext cx="0" cy="1135084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Прямая со стрелкой 48">
            <a:extLst>
              <a:ext uri="{FF2B5EF4-FFF2-40B4-BE49-F238E27FC236}">
                <a16:creationId xmlns:a16="http://schemas.microsoft.com/office/drawing/2014/main" id="{4CFB3F07-EBFE-577A-D0FD-1DE5DD5F8F3D}"/>
              </a:ext>
            </a:extLst>
          </p:cNvPr>
          <p:cNvCxnSpPr>
            <a:cxnSpLocks/>
          </p:cNvCxnSpPr>
          <p:nvPr/>
        </p:nvCxnSpPr>
        <p:spPr>
          <a:xfrm>
            <a:off x="6466394" y="2340074"/>
            <a:ext cx="538900" cy="0"/>
          </a:xfrm>
          <a:prstGeom prst="straightConnector1">
            <a:avLst/>
          </a:prstGeom>
          <a:ln w="762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>
            <a:extLst>
              <a:ext uri="{FF2B5EF4-FFF2-40B4-BE49-F238E27FC236}">
                <a16:creationId xmlns:a16="http://schemas.microsoft.com/office/drawing/2014/main" id="{468066A0-8294-5FE7-E2E5-0C5199270043}"/>
              </a:ext>
            </a:extLst>
          </p:cNvPr>
          <p:cNvSpPr txBox="1"/>
          <p:nvPr/>
        </p:nvSpPr>
        <p:spPr>
          <a:xfrm>
            <a:off x="2020092" y="1112117"/>
            <a:ext cx="259315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Реальные работа</a:t>
            </a:r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F1015BC2-263B-5495-1771-3EFBD4B9DB81}"/>
              </a:ext>
            </a:extLst>
          </p:cNvPr>
          <p:cNvSpPr txBox="1"/>
          <p:nvPr/>
        </p:nvSpPr>
        <p:spPr>
          <a:xfrm>
            <a:off x="7361548" y="1112117"/>
            <a:ext cx="399225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Исследования</a:t>
            </a:r>
            <a:r>
              <a:rPr lang="ru-RU" dirty="0"/>
              <a:t> </a:t>
            </a:r>
            <a:r>
              <a:rPr lang="ru-RU" sz="2400" dirty="0"/>
              <a:t>и настройка</a:t>
            </a:r>
          </a:p>
        </p:txBody>
      </p:sp>
      <p:sp>
        <p:nvSpPr>
          <p:cNvPr id="55" name="TextBox 54">
            <a:extLst>
              <a:ext uri="{FF2B5EF4-FFF2-40B4-BE49-F238E27FC236}">
                <a16:creationId xmlns:a16="http://schemas.microsoft.com/office/drawing/2014/main" id="{2451DFA6-190D-F086-B262-EE28320D1458}"/>
              </a:ext>
            </a:extLst>
          </p:cNvPr>
          <p:cNvSpPr txBox="1"/>
          <p:nvPr/>
        </p:nvSpPr>
        <p:spPr>
          <a:xfrm>
            <a:off x="535365" y="4988104"/>
            <a:ext cx="1108669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400" dirty="0"/>
              <a:t>Цель моделирования при разработки системы управления – построить систему управления для известных свойств объекта, заложенных в модель.</a:t>
            </a:r>
          </a:p>
        </p:txBody>
      </p:sp>
    </p:spTree>
    <p:extLst>
      <p:ext uri="{BB962C8B-B14F-4D97-AF65-F5344CB8AC3E}">
        <p14:creationId xmlns:p14="http://schemas.microsoft.com/office/powerpoint/2010/main" val="3340359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72E713A-9C03-E9CC-3EAA-894EA296C0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Качества модели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99B816F0-4F28-1821-B2FE-AC7CAD5086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4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A54F5C2-8BBA-A8A2-D268-B36D09F6842D}"/>
              </a:ext>
            </a:extLst>
          </p:cNvPr>
          <p:cNvSpPr txBox="1"/>
          <p:nvPr/>
        </p:nvSpPr>
        <p:spPr>
          <a:xfrm>
            <a:off x="942681" y="1424718"/>
            <a:ext cx="7626284" cy="830997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u="sng" dirty="0">
                <a:latin typeface="Arial" pitchFamily="34" charset="0"/>
                <a:cs typeface="Arial" pitchFamily="34" charset="0"/>
              </a:rPr>
              <a:t>Адекватность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– модель отражает свойства объекта управления;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5B3A6DB-2F4C-8F0D-6142-20E88BD91186}"/>
              </a:ext>
            </a:extLst>
          </p:cNvPr>
          <p:cNvSpPr txBox="1"/>
          <p:nvPr/>
        </p:nvSpPr>
        <p:spPr>
          <a:xfrm>
            <a:off x="1373170" y="3013501"/>
            <a:ext cx="8722937" cy="830997"/>
          </a:xfrm>
          <a:prstGeom prst="rect">
            <a:avLst/>
          </a:prstGeom>
          <a:noFill/>
          <a:ln w="38100">
            <a:solidFill>
              <a:srgbClr val="2CABCE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u="sng" dirty="0">
                <a:latin typeface="Arial" pitchFamily="34" charset="0"/>
                <a:cs typeface="Arial" pitchFamily="34" charset="0"/>
              </a:rPr>
              <a:t>Простота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– модель отражает только необходимые свойства объекта управления;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E0C77C5-1DA1-750D-D3CC-161041813065}"/>
              </a:ext>
            </a:extLst>
          </p:cNvPr>
          <p:cNvSpPr txBox="1"/>
          <p:nvPr/>
        </p:nvSpPr>
        <p:spPr>
          <a:xfrm>
            <a:off x="2422687" y="4602285"/>
            <a:ext cx="8842343" cy="830997"/>
          </a:xfrm>
          <a:prstGeom prst="rect">
            <a:avLst/>
          </a:prstGeom>
          <a:noFill/>
          <a:ln w="38100">
            <a:solidFill>
              <a:srgbClr val="54A3D8"/>
            </a:solidFill>
          </a:ln>
        </p:spPr>
        <p:txBody>
          <a:bodyPr wrap="square" rtlCol="0">
            <a:spAutoFit/>
          </a:bodyPr>
          <a:lstStyle/>
          <a:p>
            <a:r>
              <a:rPr lang="ru-RU" sz="2400" u="sng" dirty="0">
                <a:latin typeface="Arial" pitchFamily="34" charset="0"/>
                <a:cs typeface="Arial" pitchFamily="34" charset="0"/>
              </a:rPr>
              <a:t>Независимость</a:t>
            </a:r>
            <a:r>
              <a:rPr lang="ru-RU" sz="2400" dirty="0">
                <a:latin typeface="Arial" pitchFamily="34" charset="0"/>
                <a:cs typeface="Arial" pitchFamily="34" charset="0"/>
              </a:rPr>
              <a:t> – модель не связана с объектом управления ничем, кроме необходимых свойств.</a:t>
            </a:r>
            <a:endParaRPr lang="en-US" sz="24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402571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0D843B-3634-E0F3-8B1C-831C1B6C45D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Этапы построения модели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A0D00E8-78DC-DD9C-FC3F-C6ADB0B0F4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5</a:t>
            </a:fld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7DF93F7E-AD43-805E-EB0F-5ABB2A3718E4}"/>
              </a:ext>
            </a:extLst>
          </p:cNvPr>
          <p:cNvSpPr/>
          <p:nvPr/>
        </p:nvSpPr>
        <p:spPr>
          <a:xfrm>
            <a:off x="2919950" y="1276338"/>
            <a:ext cx="8408710" cy="5184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1. Определение свойств объекта управления, которые необходимо моделировать 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9E1E37A2-AE78-9C58-DA1A-22D368F1A8BF}"/>
              </a:ext>
            </a:extLst>
          </p:cNvPr>
          <p:cNvSpPr/>
          <p:nvPr/>
        </p:nvSpPr>
        <p:spPr>
          <a:xfrm>
            <a:off x="2919950" y="2239684"/>
            <a:ext cx="8408710" cy="518474"/>
          </a:xfrm>
          <a:prstGeom prst="roundRect">
            <a:avLst/>
          </a:prstGeom>
          <a:solidFill>
            <a:srgbClr val="FFC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2. Выбор метода моделирования: графическое, аналитическое, численное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5AE4E959-CD43-07DB-5918-D63A0B2C002C}"/>
              </a:ext>
            </a:extLst>
          </p:cNvPr>
          <p:cNvSpPr/>
          <p:nvPr/>
        </p:nvSpPr>
        <p:spPr>
          <a:xfrm>
            <a:off x="2919950" y="3553817"/>
            <a:ext cx="8421279" cy="518474"/>
          </a:xfrm>
          <a:prstGeom prst="roundRect">
            <a:avLst/>
          </a:prstGeom>
          <a:solidFill>
            <a:srgbClr val="92D05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3. Построение модели выбранным методом 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5F7767F3-4B5A-DB09-C9FC-85BDBED3F9AC}"/>
              </a:ext>
            </a:extLst>
          </p:cNvPr>
          <p:cNvSpPr/>
          <p:nvPr/>
        </p:nvSpPr>
        <p:spPr>
          <a:xfrm>
            <a:off x="2932521" y="4867950"/>
            <a:ext cx="8421279" cy="518474"/>
          </a:xfrm>
          <a:prstGeom prst="roundRect">
            <a:avLst/>
          </a:prstGeom>
          <a:solidFill>
            <a:srgbClr val="F57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4. Проверка корректности модели 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20F3B0AB-0769-2969-EB94-65CF6279089F}"/>
              </a:ext>
            </a:extLst>
          </p:cNvPr>
          <p:cNvSpPr/>
          <p:nvPr/>
        </p:nvSpPr>
        <p:spPr>
          <a:xfrm>
            <a:off x="2932521" y="5836098"/>
            <a:ext cx="8392992" cy="518474"/>
          </a:xfrm>
          <a:prstGeom prst="roundRect">
            <a:avLst/>
          </a:prstGeom>
          <a:solidFill>
            <a:srgbClr val="F5704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5. Проверка качеств модели  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A4BC822-3A23-39A0-426A-CF619576CF36}"/>
              </a:ext>
            </a:extLst>
          </p:cNvPr>
          <p:cNvCxnSpPr>
            <a:stCxn id="4" idx="2"/>
            <a:endCxn id="5" idx="0"/>
          </p:cNvCxnSpPr>
          <p:nvPr/>
        </p:nvCxnSpPr>
        <p:spPr>
          <a:xfrm>
            <a:off x="7124305" y="1794812"/>
            <a:ext cx="0" cy="4448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AEE37DED-939E-E933-3F00-A24CC7538000}"/>
              </a:ext>
            </a:extLst>
          </p:cNvPr>
          <p:cNvCxnSpPr>
            <a:cxnSpLocks/>
            <a:endCxn id="6" idx="0"/>
          </p:cNvCxnSpPr>
          <p:nvPr/>
        </p:nvCxnSpPr>
        <p:spPr>
          <a:xfrm>
            <a:off x="7122732" y="2758158"/>
            <a:ext cx="7858" cy="795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Прямая со стрелкой 13">
            <a:extLst>
              <a:ext uri="{FF2B5EF4-FFF2-40B4-BE49-F238E27FC236}">
                <a16:creationId xmlns:a16="http://schemas.microsoft.com/office/drawing/2014/main" id="{3F13DB98-B991-62FF-B138-48D454AB8493}"/>
              </a:ext>
            </a:extLst>
          </p:cNvPr>
          <p:cNvCxnSpPr>
            <a:cxnSpLocks/>
          </p:cNvCxnSpPr>
          <p:nvPr/>
        </p:nvCxnSpPr>
        <p:spPr>
          <a:xfrm>
            <a:off x="7114874" y="4072291"/>
            <a:ext cx="7858" cy="795659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EEB7512C-9136-1DD8-7BDE-E327E05DC470}"/>
              </a:ext>
            </a:extLst>
          </p:cNvPr>
          <p:cNvCxnSpPr/>
          <p:nvPr/>
        </p:nvCxnSpPr>
        <p:spPr>
          <a:xfrm>
            <a:off x="7113301" y="5391226"/>
            <a:ext cx="0" cy="444872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TextBox 20">
            <a:extLst>
              <a:ext uri="{FF2B5EF4-FFF2-40B4-BE49-F238E27FC236}">
                <a16:creationId xmlns:a16="http://schemas.microsoft.com/office/drawing/2014/main" id="{1F9AB653-22C3-3D65-F6FB-53E9A39A024E}"/>
              </a:ext>
            </a:extLst>
          </p:cNvPr>
          <p:cNvSpPr txBox="1"/>
          <p:nvPr/>
        </p:nvSpPr>
        <p:spPr>
          <a:xfrm>
            <a:off x="493726" y="1675710"/>
            <a:ext cx="181937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F46718"/>
                </a:solidFill>
              </a:rPr>
              <a:t>Подумай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F152F5C0-50E8-6076-FF54-C3E221B416D2}"/>
              </a:ext>
            </a:extLst>
          </p:cNvPr>
          <p:cNvSpPr txBox="1"/>
          <p:nvPr/>
        </p:nvSpPr>
        <p:spPr>
          <a:xfrm>
            <a:off x="661444" y="3464715"/>
            <a:ext cx="1483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00B050"/>
                </a:solidFill>
              </a:rPr>
              <a:t>Сделай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219C33-44C4-1F12-4015-A546841CFC6C}"/>
              </a:ext>
            </a:extLst>
          </p:cNvPr>
          <p:cNvSpPr txBox="1"/>
          <p:nvPr/>
        </p:nvSpPr>
        <p:spPr>
          <a:xfrm>
            <a:off x="328306" y="5251323"/>
            <a:ext cx="215021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FF0000"/>
                </a:solidFill>
              </a:rPr>
              <a:t>Проверь</a:t>
            </a:r>
          </a:p>
        </p:txBody>
      </p:sp>
    </p:spTree>
    <p:extLst>
      <p:ext uri="{BB962C8B-B14F-4D97-AF65-F5344CB8AC3E}">
        <p14:creationId xmlns:p14="http://schemas.microsoft.com/office/powerpoint/2010/main" val="8981839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Прямоугольник: скругленные углы 16">
            <a:extLst>
              <a:ext uri="{FF2B5EF4-FFF2-40B4-BE49-F238E27FC236}">
                <a16:creationId xmlns:a16="http://schemas.microsoft.com/office/drawing/2014/main" id="{6C4DC522-83F8-8AA6-E154-20982B657DBC}"/>
              </a:ext>
            </a:extLst>
          </p:cNvPr>
          <p:cNvSpPr/>
          <p:nvPr/>
        </p:nvSpPr>
        <p:spPr>
          <a:xfrm>
            <a:off x="3054285" y="1055802"/>
            <a:ext cx="5797484" cy="5559158"/>
          </a:xfrm>
          <a:prstGeom prst="roundRect">
            <a:avLst/>
          </a:prstGeom>
          <a:solidFill>
            <a:schemeClr val="bg2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B960195-FDE8-00C3-10DB-3416E6867B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Алгоритм проведения исследования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EC810A2-06DE-49DF-01D3-10C46DBBE8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6</a:t>
            </a:fld>
            <a:endParaRPr lang="ru-RU"/>
          </a:p>
        </p:txBody>
      </p:sp>
      <p:sp>
        <p:nvSpPr>
          <p:cNvPr id="4" name="Прямоугольник: скругленные углы 3">
            <a:extLst>
              <a:ext uri="{FF2B5EF4-FFF2-40B4-BE49-F238E27FC236}">
                <a16:creationId xmlns:a16="http://schemas.microsoft.com/office/drawing/2014/main" id="{54089EA6-C32C-41F8-E2EE-45BFEA1D47AA}"/>
              </a:ext>
            </a:extLst>
          </p:cNvPr>
          <p:cNvSpPr/>
          <p:nvPr/>
        </p:nvSpPr>
        <p:spPr>
          <a:xfrm>
            <a:off x="476413" y="1890121"/>
            <a:ext cx="2303283" cy="602029"/>
          </a:xfrm>
          <a:prstGeom prst="roundRect">
            <a:avLst/>
          </a:prstGeom>
          <a:solidFill>
            <a:srgbClr val="63CD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1. Определение проблемы </a:t>
            </a:r>
          </a:p>
        </p:txBody>
      </p:sp>
      <p:sp>
        <p:nvSpPr>
          <p:cNvPr id="5" name="Прямоугольник: скругленные углы 4">
            <a:extLst>
              <a:ext uri="{FF2B5EF4-FFF2-40B4-BE49-F238E27FC236}">
                <a16:creationId xmlns:a16="http://schemas.microsoft.com/office/drawing/2014/main" id="{661FE749-5A52-2AB8-EE2C-BEAFA7B8BF02}"/>
              </a:ext>
            </a:extLst>
          </p:cNvPr>
          <p:cNvSpPr/>
          <p:nvPr/>
        </p:nvSpPr>
        <p:spPr>
          <a:xfrm>
            <a:off x="476412" y="3189644"/>
            <a:ext cx="2303284" cy="602029"/>
          </a:xfrm>
          <a:prstGeom prst="roundRect">
            <a:avLst/>
          </a:prstGeom>
          <a:solidFill>
            <a:srgbClr val="63CD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2. Формулирование цели исследования </a:t>
            </a:r>
          </a:p>
        </p:txBody>
      </p:sp>
      <p:sp>
        <p:nvSpPr>
          <p:cNvPr id="6" name="Прямоугольник: скругленные углы 5">
            <a:extLst>
              <a:ext uri="{FF2B5EF4-FFF2-40B4-BE49-F238E27FC236}">
                <a16:creationId xmlns:a16="http://schemas.microsoft.com/office/drawing/2014/main" id="{C8CA668D-F0DC-2537-3AD5-E365937A7DC3}"/>
              </a:ext>
            </a:extLst>
          </p:cNvPr>
          <p:cNvSpPr/>
          <p:nvPr/>
        </p:nvSpPr>
        <p:spPr>
          <a:xfrm>
            <a:off x="476412" y="4470879"/>
            <a:ext cx="2303282" cy="1420874"/>
          </a:xfrm>
          <a:prstGeom prst="roundRect">
            <a:avLst/>
          </a:prstGeom>
          <a:solidFill>
            <a:srgbClr val="63CDDF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3. Выделение задач, выполнение которых позволит достигнуть цели исследования</a:t>
            </a:r>
          </a:p>
        </p:txBody>
      </p:sp>
      <p:sp>
        <p:nvSpPr>
          <p:cNvPr id="7" name="Прямоугольник: скругленные углы 6">
            <a:extLst>
              <a:ext uri="{FF2B5EF4-FFF2-40B4-BE49-F238E27FC236}">
                <a16:creationId xmlns:a16="http://schemas.microsoft.com/office/drawing/2014/main" id="{4E4C902C-0088-6326-9919-7B92F8875D33}"/>
              </a:ext>
            </a:extLst>
          </p:cNvPr>
          <p:cNvSpPr/>
          <p:nvPr/>
        </p:nvSpPr>
        <p:spPr>
          <a:xfrm>
            <a:off x="3418784" y="1515273"/>
            <a:ext cx="2303283" cy="1802923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4. Определение свойств задачи и критериев ее решения (построение модели) </a:t>
            </a:r>
          </a:p>
        </p:txBody>
      </p:sp>
      <p:sp>
        <p:nvSpPr>
          <p:cNvPr id="8" name="Прямоугольник: скругленные углы 7">
            <a:extLst>
              <a:ext uri="{FF2B5EF4-FFF2-40B4-BE49-F238E27FC236}">
                <a16:creationId xmlns:a16="http://schemas.microsoft.com/office/drawing/2014/main" id="{5F857CCE-8F8B-614F-9A10-D0FD5846C408}"/>
              </a:ext>
            </a:extLst>
          </p:cNvPr>
          <p:cNvSpPr/>
          <p:nvPr/>
        </p:nvSpPr>
        <p:spPr>
          <a:xfrm>
            <a:off x="3418785" y="3832040"/>
            <a:ext cx="2303283" cy="1140644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5. Составление списка способов решения задачи </a:t>
            </a:r>
          </a:p>
        </p:txBody>
      </p:sp>
      <p:sp>
        <p:nvSpPr>
          <p:cNvPr id="9" name="Прямоугольник: скругленные углы 8">
            <a:extLst>
              <a:ext uri="{FF2B5EF4-FFF2-40B4-BE49-F238E27FC236}">
                <a16:creationId xmlns:a16="http://schemas.microsoft.com/office/drawing/2014/main" id="{512C0729-7AE9-BA1D-5851-4A8E501DC382}"/>
              </a:ext>
            </a:extLst>
          </p:cNvPr>
          <p:cNvSpPr/>
          <p:nvPr/>
        </p:nvSpPr>
        <p:spPr>
          <a:xfrm>
            <a:off x="3418786" y="5482974"/>
            <a:ext cx="2303282" cy="81755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6. Выбор способа решения задачи</a:t>
            </a:r>
          </a:p>
        </p:txBody>
      </p:sp>
      <p:sp>
        <p:nvSpPr>
          <p:cNvPr id="10" name="Прямоугольник: скругленные углы 9">
            <a:extLst>
              <a:ext uri="{FF2B5EF4-FFF2-40B4-BE49-F238E27FC236}">
                <a16:creationId xmlns:a16="http://schemas.microsoft.com/office/drawing/2014/main" id="{B6BF78E2-0D9F-13D0-5529-0D09319DADDA}"/>
              </a:ext>
            </a:extLst>
          </p:cNvPr>
          <p:cNvSpPr/>
          <p:nvPr/>
        </p:nvSpPr>
        <p:spPr>
          <a:xfrm>
            <a:off x="6190265" y="1515273"/>
            <a:ext cx="2303282" cy="1706321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7. Построение решения задачи (разработка алгоритма, написание программы)</a:t>
            </a:r>
          </a:p>
        </p:txBody>
      </p:sp>
      <p:sp>
        <p:nvSpPr>
          <p:cNvPr id="11" name="Прямоугольник: скругленные углы 10">
            <a:extLst>
              <a:ext uri="{FF2B5EF4-FFF2-40B4-BE49-F238E27FC236}">
                <a16:creationId xmlns:a16="http://schemas.microsoft.com/office/drawing/2014/main" id="{A8EF8032-CEF0-5F44-2C32-0A01A345E625}"/>
              </a:ext>
            </a:extLst>
          </p:cNvPr>
          <p:cNvSpPr/>
          <p:nvPr/>
        </p:nvSpPr>
        <p:spPr>
          <a:xfrm>
            <a:off x="6190265" y="3549230"/>
            <a:ext cx="2303282" cy="1253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8. Проверка правильности решения задачи (моделирование)</a:t>
            </a:r>
          </a:p>
        </p:txBody>
      </p:sp>
      <p:sp>
        <p:nvSpPr>
          <p:cNvPr id="12" name="Прямоугольник: скругленные углы 11">
            <a:extLst>
              <a:ext uri="{FF2B5EF4-FFF2-40B4-BE49-F238E27FC236}">
                <a16:creationId xmlns:a16="http://schemas.microsoft.com/office/drawing/2014/main" id="{955AF687-5B3E-B97B-D9DB-B5CE5B6288F8}"/>
              </a:ext>
            </a:extLst>
          </p:cNvPr>
          <p:cNvSpPr/>
          <p:nvPr/>
        </p:nvSpPr>
        <p:spPr>
          <a:xfrm>
            <a:off x="6190265" y="5068885"/>
            <a:ext cx="2303282" cy="125368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9. Оценка качеств предложенного решения (по критериям из п.4)</a:t>
            </a:r>
          </a:p>
        </p:txBody>
      </p:sp>
      <p:sp>
        <p:nvSpPr>
          <p:cNvPr id="13" name="Прямоугольник: скругленные углы 12">
            <a:extLst>
              <a:ext uri="{FF2B5EF4-FFF2-40B4-BE49-F238E27FC236}">
                <a16:creationId xmlns:a16="http://schemas.microsoft.com/office/drawing/2014/main" id="{4AD94841-E9D6-C23D-2EE4-4115A8358B00}"/>
              </a:ext>
            </a:extLst>
          </p:cNvPr>
          <p:cNvSpPr/>
          <p:nvPr/>
        </p:nvSpPr>
        <p:spPr>
          <a:xfrm>
            <a:off x="9303527" y="1646348"/>
            <a:ext cx="2303282" cy="1738240"/>
          </a:xfrm>
          <a:prstGeom prst="roundRect">
            <a:avLst/>
          </a:prstGeom>
          <a:solidFill>
            <a:srgbClr val="54A3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10. Обобщение результатов решения задач с выводами о достижении цели исследования</a:t>
            </a:r>
          </a:p>
        </p:txBody>
      </p:sp>
      <p:sp>
        <p:nvSpPr>
          <p:cNvPr id="14" name="Прямоугольник: скругленные углы 13">
            <a:extLst>
              <a:ext uri="{FF2B5EF4-FFF2-40B4-BE49-F238E27FC236}">
                <a16:creationId xmlns:a16="http://schemas.microsoft.com/office/drawing/2014/main" id="{F5587F4D-53C7-C924-3D0B-ACFDCF3DF389}"/>
              </a:ext>
            </a:extLst>
          </p:cNvPr>
          <p:cNvSpPr/>
          <p:nvPr/>
        </p:nvSpPr>
        <p:spPr>
          <a:xfrm>
            <a:off x="9303527" y="3820595"/>
            <a:ext cx="2303282" cy="1816632"/>
          </a:xfrm>
          <a:prstGeom prst="roundRect">
            <a:avLst/>
          </a:prstGeom>
          <a:solidFill>
            <a:srgbClr val="54A3D8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dirty="0"/>
              <a:t>11. Оценка результатов с точки зрения решения проблемы в исследовании (проблема из п. 1) </a:t>
            </a: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D207A05D-6E23-BC62-2D78-7C6D0BFA30B9}"/>
              </a:ext>
            </a:extLst>
          </p:cNvPr>
          <p:cNvSpPr txBox="1"/>
          <p:nvPr/>
        </p:nvSpPr>
        <p:spPr>
          <a:xfrm>
            <a:off x="476412" y="1055802"/>
            <a:ext cx="2303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0070C0"/>
                </a:solidFill>
              </a:rPr>
              <a:t>НАЧАЛО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403C643-032C-DA24-D0FC-E7F192D03A4D}"/>
              </a:ext>
            </a:extLst>
          </p:cNvPr>
          <p:cNvSpPr txBox="1"/>
          <p:nvPr/>
        </p:nvSpPr>
        <p:spPr>
          <a:xfrm>
            <a:off x="9322381" y="5983050"/>
            <a:ext cx="2303282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3200" dirty="0">
                <a:solidFill>
                  <a:srgbClr val="0070C0"/>
                </a:solidFill>
              </a:rPr>
              <a:t>КОНЕЦ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B06CFD9C-6223-E83F-FB40-E5E81947A158}"/>
              </a:ext>
            </a:extLst>
          </p:cNvPr>
          <p:cNvSpPr txBox="1"/>
          <p:nvPr/>
        </p:nvSpPr>
        <p:spPr>
          <a:xfrm>
            <a:off x="4570425" y="1055903"/>
            <a:ext cx="277269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000" dirty="0">
                <a:solidFill>
                  <a:srgbClr val="0070C0"/>
                </a:solidFill>
              </a:rPr>
              <a:t>ДЛЯ КАЖДОЙ ЗАДАЧИ</a:t>
            </a:r>
          </a:p>
        </p:txBody>
      </p:sp>
      <p:cxnSp>
        <p:nvCxnSpPr>
          <p:cNvPr id="20" name="Прямая со стрелкой 19">
            <a:extLst>
              <a:ext uri="{FF2B5EF4-FFF2-40B4-BE49-F238E27FC236}">
                <a16:creationId xmlns:a16="http://schemas.microsoft.com/office/drawing/2014/main" id="{07E5FC6E-60F5-834E-0EC4-966D866F6A4D}"/>
              </a:ext>
            </a:extLst>
          </p:cNvPr>
          <p:cNvCxnSpPr>
            <a:cxnSpLocks/>
            <a:endCxn id="4" idx="0"/>
          </p:cNvCxnSpPr>
          <p:nvPr/>
        </p:nvCxnSpPr>
        <p:spPr>
          <a:xfrm>
            <a:off x="1628053" y="1515273"/>
            <a:ext cx="2" cy="374848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Прямая со стрелкой 21">
            <a:extLst>
              <a:ext uri="{FF2B5EF4-FFF2-40B4-BE49-F238E27FC236}">
                <a16:creationId xmlns:a16="http://schemas.microsoft.com/office/drawing/2014/main" id="{53FEB0FB-CE17-0C3B-BD0A-2B9257E86B03}"/>
              </a:ext>
            </a:extLst>
          </p:cNvPr>
          <p:cNvCxnSpPr>
            <a:cxnSpLocks/>
            <a:endCxn id="5" idx="0"/>
          </p:cNvCxnSpPr>
          <p:nvPr/>
        </p:nvCxnSpPr>
        <p:spPr>
          <a:xfrm>
            <a:off x="1628051" y="2475193"/>
            <a:ext cx="3" cy="71445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Прямая со стрелкой 23">
            <a:extLst>
              <a:ext uri="{FF2B5EF4-FFF2-40B4-BE49-F238E27FC236}">
                <a16:creationId xmlns:a16="http://schemas.microsoft.com/office/drawing/2014/main" id="{C85BCD2F-C819-D352-EA0A-5F259209AE2A}"/>
              </a:ext>
            </a:extLst>
          </p:cNvPr>
          <p:cNvCxnSpPr>
            <a:cxnSpLocks/>
          </p:cNvCxnSpPr>
          <p:nvPr/>
        </p:nvCxnSpPr>
        <p:spPr>
          <a:xfrm>
            <a:off x="1628048" y="3774051"/>
            <a:ext cx="3" cy="714451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Прямая со стрелкой 24">
            <a:extLst>
              <a:ext uri="{FF2B5EF4-FFF2-40B4-BE49-F238E27FC236}">
                <a16:creationId xmlns:a16="http://schemas.microsoft.com/office/drawing/2014/main" id="{D1029CED-5C63-1809-9C19-CA735C603B0F}"/>
              </a:ext>
            </a:extLst>
          </p:cNvPr>
          <p:cNvCxnSpPr>
            <a:cxnSpLocks/>
            <a:endCxn id="7" idx="1"/>
          </p:cNvCxnSpPr>
          <p:nvPr/>
        </p:nvCxnSpPr>
        <p:spPr>
          <a:xfrm flipV="1">
            <a:off x="2779694" y="2416735"/>
            <a:ext cx="639090" cy="276056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1D5E2542-DA10-EB83-CA0F-1B1BEFBF4B95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4570426" y="3318196"/>
            <a:ext cx="1" cy="5138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Прямая со стрелкой 30">
            <a:extLst>
              <a:ext uri="{FF2B5EF4-FFF2-40B4-BE49-F238E27FC236}">
                <a16:creationId xmlns:a16="http://schemas.microsoft.com/office/drawing/2014/main" id="{38CDD73C-03A1-11DA-7A63-576B697118F0}"/>
              </a:ext>
            </a:extLst>
          </p:cNvPr>
          <p:cNvCxnSpPr>
            <a:cxnSpLocks/>
          </p:cNvCxnSpPr>
          <p:nvPr/>
        </p:nvCxnSpPr>
        <p:spPr>
          <a:xfrm>
            <a:off x="4570424" y="4970907"/>
            <a:ext cx="1" cy="513844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Прямая со стрелкой 31">
            <a:extLst>
              <a:ext uri="{FF2B5EF4-FFF2-40B4-BE49-F238E27FC236}">
                <a16:creationId xmlns:a16="http://schemas.microsoft.com/office/drawing/2014/main" id="{8F1BD58C-5BF8-0DF4-25F5-588BD47BF792}"/>
              </a:ext>
            </a:extLst>
          </p:cNvPr>
          <p:cNvCxnSpPr>
            <a:cxnSpLocks/>
            <a:endCxn id="10" idx="1"/>
          </p:cNvCxnSpPr>
          <p:nvPr/>
        </p:nvCxnSpPr>
        <p:spPr>
          <a:xfrm flipV="1">
            <a:off x="5730286" y="2368434"/>
            <a:ext cx="459979" cy="3523319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Прямая со стрелкой 34">
            <a:extLst>
              <a:ext uri="{FF2B5EF4-FFF2-40B4-BE49-F238E27FC236}">
                <a16:creationId xmlns:a16="http://schemas.microsoft.com/office/drawing/2014/main" id="{41125FC7-D99D-81BC-E9CD-0BC11DF73C87}"/>
              </a:ext>
            </a:extLst>
          </p:cNvPr>
          <p:cNvCxnSpPr>
            <a:cxnSpLocks/>
            <a:endCxn id="11" idx="0"/>
          </p:cNvCxnSpPr>
          <p:nvPr/>
        </p:nvCxnSpPr>
        <p:spPr>
          <a:xfrm>
            <a:off x="7337797" y="3221594"/>
            <a:ext cx="4109" cy="3276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Прямая со стрелкой 37">
            <a:extLst>
              <a:ext uri="{FF2B5EF4-FFF2-40B4-BE49-F238E27FC236}">
                <a16:creationId xmlns:a16="http://schemas.microsoft.com/office/drawing/2014/main" id="{393A0B52-1E86-C554-280D-70286A942ABE}"/>
              </a:ext>
            </a:extLst>
          </p:cNvPr>
          <p:cNvCxnSpPr>
            <a:cxnSpLocks/>
          </p:cNvCxnSpPr>
          <p:nvPr/>
        </p:nvCxnSpPr>
        <p:spPr>
          <a:xfrm>
            <a:off x="7337797" y="4797461"/>
            <a:ext cx="4109" cy="327636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Прямая со стрелкой 38">
            <a:extLst>
              <a:ext uri="{FF2B5EF4-FFF2-40B4-BE49-F238E27FC236}">
                <a16:creationId xmlns:a16="http://schemas.microsoft.com/office/drawing/2014/main" id="{297567E3-D5F7-1A8B-32F5-5ECB8C2972F5}"/>
              </a:ext>
            </a:extLst>
          </p:cNvPr>
          <p:cNvCxnSpPr>
            <a:cxnSpLocks/>
            <a:endCxn id="13" idx="1"/>
          </p:cNvCxnSpPr>
          <p:nvPr/>
        </p:nvCxnSpPr>
        <p:spPr>
          <a:xfrm flipV="1">
            <a:off x="8505514" y="2515468"/>
            <a:ext cx="798013" cy="3307570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Прямая со стрелкой 40">
            <a:extLst>
              <a:ext uri="{FF2B5EF4-FFF2-40B4-BE49-F238E27FC236}">
                <a16:creationId xmlns:a16="http://schemas.microsoft.com/office/drawing/2014/main" id="{0A17CD10-6ED4-725E-BD8F-2200E20AF8CF}"/>
              </a:ext>
            </a:extLst>
          </p:cNvPr>
          <p:cNvCxnSpPr>
            <a:cxnSpLocks/>
            <a:endCxn id="14" idx="0"/>
          </p:cNvCxnSpPr>
          <p:nvPr/>
        </p:nvCxnSpPr>
        <p:spPr>
          <a:xfrm>
            <a:off x="10455166" y="3384588"/>
            <a:ext cx="2" cy="4360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Прямая со стрелкой 42">
            <a:extLst>
              <a:ext uri="{FF2B5EF4-FFF2-40B4-BE49-F238E27FC236}">
                <a16:creationId xmlns:a16="http://schemas.microsoft.com/office/drawing/2014/main" id="{23CBF35C-1C0E-1389-5172-E7DE78C81835}"/>
              </a:ext>
            </a:extLst>
          </p:cNvPr>
          <p:cNvCxnSpPr>
            <a:cxnSpLocks/>
          </p:cNvCxnSpPr>
          <p:nvPr/>
        </p:nvCxnSpPr>
        <p:spPr>
          <a:xfrm>
            <a:off x="10467133" y="5645173"/>
            <a:ext cx="2" cy="436007"/>
          </a:xfrm>
          <a:prstGeom prst="straightConnector1">
            <a:avLst/>
          </a:prstGeom>
          <a:ln w="5715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11828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409B6A0-A468-7ED5-AC56-F47BA70D9C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152590"/>
          </a:xfrm>
        </p:spPr>
        <p:txBody>
          <a:bodyPr>
            <a:normAutofit fontScale="90000"/>
          </a:bodyPr>
          <a:lstStyle/>
          <a:p>
            <a:r>
              <a:rPr lang="ru-RU" dirty="0"/>
              <a:t>Методы моделирования и исследования</a:t>
            </a:r>
            <a:br>
              <a:rPr lang="ru-RU" dirty="0"/>
            </a:br>
            <a:r>
              <a:rPr lang="ru-RU" dirty="0"/>
              <a:t> и формы представления результата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C763CDD-241B-5752-5276-3EBCAE537B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7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AAF2EA2-0571-43D6-7D42-20F1BA4A9755}"/>
              </a:ext>
            </a:extLst>
          </p:cNvPr>
          <p:cNvSpPr txBox="1"/>
          <p:nvPr/>
        </p:nvSpPr>
        <p:spPr>
          <a:xfrm>
            <a:off x="518474" y="2115761"/>
            <a:ext cx="8135332" cy="523220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itchFamily="34" charset="0"/>
                <a:cs typeface="Arial" pitchFamily="34" charset="0"/>
              </a:rPr>
              <a:t>Графические – построение и анализ графиков;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BF32C15-C964-44FB-A2C3-665113B27BD0}"/>
              </a:ext>
            </a:extLst>
          </p:cNvPr>
          <p:cNvSpPr txBox="1"/>
          <p:nvPr/>
        </p:nvSpPr>
        <p:spPr>
          <a:xfrm>
            <a:off x="2546135" y="3636696"/>
            <a:ext cx="9313683" cy="523220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itchFamily="34" charset="0"/>
                <a:cs typeface="Arial" pitchFamily="34" charset="0"/>
              </a:rPr>
              <a:t>Аналитические – решение аналитических выражений;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B348C0-D3C6-2DAE-1956-8E146C1F12B4}"/>
              </a:ext>
            </a:extLst>
          </p:cNvPr>
          <p:cNvSpPr txBox="1"/>
          <p:nvPr/>
        </p:nvSpPr>
        <p:spPr>
          <a:xfrm>
            <a:off x="1503182" y="5157631"/>
            <a:ext cx="9185635" cy="523220"/>
          </a:xfrm>
          <a:prstGeom prst="rect">
            <a:avLst/>
          </a:prstGeom>
          <a:noFill/>
          <a:ln w="38100">
            <a:solidFill>
              <a:srgbClr val="63CDDF"/>
            </a:solidFill>
          </a:ln>
        </p:spPr>
        <p:txBody>
          <a:bodyPr wrap="square" rtlCol="0">
            <a:spAutoFit/>
          </a:bodyPr>
          <a:lstStyle/>
          <a:p>
            <a:r>
              <a:rPr lang="ru-RU" sz="2800" dirty="0">
                <a:latin typeface="Arial" pitchFamily="34" charset="0"/>
                <a:cs typeface="Arial" pitchFamily="34" charset="0"/>
              </a:rPr>
              <a:t>Численные – применение численных методов и ЭВМ.</a:t>
            </a:r>
            <a:endParaRPr lang="en-US" sz="2800" dirty="0"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3699721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7259632-A882-7010-4A66-AE5320FFE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Среда разработки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E83C4AD5-7432-0F05-9446-4E284C900E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8</a:t>
            </a:fld>
            <a:endParaRPr lang="ru-RU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E3D077B-2E9F-37CF-2FAE-4B4F79A48494}"/>
              </a:ext>
            </a:extLst>
          </p:cNvPr>
          <p:cNvSpPr txBox="1"/>
          <p:nvPr/>
        </p:nvSpPr>
        <p:spPr>
          <a:xfrm>
            <a:off x="1696824" y="2151727"/>
            <a:ext cx="9370243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u="sng" dirty="0" err="1">
                <a:latin typeface="Arial" pitchFamily="34" charset="0"/>
                <a:cs typeface="Arial" pitchFamily="34" charset="0"/>
              </a:rPr>
              <a:t>MatLab</a:t>
            </a:r>
            <a:r>
              <a:rPr lang="en-US" sz="3200" u="sng" dirty="0">
                <a:latin typeface="Arial" pitchFamily="34" charset="0"/>
                <a:cs typeface="Arial" pitchFamily="34" charset="0"/>
              </a:rPr>
              <a:t> (Matrix Laboratory) </a:t>
            </a:r>
            <a:r>
              <a:rPr lang="en-US" sz="3200" dirty="0">
                <a:latin typeface="Arial" pitchFamily="34" charset="0"/>
                <a:cs typeface="Arial" pitchFamily="34" charset="0"/>
              </a:rPr>
              <a:t>– </a:t>
            </a:r>
            <a:r>
              <a:rPr lang="ru-RU" sz="3200" dirty="0">
                <a:latin typeface="Arial" pitchFamily="34" charset="0"/>
                <a:cs typeface="Arial" pitchFamily="34" charset="0"/>
              </a:rPr>
              <a:t>среда и комплекс инструментов для автоматизации математических и научно-технических расчетов, построенная на расширенном представлении и применении матричных расчетов.</a:t>
            </a:r>
          </a:p>
        </p:txBody>
      </p:sp>
    </p:spTree>
    <p:extLst>
      <p:ext uri="{BB962C8B-B14F-4D97-AF65-F5344CB8AC3E}">
        <p14:creationId xmlns:p14="http://schemas.microsoft.com/office/powerpoint/2010/main" val="251748333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5862D656-5BD4-529C-E5B5-3BBB5BDF4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Интерфейс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04D9E2E-556A-2566-E2C8-C73D6EC887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9</a:t>
            </a:fld>
            <a:endParaRPr lang="ru-RU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82171272-9583-88BA-66AA-1AA58F0DB5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127238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ru-RU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pic>
        <p:nvPicPr>
          <p:cNvPr id="5" name="Picture 2">
            <a:extLst>
              <a:ext uri="{FF2B5EF4-FFF2-40B4-BE49-F238E27FC236}">
                <a16:creationId xmlns:a16="http://schemas.microsoft.com/office/drawing/2014/main" id="{96D9AFCF-D0AD-1101-0FA3-17AF346AFF4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2302615" y="1055460"/>
            <a:ext cx="7408143" cy="5677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" name="Скругленный прямоугольник 7">
            <a:extLst>
              <a:ext uri="{FF2B5EF4-FFF2-40B4-BE49-F238E27FC236}">
                <a16:creationId xmlns:a16="http://schemas.microsoft.com/office/drawing/2014/main" id="{69919266-1400-9ABD-E242-BA27EAC40AD0}"/>
              </a:ext>
            </a:extLst>
          </p:cNvPr>
          <p:cNvSpPr/>
          <p:nvPr/>
        </p:nvSpPr>
        <p:spPr>
          <a:xfrm>
            <a:off x="2281186" y="1239026"/>
            <a:ext cx="7429572" cy="831211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0FE741E6-CC97-C516-1509-B7D373E67CCE}"/>
              </a:ext>
            </a:extLst>
          </p:cNvPr>
          <p:cNvCxnSpPr>
            <a:cxnSpLocks/>
            <a:endCxn id="6" idx="3"/>
          </p:cNvCxnSpPr>
          <p:nvPr/>
        </p:nvCxnSpPr>
        <p:spPr>
          <a:xfrm flipH="1">
            <a:off x="9710758" y="1310761"/>
            <a:ext cx="375040" cy="34387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Скругленный прямоугольник 18">
            <a:extLst>
              <a:ext uri="{FF2B5EF4-FFF2-40B4-BE49-F238E27FC236}">
                <a16:creationId xmlns:a16="http://schemas.microsoft.com/office/drawing/2014/main" id="{940B3770-89B4-7C77-1D3D-5B9FEAC29F8F}"/>
              </a:ext>
            </a:extLst>
          </p:cNvPr>
          <p:cNvSpPr/>
          <p:nvPr/>
        </p:nvSpPr>
        <p:spPr>
          <a:xfrm>
            <a:off x="2281186" y="2122495"/>
            <a:ext cx="7501010" cy="237616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2822625-CAA9-7066-3FF7-5B4CED134DC5}"/>
              </a:ext>
            </a:extLst>
          </p:cNvPr>
          <p:cNvSpPr txBox="1"/>
          <p:nvPr/>
        </p:nvSpPr>
        <p:spPr>
          <a:xfrm>
            <a:off x="230916" y="1834751"/>
            <a:ext cx="188954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Рабочая папка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C62FEE37-2091-5681-B11F-31B4008AD2E0}"/>
              </a:ext>
            </a:extLst>
          </p:cNvPr>
          <p:cNvCxnSpPr/>
          <p:nvPr/>
        </p:nvCxnSpPr>
        <p:spPr>
          <a:xfrm>
            <a:off x="2006149" y="2095300"/>
            <a:ext cx="285752" cy="171394"/>
          </a:xfrm>
          <a:prstGeom prst="straightConnector1">
            <a:avLst/>
          </a:prstGeom>
          <a:ln w="28575">
            <a:solidFill>
              <a:srgbClr val="00B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Скругленный прямоугольник 25">
            <a:extLst>
              <a:ext uri="{FF2B5EF4-FFF2-40B4-BE49-F238E27FC236}">
                <a16:creationId xmlns:a16="http://schemas.microsoft.com/office/drawing/2014/main" id="{F7BD795E-3152-EA22-A193-0879D9D9A2DF}"/>
              </a:ext>
            </a:extLst>
          </p:cNvPr>
          <p:cNvSpPr/>
          <p:nvPr/>
        </p:nvSpPr>
        <p:spPr>
          <a:xfrm>
            <a:off x="2374085" y="2511421"/>
            <a:ext cx="1000132" cy="3981454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0A167CEC-BA8A-8DDF-0C82-B781F740332F}"/>
              </a:ext>
            </a:extLst>
          </p:cNvPr>
          <p:cNvSpPr txBox="1"/>
          <p:nvPr/>
        </p:nvSpPr>
        <p:spPr>
          <a:xfrm>
            <a:off x="566674" y="3066101"/>
            <a:ext cx="171451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Содержимое рабочей папки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id="{777CE23D-34F8-0352-43FF-3BC6144ADB2F}"/>
              </a:ext>
            </a:extLst>
          </p:cNvPr>
          <p:cNvCxnSpPr/>
          <p:nvPr/>
        </p:nvCxnSpPr>
        <p:spPr>
          <a:xfrm>
            <a:off x="1893732" y="3751471"/>
            <a:ext cx="428628" cy="142876"/>
          </a:xfrm>
          <a:prstGeom prst="straightConnector1">
            <a:avLst/>
          </a:prstGeom>
          <a:ln w="28575">
            <a:solidFill>
              <a:srgbClr val="92D05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Скругленный прямоугольник 29">
            <a:extLst>
              <a:ext uri="{FF2B5EF4-FFF2-40B4-BE49-F238E27FC236}">
                <a16:creationId xmlns:a16="http://schemas.microsoft.com/office/drawing/2014/main" id="{C252A7F0-18A5-F6F3-3D0F-E2A96B8AAF0C}"/>
              </a:ext>
            </a:extLst>
          </p:cNvPr>
          <p:cNvSpPr/>
          <p:nvPr/>
        </p:nvSpPr>
        <p:spPr>
          <a:xfrm>
            <a:off x="3417075" y="2448417"/>
            <a:ext cx="4707769" cy="4112638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271F3D9B-C424-E333-9638-80764F25EA48}"/>
              </a:ext>
            </a:extLst>
          </p:cNvPr>
          <p:cNvSpPr txBox="1"/>
          <p:nvPr/>
        </p:nvSpPr>
        <p:spPr>
          <a:xfrm>
            <a:off x="4552944" y="3453605"/>
            <a:ext cx="221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Командная строка</a:t>
            </a:r>
          </a:p>
        </p:txBody>
      </p:sp>
      <p:sp>
        <p:nvSpPr>
          <p:cNvPr id="16" name="Скругленный прямоугольник 31">
            <a:extLst>
              <a:ext uri="{FF2B5EF4-FFF2-40B4-BE49-F238E27FC236}">
                <a16:creationId xmlns:a16="http://schemas.microsoft.com/office/drawing/2014/main" id="{FA0445FF-7132-069A-8904-6EE15374CD00}"/>
              </a:ext>
            </a:extLst>
          </p:cNvPr>
          <p:cNvSpPr/>
          <p:nvPr/>
        </p:nvSpPr>
        <p:spPr>
          <a:xfrm>
            <a:off x="8167702" y="2412368"/>
            <a:ext cx="1500198" cy="4132763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7105F5E-CDC7-F760-9207-472116F411F1}"/>
              </a:ext>
            </a:extLst>
          </p:cNvPr>
          <p:cNvSpPr txBox="1"/>
          <p:nvPr/>
        </p:nvSpPr>
        <p:spPr>
          <a:xfrm>
            <a:off x="8210560" y="3508911"/>
            <a:ext cx="1571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Значения переменных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7F0769FB-F818-EABE-F97A-54F7D0F29244}"/>
              </a:ext>
            </a:extLst>
          </p:cNvPr>
          <p:cNvSpPr txBox="1"/>
          <p:nvPr/>
        </p:nvSpPr>
        <p:spPr>
          <a:xfrm>
            <a:off x="9763108" y="963557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Панель управления</a:t>
            </a:r>
          </a:p>
        </p:txBody>
      </p:sp>
    </p:spTree>
    <p:extLst>
      <p:ext uri="{BB962C8B-B14F-4D97-AF65-F5344CB8AC3E}">
        <p14:creationId xmlns:p14="http://schemas.microsoft.com/office/powerpoint/2010/main" val="408212790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DC9806B-41FE-401D-45E6-865973BCB2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командной строкой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F4743B0-FA4E-6AB5-081E-936BC3BC4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10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80790C8-AAEA-ACBC-171A-9E2FD44E4AB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3100" y="972795"/>
            <a:ext cx="2907860" cy="2146575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32279A58-FDCA-60C2-81E4-A956B8A92EC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3100" y="3426104"/>
            <a:ext cx="2907860" cy="1363864"/>
          </a:xfrm>
          <a:prstGeom prst="rect">
            <a:avLst/>
          </a:prstGeom>
        </p:spPr>
      </p:pic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B791DF54-9096-9DF7-C808-704DB8391356}"/>
              </a:ext>
            </a:extLst>
          </p:cNvPr>
          <p:cNvCxnSpPr/>
          <p:nvPr/>
        </p:nvCxnSpPr>
        <p:spPr>
          <a:xfrm flipH="1">
            <a:off x="1524927" y="1434822"/>
            <a:ext cx="244827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5C31902D-86E5-89EB-1195-5D45492CC9DE}"/>
              </a:ext>
            </a:extLst>
          </p:cNvPr>
          <p:cNvSpPr txBox="1"/>
          <p:nvPr/>
        </p:nvSpPr>
        <p:spPr>
          <a:xfrm>
            <a:off x="3973199" y="1151652"/>
            <a:ext cx="3744416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Точка с запятой позволяет не выводить результат выполнения операции в область Командной строки</a:t>
            </a:r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D5F82B61-98F2-8559-9677-EADB3184B296}"/>
              </a:ext>
            </a:extLst>
          </p:cNvPr>
          <p:cNvCxnSpPr>
            <a:cxnSpLocks/>
          </p:cNvCxnSpPr>
          <p:nvPr/>
        </p:nvCxnSpPr>
        <p:spPr>
          <a:xfrm flipH="1">
            <a:off x="1380911" y="1434822"/>
            <a:ext cx="2592288" cy="5760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BC9BEDC-80BF-846A-F842-1941962D0FFD}"/>
              </a:ext>
            </a:extLst>
          </p:cNvPr>
          <p:cNvCxnSpPr>
            <a:cxnSpLocks/>
          </p:cNvCxnSpPr>
          <p:nvPr/>
        </p:nvCxnSpPr>
        <p:spPr>
          <a:xfrm flipH="1">
            <a:off x="2912882" y="2934177"/>
            <a:ext cx="1030980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10" name="TextBox 9">
            <a:extLst>
              <a:ext uri="{FF2B5EF4-FFF2-40B4-BE49-F238E27FC236}">
                <a16:creationId xmlns:a16="http://schemas.microsoft.com/office/drawing/2014/main" id="{6FB80BFF-3454-E7EB-BC80-397B6CFCC24E}"/>
              </a:ext>
            </a:extLst>
          </p:cNvPr>
          <p:cNvSpPr txBox="1"/>
          <p:nvPr/>
        </p:nvSpPr>
        <p:spPr>
          <a:xfrm>
            <a:off x="3973199" y="2575878"/>
            <a:ext cx="37444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 данных переменной определяется автоматически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2CD08E1-6E47-6B16-3517-366879A94E65}"/>
              </a:ext>
            </a:extLst>
          </p:cNvPr>
          <p:cNvSpPr txBox="1"/>
          <p:nvPr/>
        </p:nvSpPr>
        <p:spPr>
          <a:xfrm>
            <a:off x="4034437" y="3798918"/>
            <a:ext cx="374441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Все переменные сохраняются в рабочей области и отображаются в соответствующем поле </a:t>
            </a:r>
          </a:p>
        </p:txBody>
      </p:sp>
      <p:cxnSp>
        <p:nvCxnSpPr>
          <p:cNvPr id="12" name="Прямая со стрелкой 11">
            <a:extLst>
              <a:ext uri="{FF2B5EF4-FFF2-40B4-BE49-F238E27FC236}">
                <a16:creationId xmlns:a16="http://schemas.microsoft.com/office/drawing/2014/main" id="{EB65CADD-26D6-A853-C993-29CF9AA8FBF5}"/>
              </a:ext>
            </a:extLst>
          </p:cNvPr>
          <p:cNvCxnSpPr>
            <a:cxnSpLocks/>
          </p:cNvCxnSpPr>
          <p:nvPr/>
        </p:nvCxnSpPr>
        <p:spPr>
          <a:xfrm flipH="1">
            <a:off x="2909301" y="4218192"/>
            <a:ext cx="1187552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14" name="Рисунок 13">
            <a:extLst>
              <a:ext uri="{FF2B5EF4-FFF2-40B4-BE49-F238E27FC236}">
                <a16:creationId xmlns:a16="http://schemas.microsoft.com/office/drawing/2014/main" id="{35D7876B-F756-C3E9-FC18-502ABBE4AF4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62290" y="988953"/>
            <a:ext cx="4077269" cy="228631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4BDD8FC-1CA9-48F9-4098-4C39E6E6807B}"/>
              </a:ext>
            </a:extLst>
          </p:cNvPr>
          <p:cNvSpPr txBox="1"/>
          <p:nvPr/>
        </p:nvSpPr>
        <p:spPr>
          <a:xfrm>
            <a:off x="7954146" y="3443441"/>
            <a:ext cx="3744416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Повторить выполненную ранее команду можно нажатием стрелочки «вверх» на клавиатуре.</a:t>
            </a:r>
          </a:p>
          <a:p>
            <a:r>
              <a:rPr lang="ru-RU" dirty="0"/>
              <a:t>Перед выполнением команду можно отредактировать</a:t>
            </a:r>
          </a:p>
        </p:txBody>
      </p:sp>
      <p:cxnSp>
        <p:nvCxnSpPr>
          <p:cNvPr id="18" name="Прямая со стрелкой 17">
            <a:extLst>
              <a:ext uri="{FF2B5EF4-FFF2-40B4-BE49-F238E27FC236}">
                <a16:creationId xmlns:a16="http://schemas.microsoft.com/office/drawing/2014/main" id="{86DA61EF-0AD9-33A2-B598-D302979E945C}"/>
              </a:ext>
            </a:extLst>
          </p:cNvPr>
          <p:cNvCxnSpPr>
            <a:cxnSpLocks/>
          </p:cNvCxnSpPr>
          <p:nvPr/>
        </p:nvCxnSpPr>
        <p:spPr>
          <a:xfrm flipH="1" flipV="1">
            <a:off x="10039546" y="2934177"/>
            <a:ext cx="113122" cy="509264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pic>
        <p:nvPicPr>
          <p:cNvPr id="21" name="Рисунок 20">
            <a:extLst>
              <a:ext uri="{FF2B5EF4-FFF2-40B4-BE49-F238E27FC236}">
                <a16:creationId xmlns:a16="http://schemas.microsoft.com/office/drawing/2014/main" id="{3F087FE9-5FD6-525D-6C8A-435B024955CC}"/>
              </a:ext>
            </a:extLst>
          </p:cNvPr>
          <p:cNvPicPr>
            <a:picLocks noChangeAspect="1"/>
          </p:cNvPicPr>
          <p:nvPr/>
        </p:nvPicPr>
        <p:blipFill rotWithShape="1">
          <a:blip r:embed="rId5"/>
          <a:srcRect t="15219"/>
          <a:stretch/>
        </p:blipFill>
        <p:spPr>
          <a:xfrm>
            <a:off x="294584" y="5131164"/>
            <a:ext cx="4791744" cy="1146868"/>
          </a:xfrm>
          <a:prstGeom prst="rect">
            <a:avLst/>
          </a:prstGeom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B540B7E0-0FE3-82A7-EE66-611EBF9A31B8}"/>
              </a:ext>
            </a:extLst>
          </p:cNvPr>
          <p:cNvSpPr txBox="1"/>
          <p:nvPr/>
        </p:nvSpPr>
        <p:spPr>
          <a:xfrm>
            <a:off x="5714926" y="5346646"/>
            <a:ext cx="563887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Переменные можно сохранить нажатием кнопки </a:t>
            </a:r>
          </a:p>
          <a:p>
            <a:r>
              <a:rPr lang="ru-RU" dirty="0"/>
              <a:t>«</a:t>
            </a:r>
            <a:r>
              <a:rPr lang="en-US" dirty="0"/>
              <a:t>Save Workspace</a:t>
            </a:r>
            <a:r>
              <a:rPr lang="ru-RU" dirty="0"/>
              <a:t>»</a:t>
            </a:r>
            <a:r>
              <a:rPr lang="en-US" dirty="0"/>
              <a:t>.</a:t>
            </a:r>
          </a:p>
          <a:p>
            <a:r>
              <a:rPr lang="ru-RU" dirty="0"/>
              <a:t>Сохранение производится в файл с расширением </a:t>
            </a:r>
            <a:r>
              <a:rPr lang="en-US" dirty="0"/>
              <a:t>.mat</a:t>
            </a:r>
          </a:p>
        </p:txBody>
      </p:sp>
      <p:cxnSp>
        <p:nvCxnSpPr>
          <p:cNvPr id="23" name="Прямая со стрелкой 22">
            <a:extLst>
              <a:ext uri="{FF2B5EF4-FFF2-40B4-BE49-F238E27FC236}">
                <a16:creationId xmlns:a16="http://schemas.microsoft.com/office/drawing/2014/main" id="{6D88148A-E0EC-6922-68AA-804690A74C33}"/>
              </a:ext>
            </a:extLst>
          </p:cNvPr>
          <p:cNvCxnSpPr>
            <a:cxnSpLocks/>
            <a:stCxn id="22" idx="1"/>
          </p:cNvCxnSpPr>
          <p:nvPr/>
        </p:nvCxnSpPr>
        <p:spPr>
          <a:xfrm flipH="1">
            <a:off x="4883085" y="5808311"/>
            <a:ext cx="831841" cy="0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685136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071BB6B2-E3D0-E624-639F-5F57929B560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Работа с командной строкой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82B1B0FF-8F2F-BA13-5575-E4802F9B8AD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EF663626-8B6E-0C5E-D8D5-97C9E1CEAFC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91629" y="2749557"/>
            <a:ext cx="9340817" cy="1619946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879EF677-2C63-1103-89A5-4EDBC3AFE5BC}"/>
              </a:ext>
            </a:extLst>
          </p:cNvPr>
          <p:cNvSpPr txBox="1"/>
          <p:nvPr/>
        </p:nvSpPr>
        <p:spPr>
          <a:xfrm>
            <a:off x="838200" y="1355155"/>
            <a:ext cx="6918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Удалить все переменные из рабочей области можно командой </a:t>
            </a:r>
            <a:r>
              <a:rPr lang="en-US" sz="2000" b="1" dirty="0"/>
              <a:t>clear</a:t>
            </a:r>
            <a:r>
              <a:rPr lang="en-US" sz="2000" dirty="0"/>
              <a:t> </a:t>
            </a:r>
            <a:r>
              <a:rPr lang="ru-RU" sz="2000" dirty="0"/>
              <a:t>или через кнопку в интерфейсе.</a:t>
            </a:r>
          </a:p>
        </p:txBody>
      </p:sp>
      <p:cxnSp>
        <p:nvCxnSpPr>
          <p:cNvPr id="6" name="Прямая со стрелкой 5">
            <a:extLst>
              <a:ext uri="{FF2B5EF4-FFF2-40B4-BE49-F238E27FC236}">
                <a16:creationId xmlns:a16="http://schemas.microsoft.com/office/drawing/2014/main" id="{12B153D2-FAE7-96C2-E7FE-DBA600823E3E}"/>
              </a:ext>
            </a:extLst>
          </p:cNvPr>
          <p:cNvCxnSpPr>
            <a:cxnSpLocks/>
          </p:cNvCxnSpPr>
          <p:nvPr/>
        </p:nvCxnSpPr>
        <p:spPr>
          <a:xfrm>
            <a:off x="4566346" y="2042773"/>
            <a:ext cx="1191420" cy="130374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7" name="TextBox 6">
            <a:extLst>
              <a:ext uri="{FF2B5EF4-FFF2-40B4-BE49-F238E27FC236}">
                <a16:creationId xmlns:a16="http://schemas.microsoft.com/office/drawing/2014/main" id="{3F841B7B-F86F-5C26-BBF8-08B1B05E60CB}"/>
              </a:ext>
            </a:extLst>
          </p:cNvPr>
          <p:cNvSpPr txBox="1"/>
          <p:nvPr/>
        </p:nvSpPr>
        <p:spPr>
          <a:xfrm>
            <a:off x="4032919" y="5056019"/>
            <a:ext cx="691875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Очистить область командной строки также можно с помощью интерфейса</a:t>
            </a:r>
            <a:r>
              <a:rPr lang="en-US" sz="2000" dirty="0"/>
              <a:t> </a:t>
            </a:r>
            <a:r>
              <a:rPr lang="ru-RU" sz="2000" dirty="0"/>
              <a:t>или командой </a:t>
            </a:r>
            <a:r>
              <a:rPr lang="en-US" sz="2000" b="1" dirty="0" err="1"/>
              <a:t>clc</a:t>
            </a:r>
            <a:endParaRPr lang="ru-RU" sz="2000" b="1" dirty="0"/>
          </a:p>
        </p:txBody>
      </p:sp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id="{A412F93D-E4C0-2F29-CB25-7CD9872CA851}"/>
              </a:ext>
            </a:extLst>
          </p:cNvPr>
          <p:cNvCxnSpPr>
            <a:cxnSpLocks/>
          </p:cNvCxnSpPr>
          <p:nvPr/>
        </p:nvCxnSpPr>
        <p:spPr>
          <a:xfrm flipV="1">
            <a:off x="7595993" y="4047247"/>
            <a:ext cx="1263901" cy="109036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3789838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" name="Рисунок 22">
            <a:extLst>
              <a:ext uri="{FF2B5EF4-FFF2-40B4-BE49-F238E27FC236}">
                <a16:creationId xmlns:a16="http://schemas.microsoft.com/office/drawing/2014/main" id="{68335E4D-55F0-B4AC-63AF-AE24754F244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06381" y="1217144"/>
            <a:ext cx="6443277" cy="5321821"/>
          </a:xfrm>
          <a:prstGeom prst="rect">
            <a:avLst/>
          </a:prstGeom>
        </p:spPr>
      </p:pic>
      <p:sp>
        <p:nvSpPr>
          <p:cNvPr id="25" name="Скругленный прямоугольник 7">
            <a:extLst>
              <a:ext uri="{FF2B5EF4-FFF2-40B4-BE49-F238E27FC236}">
                <a16:creationId xmlns:a16="http://schemas.microsoft.com/office/drawing/2014/main" id="{530DA696-2292-C34D-61F8-A6E9D06D80DF}"/>
              </a:ext>
            </a:extLst>
          </p:cNvPr>
          <p:cNvSpPr/>
          <p:nvPr/>
        </p:nvSpPr>
        <p:spPr>
          <a:xfrm>
            <a:off x="8875083" y="1329767"/>
            <a:ext cx="576064" cy="6811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F8AEAAB-A309-DEB7-AC9D-50879463B6C9}"/>
              </a:ext>
            </a:extLst>
          </p:cNvPr>
          <p:cNvSpPr txBox="1"/>
          <p:nvPr/>
        </p:nvSpPr>
        <p:spPr>
          <a:xfrm>
            <a:off x="9220853" y="679667"/>
            <a:ext cx="217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Запустить скрипт</a:t>
            </a:r>
          </a:p>
        </p:txBody>
      </p:sp>
      <p:cxnSp>
        <p:nvCxnSpPr>
          <p:cNvPr id="27" name="Прямая со стрелкой 26">
            <a:extLst>
              <a:ext uri="{FF2B5EF4-FFF2-40B4-BE49-F238E27FC236}">
                <a16:creationId xmlns:a16="http://schemas.microsoft.com/office/drawing/2014/main" id="{453B99F5-9BE1-2A8D-3BAA-9C28B26A8720}"/>
              </a:ext>
            </a:extLst>
          </p:cNvPr>
          <p:cNvCxnSpPr>
            <a:cxnSpLocks/>
          </p:cNvCxnSpPr>
          <p:nvPr/>
        </p:nvCxnSpPr>
        <p:spPr>
          <a:xfrm flipH="1">
            <a:off x="9451147" y="1031804"/>
            <a:ext cx="454853" cy="417614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Скругленный прямоугольник 7">
            <a:extLst>
              <a:ext uri="{FF2B5EF4-FFF2-40B4-BE49-F238E27FC236}">
                <a16:creationId xmlns:a16="http://schemas.microsoft.com/office/drawing/2014/main" id="{AA193D7E-0E8B-CEBA-338F-20A752D0630E}"/>
              </a:ext>
            </a:extLst>
          </p:cNvPr>
          <p:cNvSpPr/>
          <p:nvPr/>
        </p:nvSpPr>
        <p:spPr>
          <a:xfrm>
            <a:off x="5627952" y="6344577"/>
            <a:ext cx="864096" cy="216025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E68095EE-B6CF-7DEE-C9C9-6A93BD2AB6B1}"/>
              </a:ext>
            </a:extLst>
          </p:cNvPr>
          <p:cNvSpPr txBox="1"/>
          <p:nvPr/>
        </p:nvSpPr>
        <p:spPr>
          <a:xfrm>
            <a:off x="8131898" y="6338910"/>
            <a:ext cx="217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Запустить скрипт</a:t>
            </a:r>
          </a:p>
        </p:txBody>
      </p:sp>
      <p:cxnSp>
        <p:nvCxnSpPr>
          <p:cNvPr id="30" name="Прямая со стрелкой 29">
            <a:extLst>
              <a:ext uri="{FF2B5EF4-FFF2-40B4-BE49-F238E27FC236}">
                <a16:creationId xmlns:a16="http://schemas.microsoft.com/office/drawing/2014/main" id="{DFB56A1E-CF2F-B9D9-4D48-1F03261E772F}"/>
              </a:ext>
            </a:extLst>
          </p:cNvPr>
          <p:cNvCxnSpPr>
            <a:cxnSpLocks/>
            <a:stCxn id="29" idx="1"/>
          </p:cNvCxnSpPr>
          <p:nvPr/>
        </p:nvCxnSpPr>
        <p:spPr>
          <a:xfrm flipH="1" flipV="1">
            <a:off x="6613619" y="6452589"/>
            <a:ext cx="1518279" cy="86376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B9C27B5-EF4E-9273-8D0F-44E4C978DB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Скрипт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E87B8D7-EEA6-132B-7A3B-FD96F10F4A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12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4E1E9407-62D9-B574-D33C-B82E76143FC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0041" y="2154596"/>
            <a:ext cx="5218944" cy="4644978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B7B3ED5D-59BE-F5EA-4976-6CC98CBAB1F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1264" y="918125"/>
            <a:ext cx="2657846" cy="1181265"/>
          </a:xfrm>
          <a:prstGeom prst="rect">
            <a:avLst/>
          </a:prstGeom>
        </p:spPr>
      </p:pic>
      <p:sp>
        <p:nvSpPr>
          <p:cNvPr id="7" name="Скругленный прямоугольник 7">
            <a:extLst>
              <a:ext uri="{FF2B5EF4-FFF2-40B4-BE49-F238E27FC236}">
                <a16:creationId xmlns:a16="http://schemas.microsoft.com/office/drawing/2014/main" id="{9369A38C-5CAC-534E-394C-BA8DA7FC2CB9}"/>
              </a:ext>
            </a:extLst>
          </p:cNvPr>
          <p:cNvSpPr/>
          <p:nvPr/>
        </p:nvSpPr>
        <p:spPr>
          <a:xfrm>
            <a:off x="106169" y="2134910"/>
            <a:ext cx="5221854" cy="681178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00D2641-B18F-BCDE-1AE4-42149C9D9812}"/>
              </a:ext>
            </a:extLst>
          </p:cNvPr>
          <p:cNvSpPr txBox="1"/>
          <p:nvPr/>
        </p:nvSpPr>
        <p:spPr>
          <a:xfrm>
            <a:off x="3060564" y="1220764"/>
            <a:ext cx="242889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Панель управления</a:t>
            </a:r>
          </a:p>
        </p:txBody>
      </p:sp>
      <p:cxnSp>
        <p:nvCxnSpPr>
          <p:cNvPr id="9" name="Прямая со стрелкой 8">
            <a:extLst>
              <a:ext uri="{FF2B5EF4-FFF2-40B4-BE49-F238E27FC236}">
                <a16:creationId xmlns:a16="http://schemas.microsoft.com/office/drawing/2014/main" id="{666C1037-576F-FB06-A9F8-66DD7D3A47DE}"/>
              </a:ext>
            </a:extLst>
          </p:cNvPr>
          <p:cNvCxnSpPr>
            <a:cxnSpLocks/>
          </p:cNvCxnSpPr>
          <p:nvPr/>
        </p:nvCxnSpPr>
        <p:spPr>
          <a:xfrm flipH="1">
            <a:off x="3656399" y="1580025"/>
            <a:ext cx="171994" cy="536333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Скругленный прямоугольник 18">
            <a:extLst>
              <a:ext uri="{FF2B5EF4-FFF2-40B4-BE49-F238E27FC236}">
                <a16:creationId xmlns:a16="http://schemas.microsoft.com/office/drawing/2014/main" id="{1E71FC3D-E47F-EFC6-385C-C229C5EE54C3}"/>
              </a:ext>
            </a:extLst>
          </p:cNvPr>
          <p:cNvSpPr/>
          <p:nvPr/>
        </p:nvSpPr>
        <p:spPr>
          <a:xfrm>
            <a:off x="127131" y="2864631"/>
            <a:ext cx="5221854" cy="146151"/>
          </a:xfrm>
          <a:prstGeom prst="roundRect">
            <a:avLst/>
          </a:prstGeom>
          <a:noFill/>
          <a:ln w="381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99645B1-FB99-783E-82AA-29D0BB147749}"/>
              </a:ext>
            </a:extLst>
          </p:cNvPr>
          <p:cNvSpPr txBox="1"/>
          <p:nvPr/>
        </p:nvSpPr>
        <p:spPr>
          <a:xfrm>
            <a:off x="17840" y="2736129"/>
            <a:ext cx="18471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Рабочая папка</a:t>
            </a:r>
          </a:p>
        </p:txBody>
      </p:sp>
      <p:sp>
        <p:nvSpPr>
          <p:cNvPr id="13" name="Скругленный прямоугольник 25">
            <a:extLst>
              <a:ext uri="{FF2B5EF4-FFF2-40B4-BE49-F238E27FC236}">
                <a16:creationId xmlns:a16="http://schemas.microsoft.com/office/drawing/2014/main" id="{C64E0A7F-FD9F-C2E7-0ADC-33AF61C48048}"/>
              </a:ext>
            </a:extLst>
          </p:cNvPr>
          <p:cNvSpPr/>
          <p:nvPr/>
        </p:nvSpPr>
        <p:spPr>
          <a:xfrm>
            <a:off x="130040" y="3086694"/>
            <a:ext cx="971329" cy="3601197"/>
          </a:xfrm>
          <a:prstGeom prst="roundRect">
            <a:avLst/>
          </a:prstGeom>
          <a:noFill/>
          <a:ln w="28575">
            <a:solidFill>
              <a:srgbClr val="92D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04D70E71-DE4F-2889-FD10-58EBFF0E44A4}"/>
              </a:ext>
            </a:extLst>
          </p:cNvPr>
          <p:cNvSpPr txBox="1"/>
          <p:nvPr/>
        </p:nvSpPr>
        <p:spPr>
          <a:xfrm rot="16200000">
            <a:off x="-1197959" y="4704351"/>
            <a:ext cx="3419802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Содержимое рабочей папки</a:t>
            </a:r>
          </a:p>
        </p:txBody>
      </p:sp>
      <p:sp>
        <p:nvSpPr>
          <p:cNvPr id="15" name="Скругленный прямоугольник 29">
            <a:extLst>
              <a:ext uri="{FF2B5EF4-FFF2-40B4-BE49-F238E27FC236}">
                <a16:creationId xmlns:a16="http://schemas.microsoft.com/office/drawing/2014/main" id="{847D999E-CB28-4219-6E0E-6A2AEE1B2141}"/>
              </a:ext>
            </a:extLst>
          </p:cNvPr>
          <p:cNvSpPr/>
          <p:nvPr/>
        </p:nvSpPr>
        <p:spPr>
          <a:xfrm>
            <a:off x="1179449" y="5265724"/>
            <a:ext cx="3284166" cy="1422168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0070C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BD2112B-DF86-850E-7EF8-B2C45567F6B3}"/>
              </a:ext>
            </a:extLst>
          </p:cNvPr>
          <p:cNvSpPr txBox="1"/>
          <p:nvPr/>
        </p:nvSpPr>
        <p:spPr>
          <a:xfrm>
            <a:off x="1714243" y="5782367"/>
            <a:ext cx="22145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Командная строка</a:t>
            </a:r>
          </a:p>
        </p:txBody>
      </p:sp>
      <p:sp>
        <p:nvSpPr>
          <p:cNvPr id="17" name="Скругленный прямоугольник 31">
            <a:extLst>
              <a:ext uri="{FF2B5EF4-FFF2-40B4-BE49-F238E27FC236}">
                <a16:creationId xmlns:a16="http://schemas.microsoft.com/office/drawing/2014/main" id="{8179A3D9-1DF0-4F86-5A71-D0CE5348339B}"/>
              </a:ext>
            </a:extLst>
          </p:cNvPr>
          <p:cNvSpPr/>
          <p:nvPr/>
        </p:nvSpPr>
        <p:spPr>
          <a:xfrm>
            <a:off x="4535053" y="3086695"/>
            <a:ext cx="861498" cy="3601197"/>
          </a:xfrm>
          <a:prstGeom prst="roundRect">
            <a:avLst/>
          </a:prstGeom>
          <a:noFill/>
          <a:ln w="28575"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CE74869-A2F5-6A94-3B6D-267B910FB5D0}"/>
              </a:ext>
            </a:extLst>
          </p:cNvPr>
          <p:cNvSpPr txBox="1"/>
          <p:nvPr/>
        </p:nvSpPr>
        <p:spPr>
          <a:xfrm rot="16200000">
            <a:off x="3587155" y="4567598"/>
            <a:ext cx="274713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Значения переменных</a:t>
            </a:r>
          </a:p>
        </p:txBody>
      </p:sp>
      <p:sp>
        <p:nvSpPr>
          <p:cNvPr id="19" name="Скругленный прямоугольник 29">
            <a:extLst>
              <a:ext uri="{FF2B5EF4-FFF2-40B4-BE49-F238E27FC236}">
                <a16:creationId xmlns:a16="http://schemas.microsoft.com/office/drawing/2014/main" id="{D4FA8CDB-F53D-FEC6-C8CE-67DA8951E88C}"/>
              </a:ext>
            </a:extLst>
          </p:cNvPr>
          <p:cNvSpPr/>
          <p:nvPr/>
        </p:nvSpPr>
        <p:spPr>
          <a:xfrm>
            <a:off x="1172807" y="3086694"/>
            <a:ext cx="3284166" cy="2067347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C933834B-4EA3-13EC-90C5-78D543B5532A}"/>
              </a:ext>
            </a:extLst>
          </p:cNvPr>
          <p:cNvSpPr txBox="1"/>
          <p:nvPr/>
        </p:nvSpPr>
        <p:spPr>
          <a:xfrm>
            <a:off x="2338598" y="3878055"/>
            <a:ext cx="11287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Скрипт</a:t>
            </a:r>
          </a:p>
        </p:txBody>
      </p:sp>
      <p:cxnSp>
        <p:nvCxnSpPr>
          <p:cNvPr id="21" name="Прямая со стрелкой 20">
            <a:extLst>
              <a:ext uri="{FF2B5EF4-FFF2-40B4-BE49-F238E27FC236}">
                <a16:creationId xmlns:a16="http://schemas.microsoft.com/office/drawing/2014/main" id="{D1CCFFFC-902F-B942-4811-014B48B50775}"/>
              </a:ext>
            </a:extLst>
          </p:cNvPr>
          <p:cNvCxnSpPr>
            <a:cxnSpLocks/>
            <a:stCxn id="22" idx="3"/>
          </p:cNvCxnSpPr>
          <p:nvPr/>
        </p:nvCxnSpPr>
        <p:spPr>
          <a:xfrm>
            <a:off x="634532" y="1546087"/>
            <a:ext cx="1677988" cy="1648418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Скругленный прямоугольник 29">
            <a:extLst>
              <a:ext uri="{FF2B5EF4-FFF2-40B4-BE49-F238E27FC236}">
                <a16:creationId xmlns:a16="http://schemas.microsoft.com/office/drawing/2014/main" id="{6DF3539B-B152-7131-306A-E21F342D24DD}"/>
              </a:ext>
            </a:extLst>
          </p:cNvPr>
          <p:cNvSpPr/>
          <p:nvPr/>
        </p:nvSpPr>
        <p:spPr>
          <a:xfrm>
            <a:off x="159894" y="1173526"/>
            <a:ext cx="474638" cy="745121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6550949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ECEA3F8-CF0A-6DF6-F4CE-1E41A217B00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Операции с матрицами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819EB57-30D6-503B-F056-6ABF49CCFB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18BE2EF-CA52-3C43-8C64-CBB1D841ED1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446" y="1191508"/>
            <a:ext cx="11361650" cy="42760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795325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7A34C499-6038-F53E-C940-6183F8C44B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4074" y="1104459"/>
            <a:ext cx="6812846" cy="4285003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D675D90-E486-4423-E721-98435F55031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20019" y="2783929"/>
            <a:ext cx="7739799" cy="3824901"/>
          </a:xfrm>
          <a:prstGeom prst="rect">
            <a:avLst/>
          </a:prstGeom>
        </p:spPr>
      </p:pic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AA2BB23-E711-AD6D-311B-A97A0351A6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Условный оператор и циклы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4D5FE94-B90D-CFB2-9614-45851A9541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14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272039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DEF2398F-8755-D350-2A37-0D69AAFFB0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Пользовательские функции в скрипте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1C0E476C-41D4-5989-E324-683346AD11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15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21AEA81-D2EC-8EFF-BEEC-34B88ADA75E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7080" y="963549"/>
            <a:ext cx="7633923" cy="5563910"/>
          </a:xfrm>
          <a:prstGeom prst="rect">
            <a:avLst/>
          </a:prstGeom>
        </p:spPr>
      </p:pic>
      <p:sp>
        <p:nvSpPr>
          <p:cNvPr id="5" name="Скругленный прямоугольник 7">
            <a:extLst>
              <a:ext uri="{FF2B5EF4-FFF2-40B4-BE49-F238E27FC236}">
                <a16:creationId xmlns:a16="http://schemas.microsoft.com/office/drawing/2014/main" id="{50D7B776-9CF7-8AF1-BE64-C0964C8CA005}"/>
              </a:ext>
            </a:extLst>
          </p:cNvPr>
          <p:cNvSpPr/>
          <p:nvPr/>
        </p:nvSpPr>
        <p:spPr>
          <a:xfrm>
            <a:off x="8637908" y="1346685"/>
            <a:ext cx="576064" cy="821479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3649B7C-CD6C-34C1-3437-ED533046ABA8}"/>
              </a:ext>
            </a:extLst>
          </p:cNvPr>
          <p:cNvSpPr txBox="1"/>
          <p:nvPr/>
        </p:nvSpPr>
        <p:spPr>
          <a:xfrm>
            <a:off x="9681908" y="1627754"/>
            <a:ext cx="217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Запустить скрипт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5FEB3A67-B41A-40E6-7DCF-C82F784D07A6}"/>
              </a:ext>
            </a:extLst>
          </p:cNvPr>
          <p:cNvCxnSpPr>
            <a:cxnSpLocks/>
            <a:stCxn id="6" idx="1"/>
          </p:cNvCxnSpPr>
          <p:nvPr/>
        </p:nvCxnSpPr>
        <p:spPr>
          <a:xfrm flipH="1">
            <a:off x="9213972" y="1827809"/>
            <a:ext cx="467936" cy="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Скругленный прямоугольник 7">
            <a:extLst>
              <a:ext uri="{FF2B5EF4-FFF2-40B4-BE49-F238E27FC236}">
                <a16:creationId xmlns:a16="http://schemas.microsoft.com/office/drawing/2014/main" id="{BBCCDB05-0487-6B1F-8800-8C8659DA1BAD}"/>
              </a:ext>
            </a:extLst>
          </p:cNvPr>
          <p:cNvSpPr/>
          <p:nvPr/>
        </p:nvSpPr>
        <p:spPr>
          <a:xfrm>
            <a:off x="2489298" y="5985763"/>
            <a:ext cx="2138447" cy="299102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1F7337B0-5DD5-C5BE-2503-49172074BFF8}"/>
              </a:ext>
            </a:extLst>
          </p:cNvPr>
          <p:cNvSpPr txBox="1"/>
          <p:nvPr/>
        </p:nvSpPr>
        <p:spPr>
          <a:xfrm>
            <a:off x="6580631" y="5940209"/>
            <a:ext cx="217791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Запустить скрипт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id="{55C5B58C-86F2-1AFF-67E9-3AB7DA22F8E1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flipH="1" flipV="1">
            <a:off x="4627745" y="6135314"/>
            <a:ext cx="1952886" cy="4950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2985347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45A1362-9CA1-FBB9-8B3D-B0DAF90ECCA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Пользовательские функции в отдельном файле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C5F53A1-B6AB-37B2-B15C-53886B5A78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16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162CDF61-CA35-2608-5C23-44DA1F105F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30108" y="967154"/>
            <a:ext cx="8990204" cy="5761262"/>
          </a:xfrm>
          <a:prstGeom prst="rect">
            <a:avLst/>
          </a:prstGeom>
        </p:spPr>
      </p:pic>
      <p:sp>
        <p:nvSpPr>
          <p:cNvPr id="5" name="Скругленный прямоугольник 29">
            <a:extLst>
              <a:ext uri="{FF2B5EF4-FFF2-40B4-BE49-F238E27FC236}">
                <a16:creationId xmlns:a16="http://schemas.microsoft.com/office/drawing/2014/main" id="{296A05C7-6EDB-448A-7E13-5CF945B16F7C}"/>
              </a:ext>
            </a:extLst>
          </p:cNvPr>
          <p:cNvSpPr/>
          <p:nvPr/>
        </p:nvSpPr>
        <p:spPr>
          <a:xfrm>
            <a:off x="3600566" y="2303096"/>
            <a:ext cx="6919745" cy="3587749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C7FA689-AD06-331F-0B66-11824DD22D01}"/>
              </a:ext>
            </a:extLst>
          </p:cNvPr>
          <p:cNvSpPr txBox="1"/>
          <p:nvPr/>
        </p:nvSpPr>
        <p:spPr>
          <a:xfrm>
            <a:off x="6490597" y="4081974"/>
            <a:ext cx="1546904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Функция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AE60940C-AE05-D4BF-8CB3-ABE020F0F3E7}"/>
              </a:ext>
            </a:extLst>
          </p:cNvPr>
          <p:cNvCxnSpPr>
            <a:cxnSpLocks/>
          </p:cNvCxnSpPr>
          <p:nvPr/>
        </p:nvCxnSpPr>
        <p:spPr>
          <a:xfrm>
            <a:off x="2931736" y="2743200"/>
            <a:ext cx="668829" cy="933254"/>
          </a:xfrm>
          <a:prstGeom prst="straightConnector1">
            <a:avLst/>
          </a:prstGeom>
          <a:ln w="28575">
            <a:solidFill>
              <a:srgbClr val="FFC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Скругленный прямоугольник 29">
            <a:extLst>
              <a:ext uri="{FF2B5EF4-FFF2-40B4-BE49-F238E27FC236}">
                <a16:creationId xmlns:a16="http://schemas.microsoft.com/office/drawing/2014/main" id="{559AB06D-2A29-014B-D8EE-DEB9569B4B19}"/>
              </a:ext>
            </a:extLst>
          </p:cNvPr>
          <p:cNvSpPr/>
          <p:nvPr/>
        </p:nvSpPr>
        <p:spPr>
          <a:xfrm>
            <a:off x="1501827" y="1156762"/>
            <a:ext cx="474638" cy="785160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Скругленный прямоугольник 29">
            <a:extLst>
              <a:ext uri="{FF2B5EF4-FFF2-40B4-BE49-F238E27FC236}">
                <a16:creationId xmlns:a16="http://schemas.microsoft.com/office/drawing/2014/main" id="{C0813394-D118-4FC8-B4A9-8DC0147830CF}"/>
              </a:ext>
            </a:extLst>
          </p:cNvPr>
          <p:cNvSpPr/>
          <p:nvPr/>
        </p:nvSpPr>
        <p:spPr>
          <a:xfrm>
            <a:off x="1618093" y="2548194"/>
            <a:ext cx="1275936" cy="352450"/>
          </a:xfrm>
          <a:prstGeom prst="roundRect">
            <a:avLst>
              <a:gd name="adj" fmla="val 7583"/>
            </a:avLst>
          </a:prstGeom>
          <a:noFill/>
          <a:ln w="38100"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6560485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A66D86-E227-D0CD-D091-B592CCFDC6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Пользовательские функции в отдельном файле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7BEE41D-4186-6F12-5253-DE7ADA9EA3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17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3D28D61C-6F94-8580-D81C-96650FE9F23E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t="29235"/>
          <a:stretch/>
        </p:blipFill>
        <p:spPr>
          <a:xfrm>
            <a:off x="1665653" y="988436"/>
            <a:ext cx="8388980" cy="5431683"/>
          </a:xfrm>
          <a:prstGeom prst="rect">
            <a:avLst/>
          </a:prstGeom>
        </p:spPr>
      </p:pic>
      <p:sp>
        <p:nvSpPr>
          <p:cNvPr id="5" name="Скругленный прямоугольник 7">
            <a:extLst>
              <a:ext uri="{FF2B5EF4-FFF2-40B4-BE49-F238E27FC236}">
                <a16:creationId xmlns:a16="http://schemas.microsoft.com/office/drawing/2014/main" id="{B9C39640-84D3-FFCE-C7FC-017AF63DAD71}"/>
              </a:ext>
            </a:extLst>
          </p:cNvPr>
          <p:cNvSpPr/>
          <p:nvPr/>
        </p:nvSpPr>
        <p:spPr>
          <a:xfrm>
            <a:off x="1969875" y="6013662"/>
            <a:ext cx="3525952" cy="479213"/>
          </a:xfrm>
          <a:prstGeom prst="roundRect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D0351D-2214-58B4-56D7-1BB28DF68850}"/>
              </a:ext>
            </a:extLst>
          </p:cNvPr>
          <p:cNvSpPr txBox="1"/>
          <p:nvPr/>
        </p:nvSpPr>
        <p:spPr>
          <a:xfrm>
            <a:off x="8571453" y="5922463"/>
            <a:ext cx="296635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000" dirty="0"/>
              <a:t>Вызов функции</a:t>
            </a:r>
          </a:p>
        </p:txBody>
      </p:sp>
      <p:cxnSp>
        <p:nvCxnSpPr>
          <p:cNvPr id="7" name="Прямая со стрелкой 6">
            <a:extLst>
              <a:ext uri="{FF2B5EF4-FFF2-40B4-BE49-F238E27FC236}">
                <a16:creationId xmlns:a16="http://schemas.microsoft.com/office/drawing/2014/main" id="{7D9A6408-4E45-624E-7111-C7045C9CE381}"/>
              </a:ext>
            </a:extLst>
          </p:cNvPr>
          <p:cNvCxnSpPr>
            <a:cxnSpLocks/>
            <a:stCxn id="6" idx="1"/>
            <a:endCxn id="5" idx="3"/>
          </p:cNvCxnSpPr>
          <p:nvPr/>
        </p:nvCxnSpPr>
        <p:spPr>
          <a:xfrm flipH="1">
            <a:off x="5495827" y="6122518"/>
            <a:ext cx="3075626" cy="130751"/>
          </a:xfrm>
          <a:prstGeom prst="straightConnector1">
            <a:avLst/>
          </a:prstGeom>
          <a:ln w="28575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54784272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E315898-660B-A053-6100-1E208DD27B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Вывод текстовых сообщений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03522CC-1D7D-2B9C-B9C0-CD6C379535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18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5E9ADCB6-E8AD-8C17-0B0E-F4F04F7B3A7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59814" y="967154"/>
            <a:ext cx="8104318" cy="5708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9094349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B94F0182-8BC8-2DCB-A281-B4B626B1AD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Построение графика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0C78E2BE-50E4-F169-0DA7-099AC85D78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19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A41CF95D-B8C3-BC15-8B2D-8C72996FBCC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83588" y="958164"/>
            <a:ext cx="7192008" cy="56664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7267705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7B84DC78-6726-D4EE-1841-76FE151AF97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AFE606C2-7B6E-0D0B-6644-C4AB7C2EA3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 1</a:t>
            </a:r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B9B23F37-A370-A73F-185A-BA867D442E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20</a:t>
            </a:fld>
            <a:endParaRPr lang="ru-RU"/>
          </a:p>
        </p:txBody>
      </p:sp>
      <p:sp>
        <p:nvSpPr>
          <p:cNvPr id="5" name="Содержимое 2">
            <a:extLst>
              <a:ext uri="{FF2B5EF4-FFF2-40B4-BE49-F238E27FC236}">
                <a16:creationId xmlns:a16="http://schemas.microsoft.com/office/drawing/2014/main" id="{5C19B21B-D858-114F-9C0E-7171A89AEAD3}"/>
              </a:ext>
            </a:extLst>
          </p:cNvPr>
          <p:cNvSpPr txBox="1">
            <a:spLocks/>
          </p:cNvSpPr>
          <p:nvPr/>
        </p:nvSpPr>
        <p:spPr>
          <a:xfrm>
            <a:off x="540062" y="1244563"/>
            <a:ext cx="11319756" cy="4800600"/>
          </a:xfrm>
          <a:prstGeom prst="rect">
            <a:avLst/>
          </a:prstGeom>
        </p:spPr>
        <p:txBody>
          <a:bodyPr/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ru-RU" dirty="0">
                <a:latin typeface="Arial" pitchFamily="34" charset="0"/>
                <a:cs typeface="Arial" pitchFamily="34" charset="0"/>
              </a:rPr>
              <a:t>Написать функцию решения квадратного уравнения с заданными коэффициентами</a:t>
            </a:r>
            <a:endParaRPr lang="en-US" dirty="0">
              <a:latin typeface="Arial" pitchFamily="34" charset="0"/>
              <a:cs typeface="Arial" pitchFamily="34" charset="0"/>
            </a:endParaRPr>
          </a:p>
          <a:p>
            <a:endParaRPr lang="en-US" sz="3200" dirty="0">
              <a:latin typeface="Arial" pitchFamily="34" charset="0"/>
              <a:cs typeface="Arial" pitchFamily="34" charset="0"/>
            </a:endParaRPr>
          </a:p>
          <a:p>
            <a:pPr>
              <a:buFont typeface="Arial" panose="020B0604020202020204" pitchFamily="34" charset="0"/>
              <a:buNone/>
            </a:pPr>
            <a:r>
              <a:rPr lang="ru-RU" dirty="0">
                <a:latin typeface="Arial" pitchFamily="34" charset="0"/>
                <a:cs typeface="Arial" pitchFamily="34" charset="0"/>
              </a:rPr>
              <a:t>    на вход функции поступают значения коэффициентов </a:t>
            </a:r>
            <a:r>
              <a:rPr lang="en-US" dirty="0" err="1">
                <a:latin typeface="Arial" pitchFamily="34" charset="0"/>
                <a:cs typeface="Arial" pitchFamily="34" charset="0"/>
              </a:rPr>
              <a:t>a,b,c</a:t>
            </a:r>
            <a:r>
              <a:rPr lang="ru-RU" dirty="0">
                <a:latin typeface="Arial" pitchFamily="34" charset="0"/>
                <a:cs typeface="Arial" pitchFamily="34" charset="0"/>
              </a:rPr>
              <a:t>, на выход передается пара значений корней уравнений </a:t>
            </a:r>
            <a:r>
              <a:rPr lang="en-US" dirty="0">
                <a:latin typeface="Arial" pitchFamily="34" charset="0"/>
                <a:cs typeface="Arial" pitchFamily="34" charset="0"/>
              </a:rPr>
              <a:t>x1, x2</a:t>
            </a:r>
            <a:endParaRPr lang="ru-RU" dirty="0">
              <a:latin typeface="Arial" pitchFamily="34" charset="0"/>
              <a:cs typeface="Arial" pitchFamily="34" charset="0"/>
            </a:endParaRPr>
          </a:p>
          <a:p>
            <a:r>
              <a:rPr lang="ru-RU" dirty="0">
                <a:latin typeface="Arial" pitchFamily="34" charset="0"/>
                <a:cs typeface="Arial" pitchFamily="34" charset="0"/>
              </a:rPr>
              <a:t>Построить график функции</a:t>
            </a:r>
          </a:p>
          <a:p>
            <a:endParaRPr lang="en-US" dirty="0">
              <a:latin typeface="Arial" pitchFamily="34" charset="0"/>
              <a:cs typeface="Arial" pitchFamily="34" charset="0"/>
            </a:endParaRPr>
          </a:p>
          <a:p>
            <a:pPr marL="82296" indent="0">
              <a:buFont typeface="Arial" panose="020B0604020202020204" pitchFamily="34" charset="0"/>
              <a:buNone/>
            </a:pPr>
            <a:r>
              <a:rPr lang="ru-RU" sz="3200" dirty="0"/>
              <a:t>    </a:t>
            </a:r>
            <a:r>
              <a:rPr lang="ru-RU" dirty="0">
                <a:latin typeface="Arial" pitchFamily="34" charset="0"/>
                <a:cs typeface="Arial" pitchFamily="34" charset="0"/>
              </a:rPr>
              <a:t>и отметить на графике найденные корни.</a:t>
            </a:r>
          </a:p>
        </p:txBody>
      </p:sp>
      <p:pic>
        <p:nvPicPr>
          <p:cNvPr id="6" name="Picture 1">
            <a:extLst>
              <a:ext uri="{FF2B5EF4-FFF2-40B4-BE49-F238E27FC236}">
                <a16:creationId xmlns:a16="http://schemas.microsoft.com/office/drawing/2014/main" id="{EC9B449E-DB0E-B3E0-9013-92E840DCA8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364165" y="1970931"/>
            <a:ext cx="3733978" cy="687427"/>
          </a:xfrm>
          <a:prstGeom prst="rect">
            <a:avLst/>
          </a:prstGeom>
          <a:noFill/>
        </p:spPr>
      </p:pic>
      <p:pic>
        <p:nvPicPr>
          <p:cNvPr id="7" name="Picture 4">
            <a:extLst>
              <a:ext uri="{FF2B5EF4-FFF2-40B4-BE49-F238E27FC236}">
                <a16:creationId xmlns:a16="http://schemas.microsoft.com/office/drawing/2014/main" id="{F612C15A-233D-5EEA-A895-863DE49141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</a:blip>
          <a:srcRect/>
          <a:stretch>
            <a:fillRect/>
          </a:stretch>
        </p:blipFill>
        <p:spPr bwMode="auto">
          <a:xfrm>
            <a:off x="4269896" y="4015234"/>
            <a:ext cx="4082251" cy="748413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138125009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3DFC7B4D-598C-E1F9-B764-FE1E50CB613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Передаточные функции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FDC697C2-6675-5F1E-4A11-D32A4B9D05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21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C312C8BC-4688-D4FB-6533-88A287F713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5477" y="1191214"/>
            <a:ext cx="4715622" cy="4634551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95AF75E2-AF42-D1E1-4AA1-3D4B6BF301F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044" y="1049812"/>
            <a:ext cx="3676650" cy="557212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2303728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D79A9F-6842-4D44-B268-CE730FA56F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15FFC707-1261-B40B-EEDB-30850F0E5B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Передаточные функции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5F4B3EF8-1D17-7643-3185-7203F59370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22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108377D4-9200-6C7F-E1AB-8D4916A5D9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3024" y="1055160"/>
            <a:ext cx="4719343" cy="5207962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CBBAA34A-6157-59D9-37FC-0256032A48A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87299" y="1055160"/>
            <a:ext cx="3584984" cy="55795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856713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F80B8B-AB71-7032-BFAD-C13C12F660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34EB254-E6C1-3CE9-9027-DA54BA84D9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Передаточные функции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694CE955-1F6D-71F2-B8F8-85C8D93C4E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23</a:t>
            </a:fld>
            <a:endParaRPr lang="ru-RU"/>
          </a:p>
        </p:txBody>
      </p:sp>
      <p:pic>
        <p:nvPicPr>
          <p:cNvPr id="4" name="Рисунок 3">
            <a:extLst>
              <a:ext uri="{FF2B5EF4-FFF2-40B4-BE49-F238E27FC236}">
                <a16:creationId xmlns:a16="http://schemas.microsoft.com/office/drawing/2014/main" id="{85DC19C5-20BB-46A3-73FE-80AA5639283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2150" y="967154"/>
            <a:ext cx="4519368" cy="5619262"/>
          </a:xfrm>
          <a:prstGeom prst="rect">
            <a:avLst/>
          </a:prstGeom>
        </p:spPr>
      </p:pic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A3BF310-DD4B-1C52-F7C3-05B304C117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78295" y="967154"/>
            <a:ext cx="4018728" cy="57019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749947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A64B92B-AC19-37C9-F0DB-5FAD0E8A61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13566EB-CB74-9E00-AE1E-9E9C9920BE2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Передаточные функции в </a:t>
            </a:r>
            <a:r>
              <a:rPr lang="en-US" dirty="0" err="1"/>
              <a:t>MatLab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4D405226-1264-9995-6CA4-E14A832B44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24</a:t>
            </a:fld>
            <a:endParaRPr lang="ru-RU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id="{0695E4CA-BB20-1991-15F0-67DF8A68DE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5909" y="967154"/>
            <a:ext cx="3937942" cy="5734563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BB3AD895-67A0-636B-D512-450068E404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57132" y="967154"/>
            <a:ext cx="4061985" cy="56716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44846604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66C4932-481D-5A4D-F85A-4CABD40F97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>
            <a:extLst>
              <a:ext uri="{FF2B5EF4-FFF2-40B4-BE49-F238E27FC236}">
                <a16:creationId xmlns:a16="http://schemas.microsoft.com/office/drawing/2014/main" id="{49CBE5AD-9D04-4D14-94D3-FC7246DB2FB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64664C66-FE1D-F952-9090-7B19E383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u-RU" dirty="0"/>
              <a:t>Задача </a:t>
            </a:r>
            <a:r>
              <a:rPr lang="en-US" dirty="0"/>
              <a:t>2</a:t>
            </a:r>
            <a:endParaRPr lang="ru-RU" dirty="0"/>
          </a:p>
        </p:txBody>
      </p:sp>
      <p:sp>
        <p:nvSpPr>
          <p:cNvPr id="3" name="Номер слайда 2">
            <a:extLst>
              <a:ext uri="{FF2B5EF4-FFF2-40B4-BE49-F238E27FC236}">
                <a16:creationId xmlns:a16="http://schemas.microsoft.com/office/drawing/2014/main" id="{7E3F3F44-992D-9302-89D3-21EF9EF780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62901F9-C394-4AD0-8AC1-89113BB3056D}" type="slidenum">
              <a:rPr lang="ru-RU" smtClean="0"/>
              <a:pPr/>
              <a:t>25</a:t>
            </a:fld>
            <a:endParaRPr lang="ru-RU"/>
          </a:p>
        </p:txBody>
      </p:sp>
      <p:sp>
        <p:nvSpPr>
          <p:cNvPr id="8" name="Содержимое 2">
            <a:extLst>
              <a:ext uri="{FF2B5EF4-FFF2-40B4-BE49-F238E27FC236}">
                <a16:creationId xmlns:a16="http://schemas.microsoft.com/office/drawing/2014/main" id="{2EB665B3-0D0E-E0BC-38A3-5E7898EA5346}"/>
              </a:ext>
            </a:extLst>
          </p:cNvPr>
          <p:cNvSpPr txBox="1">
            <a:spLocks/>
          </p:cNvSpPr>
          <p:nvPr/>
        </p:nvSpPr>
        <p:spPr>
          <a:xfrm>
            <a:off x="882564" y="1144260"/>
            <a:ext cx="10801178" cy="5416795"/>
          </a:xfrm>
          <a:prstGeom prst="rect">
            <a:avLst/>
          </a:prstGeom>
        </p:spPr>
        <p:txBody>
          <a:bodyPr>
            <a:normAutofit/>
          </a:bodyPr>
          <a:lstStyle/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Построить передаточную функцию системы: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800" b="0" i="0" u="none" strike="noStrike" kern="1200" cap="none" spc="0" normalizeH="0" baseline="0" noProof="0" dirty="0">
              <a:ln>
                <a:noFill/>
              </a:ln>
              <a:effectLst/>
              <a:uLnTx/>
              <a:uFillTx/>
              <a:latin typeface="Arial" pitchFamily="34" charset="0"/>
              <a:ea typeface="+mn-ea"/>
              <a:cs typeface="Arial" pitchFamily="34" charset="0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Определить запасы устойчивости системы по амплитуде и фазе;</a:t>
            </a:r>
          </a:p>
          <a:p>
            <a:pPr marL="228600" marR="0" lvl="0" indent="-22860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Определить перерегулирование и время переходного </a:t>
            </a:r>
            <a:r>
              <a:rPr lang="ru-RU" sz="2800" dirty="0">
                <a:latin typeface="Arial" pitchFamily="34" charset="0"/>
                <a:cs typeface="Arial" pitchFamily="34" charset="0"/>
              </a:rPr>
              <a:t>процесса</a:t>
            </a:r>
            <a:r>
              <a:rPr kumimoji="0" lang="ru-RU" sz="2800" b="0" i="0" u="none" strike="noStrike" kern="1200" cap="none" spc="0" normalizeH="0" baseline="0" noProof="0" dirty="0">
                <a:ln>
                  <a:noFill/>
                </a:ln>
                <a:effectLst/>
                <a:uLnTx/>
                <a:uFillTx/>
                <a:latin typeface="Arial" pitchFamily="34" charset="0"/>
                <a:ea typeface="+mn-ea"/>
                <a:cs typeface="Arial" pitchFamily="34" charset="0"/>
              </a:rPr>
              <a:t> при единичном входном воздействии.</a:t>
            </a:r>
          </a:p>
        </p:txBody>
      </p:sp>
      <p:pic>
        <p:nvPicPr>
          <p:cNvPr id="9" name="Рисунок 8">
            <a:extLst>
              <a:ext uri="{FF2B5EF4-FFF2-40B4-BE49-F238E27FC236}">
                <a16:creationId xmlns:a16="http://schemas.microsoft.com/office/drawing/2014/main" id="{08B42399-65BD-EF00-FA95-6B9A2DA78A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11227" y="1610078"/>
            <a:ext cx="7252772" cy="25630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9770500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Теплый синий">
      <a:dk1>
        <a:sysClr val="windowText" lastClr="000000"/>
      </a:dk1>
      <a:lt1>
        <a:sysClr val="window" lastClr="FFFFFF"/>
      </a:lt1>
      <a:dk2>
        <a:srgbClr val="242852"/>
      </a:dk2>
      <a:lt2>
        <a:srgbClr val="ACCBF9"/>
      </a:lt2>
      <a:accent1>
        <a:srgbClr val="4A66AC"/>
      </a:accent1>
      <a:accent2>
        <a:srgbClr val="629DD1"/>
      </a:accent2>
      <a:accent3>
        <a:srgbClr val="297FD5"/>
      </a:accent3>
      <a:accent4>
        <a:srgbClr val="7F8FA9"/>
      </a:accent4>
      <a:accent5>
        <a:srgbClr val="5AA2AE"/>
      </a:accent5>
      <a:accent6>
        <a:srgbClr val="9D90A0"/>
      </a:accent6>
      <a:hlink>
        <a:srgbClr val="9454C3"/>
      </a:hlink>
      <a:folHlink>
        <a:srgbClr val="3EBBF0"/>
      </a:folHlink>
    </a:clrScheme>
    <a:fontScheme name="Тема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2013 - 2022 Theme</Template>
  <TotalTime>572</TotalTime>
  <Words>647</Words>
  <Application>Microsoft Office PowerPoint</Application>
  <PresentationFormat>Широкоэкранный</PresentationFormat>
  <Paragraphs>141</Paragraphs>
  <Slides>25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25</vt:i4>
      </vt:variant>
    </vt:vector>
  </HeadingPairs>
  <TitlesOfParts>
    <vt:vector size="29" baseType="lpstr">
      <vt:lpstr>Arial</vt:lpstr>
      <vt:lpstr>Calibri</vt:lpstr>
      <vt:lpstr>Calibri Light</vt:lpstr>
      <vt:lpstr>Тема Office</vt:lpstr>
      <vt:lpstr>Основы моделирования и исследования систем подводных аппаратов</vt:lpstr>
      <vt:lpstr>Организационные вопросы</vt:lpstr>
      <vt:lpstr>Система управления и моделирование</vt:lpstr>
      <vt:lpstr>Качества модели</vt:lpstr>
      <vt:lpstr>Этапы построения модели</vt:lpstr>
      <vt:lpstr>Алгоритм проведения исследования</vt:lpstr>
      <vt:lpstr>Методы моделирования и исследования  и формы представления результата</vt:lpstr>
      <vt:lpstr>Среда разработки MatLab</vt:lpstr>
      <vt:lpstr>Интерфейс MatLab</vt:lpstr>
      <vt:lpstr>Работа с командной строкой</vt:lpstr>
      <vt:lpstr>Работа с командной строкой</vt:lpstr>
      <vt:lpstr>Скрипт в MatLab</vt:lpstr>
      <vt:lpstr>Операции с матрицами</vt:lpstr>
      <vt:lpstr>Условный оператор и циклы</vt:lpstr>
      <vt:lpstr>Пользовательские функции в скрипте</vt:lpstr>
      <vt:lpstr>Пользовательские функции в отдельном файле</vt:lpstr>
      <vt:lpstr>Пользовательские функции в отдельном файле</vt:lpstr>
      <vt:lpstr>Вывод текстовых сообщений</vt:lpstr>
      <vt:lpstr>Построение графика</vt:lpstr>
      <vt:lpstr>Задача 1</vt:lpstr>
      <vt:lpstr>Передаточные функции в MatLab</vt:lpstr>
      <vt:lpstr>Передаточные функции в MatLab</vt:lpstr>
      <vt:lpstr>Передаточные функции в MatLab</vt:lpstr>
      <vt:lpstr>Передаточные функции в MatLab</vt:lpstr>
      <vt:lpstr>Задача 2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Анна Сергеевна Ромашко</dc:creator>
  <cp:lastModifiedBy>Анна Сергеевна Ромашко</cp:lastModifiedBy>
  <cp:revision>18</cp:revision>
  <dcterms:created xsi:type="dcterms:W3CDTF">2026-08-31T05:10:56Z</dcterms:created>
  <dcterms:modified xsi:type="dcterms:W3CDTF">2026-09-01T05:59:45Z</dcterms:modified>
</cp:coreProperties>
</file>