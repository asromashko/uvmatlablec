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8"/>
  </p:notesMasterIdLst>
  <p:sldIdLst>
    <p:sldId id="258" r:id="rId2"/>
    <p:sldId id="296" r:id="rId3"/>
    <p:sldId id="301" r:id="rId4"/>
    <p:sldId id="302" r:id="rId5"/>
    <p:sldId id="295" r:id="rId6"/>
    <p:sldId id="304" r:id="rId7"/>
    <p:sldId id="306" r:id="rId8"/>
    <p:sldId id="307" r:id="rId9"/>
    <p:sldId id="308" r:id="rId10"/>
    <p:sldId id="305" r:id="rId11"/>
    <p:sldId id="309" r:id="rId12"/>
    <p:sldId id="310" r:id="rId13"/>
    <p:sldId id="313" r:id="rId14"/>
    <p:sldId id="311" r:id="rId15"/>
    <p:sldId id="314" r:id="rId16"/>
    <p:sldId id="31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1E995"/>
    <a:srgbClr val="8DEFB2"/>
    <a:srgbClr val="EEB646"/>
    <a:srgbClr val="63CDDF"/>
    <a:srgbClr val="2CABCE"/>
    <a:srgbClr val="54A3D8"/>
    <a:srgbClr val="F57041"/>
    <a:srgbClr val="F467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B5F00A-51B7-4331-8B21-77675F9FED1E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28AACF-F7CE-4699-9710-58C08EA487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5765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4750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037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ctr">
              <a:defRPr sz="6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385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622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2325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2029"/>
          </a:xfrm>
        </p:spPr>
        <p:txBody>
          <a:bodyPr/>
          <a:lstStyle>
            <a:lvl1pPr algn="ctr"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53800" y="6322573"/>
            <a:ext cx="506018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862901F9-C394-4AD0-8AC1-89113BB305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1339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468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918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3137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5000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6519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6442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gif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DF6DD7-9C94-BFD2-A85A-E0F309285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Основы моделирования и исследования систем подводных аппаратов</a:t>
            </a:r>
          </a:p>
        </p:txBody>
      </p:sp>
    </p:spTree>
    <p:extLst>
      <p:ext uri="{BB962C8B-B14F-4D97-AF65-F5344CB8AC3E}">
        <p14:creationId xmlns:p14="http://schemas.microsoft.com/office/powerpoint/2010/main" val="2578354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36097-2706-6BF6-9139-0C93ABDA9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 (700×463)">
            <a:extLst>
              <a:ext uri="{FF2B5EF4-FFF2-40B4-BE49-F238E27FC236}">
                <a16:creationId xmlns:a16="http://schemas.microsoft.com/office/drawing/2014/main" id="{552140F3-2A3A-44FC-B2C9-3466ABBC01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899"/>
          <a:stretch/>
        </p:blipFill>
        <p:spPr bwMode="auto">
          <a:xfrm>
            <a:off x="3736251" y="5257694"/>
            <a:ext cx="4953177" cy="1149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10" descr="http://korabley.net/_nw/5/25630260.jpg">
            <a:extLst>
              <a:ext uri="{FF2B5EF4-FFF2-40B4-BE49-F238E27FC236}">
                <a16:creationId xmlns:a16="http://schemas.microsoft.com/office/drawing/2014/main" id="{6AF7BDA3-2DB1-4852-93FA-8296DCB60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724" y="1754527"/>
            <a:ext cx="5105933" cy="3192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DE4D62-FE02-4A9D-A8B6-5A2C78630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261" y="4245005"/>
            <a:ext cx="2930345" cy="2399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>
            <a:extLst>
              <a:ext uri="{FF2B5EF4-FFF2-40B4-BE49-F238E27FC236}">
                <a16:creationId xmlns:a16="http://schemas.microsoft.com/office/drawing/2014/main" id="{3487D835-FC24-498C-9099-76CBF05124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194" y="2656904"/>
            <a:ext cx="2174803" cy="1739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8E0D6-AAE1-6B5D-9AA0-1B34B725D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2029"/>
          </a:xfrm>
        </p:spPr>
        <p:txBody>
          <a:bodyPr>
            <a:normAutofit fontScale="90000"/>
          </a:bodyPr>
          <a:lstStyle/>
          <a:p>
            <a:r>
              <a:rPr lang="ru-RU" dirty="0"/>
              <a:t>Движитель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3DF9BF0-A0D8-588C-56D0-F7F8ACF95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C8D8CF2-8C85-4BFE-9AB0-5B0159B81E7C}"/>
              </a:ext>
            </a:extLst>
          </p:cNvPr>
          <p:cNvSpPr txBox="1">
            <a:spLocks/>
          </p:cNvSpPr>
          <p:nvPr/>
        </p:nvSpPr>
        <p:spPr>
          <a:xfrm>
            <a:off x="416433" y="885825"/>
            <a:ext cx="11443385" cy="8572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296" indent="0">
              <a:buFont typeface="Arial" panose="020B0604020202020204" pitchFamily="34" charset="0"/>
              <a:buNone/>
            </a:pPr>
            <a:r>
              <a:rPr lang="ru-RU" sz="3200" u="sng" dirty="0"/>
              <a:t>Движитель</a:t>
            </a:r>
            <a:r>
              <a:rPr lang="ru-RU" sz="3200" dirty="0"/>
              <a:t> – средство, способное вызвать движение объекта из состояния покоя.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B03F127F-6368-4023-A074-E44AD3093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109" y="1856648"/>
            <a:ext cx="2402757" cy="1261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2">
            <a:extLst>
              <a:ext uri="{FF2B5EF4-FFF2-40B4-BE49-F238E27FC236}">
                <a16:creationId xmlns:a16="http://schemas.microsoft.com/office/drawing/2014/main" id="{F43D54DE-592D-4A88-B57C-C2BD8BCFC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7367" y="1625589"/>
            <a:ext cx="2970240" cy="1817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>
            <a:extLst>
              <a:ext uri="{FF2B5EF4-FFF2-40B4-BE49-F238E27FC236}">
                <a16:creationId xmlns:a16="http://schemas.microsoft.com/office/drawing/2014/main" id="{6559BD5C-0BCF-43FB-9E96-9768A6A9E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428" y="3703809"/>
            <a:ext cx="2143125" cy="2738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F015BBA-BE39-454D-8343-10F0FC405903}"/>
              </a:ext>
            </a:extLst>
          </p:cNvPr>
          <p:cNvSpPr txBox="1"/>
          <p:nvPr/>
        </p:nvSpPr>
        <p:spPr>
          <a:xfrm>
            <a:off x="2096091" y="2287572"/>
            <a:ext cx="83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Весла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9C38A3-AB8C-4AC3-A343-7AEEA4AC8651}"/>
              </a:ext>
            </a:extLst>
          </p:cNvPr>
          <p:cNvSpPr txBox="1"/>
          <p:nvPr/>
        </p:nvSpPr>
        <p:spPr>
          <a:xfrm>
            <a:off x="2928227" y="5073028"/>
            <a:ext cx="1840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Гребное колесо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D4F89D-01D2-4D03-B917-4E40A78B9A8A}"/>
              </a:ext>
            </a:extLst>
          </p:cNvPr>
          <p:cNvSpPr txBox="1"/>
          <p:nvPr/>
        </p:nvSpPr>
        <p:spPr>
          <a:xfrm>
            <a:off x="673814" y="3679295"/>
            <a:ext cx="1001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Паруса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5FD005-2279-4DC4-90CC-DBC983084BD9}"/>
              </a:ext>
            </a:extLst>
          </p:cNvPr>
          <p:cNvSpPr txBox="1"/>
          <p:nvPr/>
        </p:nvSpPr>
        <p:spPr>
          <a:xfrm>
            <a:off x="5509510" y="4524818"/>
            <a:ext cx="1840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Гребной винт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6869FA-ED81-4ABA-8DF2-FE9C19552A61}"/>
              </a:ext>
            </a:extLst>
          </p:cNvPr>
          <p:cNvSpPr txBox="1"/>
          <p:nvPr/>
        </p:nvSpPr>
        <p:spPr>
          <a:xfrm>
            <a:off x="8573832" y="3355857"/>
            <a:ext cx="2693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Водометный движитель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6D2470-3D19-4E44-917F-52F9684D36F1}"/>
              </a:ext>
            </a:extLst>
          </p:cNvPr>
          <p:cNvSpPr txBox="1"/>
          <p:nvPr/>
        </p:nvSpPr>
        <p:spPr>
          <a:xfrm>
            <a:off x="6958717" y="4941517"/>
            <a:ext cx="2693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Крыльчатый движитель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1A5ADA-035F-4A18-ACE1-78B4DE804DF7}"/>
              </a:ext>
            </a:extLst>
          </p:cNvPr>
          <p:cNvSpPr txBox="1"/>
          <p:nvPr/>
        </p:nvSpPr>
        <p:spPr>
          <a:xfrm>
            <a:off x="6429634" y="6302901"/>
            <a:ext cx="2693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Волновой движитель</a:t>
            </a:r>
          </a:p>
        </p:txBody>
      </p:sp>
    </p:spTree>
    <p:extLst>
      <p:ext uri="{BB962C8B-B14F-4D97-AF65-F5344CB8AC3E}">
        <p14:creationId xmlns:p14="http://schemas.microsoft.com/office/powerpoint/2010/main" val="1851073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193B-C33D-AF77-C04D-12A922AE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8">
            <a:extLst>
              <a:ext uri="{FF2B5EF4-FFF2-40B4-BE49-F238E27FC236}">
                <a16:creationId xmlns:a16="http://schemas.microsoft.com/office/drawing/2014/main" id="{93BAE80B-26C1-4AF8-889B-0AE4FA7107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08563" y="2128099"/>
            <a:ext cx="2097290" cy="1454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7">
            <a:extLst>
              <a:ext uri="{FF2B5EF4-FFF2-40B4-BE49-F238E27FC236}">
                <a16:creationId xmlns:a16="http://schemas.microsoft.com/office/drawing/2014/main" id="{F1E7D7BF-3E82-4FC5-9CE9-AC1933721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0100" y="2175918"/>
            <a:ext cx="4785218" cy="4477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13">
            <a:extLst>
              <a:ext uri="{FF2B5EF4-FFF2-40B4-BE49-F238E27FC236}">
                <a16:creationId xmlns:a16="http://schemas.microsoft.com/office/drawing/2014/main" id="{1CF74569-20C7-4796-90D3-25A80B4D1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03856" y="2164381"/>
            <a:ext cx="3483294" cy="45136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EF6BE-B4CA-63C4-A20A-C2E6A74D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22100" cy="653020"/>
          </a:xfrm>
        </p:spPr>
        <p:txBody>
          <a:bodyPr>
            <a:normAutofit fontScale="90000"/>
          </a:bodyPr>
          <a:lstStyle/>
          <a:p>
            <a:r>
              <a:rPr lang="ru-RU" dirty="0"/>
              <a:t>Структурная схема движителя подводного аппарата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A451B1F-F1A1-8ACF-0B9D-0D502948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8" name="Содержимое 7">
            <a:extLst>
              <a:ext uri="{FF2B5EF4-FFF2-40B4-BE49-F238E27FC236}">
                <a16:creationId xmlns:a16="http://schemas.microsoft.com/office/drawing/2014/main" id="{7FB73AC6-A7B8-44F1-B11D-057910AFA515}"/>
              </a:ext>
            </a:extLst>
          </p:cNvPr>
          <p:cNvSpPr txBox="1">
            <a:spLocks/>
          </p:cNvSpPr>
          <p:nvPr/>
        </p:nvSpPr>
        <p:spPr>
          <a:xfrm>
            <a:off x="1071538" y="1447800"/>
            <a:ext cx="7862150" cy="4800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ru-RU"/>
          </a:p>
          <a:p>
            <a:pPr>
              <a:buFont typeface="Arial" panose="020B0604020202020204" pitchFamily="34" charset="0"/>
              <a:buNone/>
            </a:pPr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E1A049C-7148-462D-9882-7A9FF3D8282F}"/>
              </a:ext>
            </a:extLst>
          </p:cNvPr>
          <p:cNvSpPr/>
          <p:nvPr/>
        </p:nvSpPr>
        <p:spPr>
          <a:xfrm>
            <a:off x="1291970" y="1178703"/>
            <a:ext cx="3635014" cy="1000132"/>
          </a:xfrm>
          <a:prstGeom prst="rect">
            <a:avLst/>
          </a:prstGeom>
          <a:solidFill>
            <a:srgbClr val="EEB64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Электрический двигатель</a:t>
            </a:r>
          </a:p>
        </p:txBody>
      </p:sp>
      <p:sp>
        <p:nvSpPr>
          <p:cNvPr id="10" name="Стрелка вправо 12">
            <a:extLst>
              <a:ext uri="{FF2B5EF4-FFF2-40B4-BE49-F238E27FC236}">
                <a16:creationId xmlns:a16="http://schemas.microsoft.com/office/drawing/2014/main" id="{5957CF55-9D5B-4BA8-BA92-2538F000E41C}"/>
              </a:ext>
            </a:extLst>
          </p:cNvPr>
          <p:cNvSpPr/>
          <p:nvPr/>
        </p:nvSpPr>
        <p:spPr>
          <a:xfrm>
            <a:off x="5045230" y="1571612"/>
            <a:ext cx="1034117" cy="2817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37F366D-4639-4C07-8E23-995510B36628}"/>
              </a:ext>
            </a:extLst>
          </p:cNvPr>
          <p:cNvSpPr/>
          <p:nvPr/>
        </p:nvSpPr>
        <p:spPr>
          <a:xfrm>
            <a:off x="6172052" y="1178703"/>
            <a:ext cx="1428760" cy="1000132"/>
          </a:xfrm>
          <a:prstGeom prst="rect">
            <a:avLst/>
          </a:prstGeom>
          <a:solidFill>
            <a:srgbClr val="61E99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Редуктор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73329C1-A28D-4173-96E0-25BA6ADB5E47}"/>
              </a:ext>
            </a:extLst>
          </p:cNvPr>
          <p:cNvSpPr/>
          <p:nvPr/>
        </p:nvSpPr>
        <p:spPr>
          <a:xfrm>
            <a:off x="8769551" y="1175439"/>
            <a:ext cx="2130479" cy="10001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Гребной винт</a:t>
            </a:r>
          </a:p>
        </p:txBody>
      </p:sp>
      <p:sp>
        <p:nvSpPr>
          <p:cNvPr id="13" name="Стрелка вправо 15">
            <a:extLst>
              <a:ext uri="{FF2B5EF4-FFF2-40B4-BE49-F238E27FC236}">
                <a16:creationId xmlns:a16="http://schemas.microsoft.com/office/drawing/2014/main" id="{64D7265C-C789-4127-8E21-48498E9C5374}"/>
              </a:ext>
            </a:extLst>
          </p:cNvPr>
          <p:cNvSpPr/>
          <p:nvPr/>
        </p:nvSpPr>
        <p:spPr>
          <a:xfrm>
            <a:off x="11035304" y="1533455"/>
            <a:ext cx="915395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трелка вправо 16">
            <a:extLst>
              <a:ext uri="{FF2B5EF4-FFF2-40B4-BE49-F238E27FC236}">
                <a16:creationId xmlns:a16="http://schemas.microsoft.com/office/drawing/2014/main" id="{2FFF0D6C-7ECB-4323-8289-1963E08FE3E6}"/>
              </a:ext>
            </a:extLst>
          </p:cNvPr>
          <p:cNvSpPr/>
          <p:nvPr/>
        </p:nvSpPr>
        <p:spPr>
          <a:xfrm>
            <a:off x="7733955" y="1569944"/>
            <a:ext cx="953052" cy="2994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трелка вправо 17">
            <a:extLst>
              <a:ext uri="{FF2B5EF4-FFF2-40B4-BE49-F238E27FC236}">
                <a16:creationId xmlns:a16="http://schemas.microsoft.com/office/drawing/2014/main" id="{6BE69F0E-75F6-460B-833F-1BFCAF9CDE36}"/>
              </a:ext>
            </a:extLst>
          </p:cNvPr>
          <p:cNvSpPr/>
          <p:nvPr/>
        </p:nvSpPr>
        <p:spPr>
          <a:xfrm>
            <a:off x="228600" y="1581114"/>
            <a:ext cx="948298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326BD8C3-8FA5-4FE1-ABBF-F73555448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120462" y="978296"/>
            <a:ext cx="627120" cy="539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3">
            <a:extLst>
              <a:ext uri="{FF2B5EF4-FFF2-40B4-BE49-F238E27FC236}">
                <a16:creationId xmlns:a16="http://schemas.microsoft.com/office/drawing/2014/main" id="{0DE3671A-020B-4EA9-9CE8-2E2647D2D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64229" y="1049333"/>
            <a:ext cx="624843" cy="531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4">
            <a:extLst>
              <a:ext uri="{FF2B5EF4-FFF2-40B4-BE49-F238E27FC236}">
                <a16:creationId xmlns:a16="http://schemas.microsoft.com/office/drawing/2014/main" id="{459B559B-4B3F-4CF9-8F38-4E7BA1D05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320308" y="992788"/>
            <a:ext cx="534417" cy="5549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5">
            <a:extLst>
              <a:ext uri="{FF2B5EF4-FFF2-40B4-BE49-F238E27FC236}">
                <a16:creationId xmlns:a16="http://schemas.microsoft.com/office/drawing/2014/main" id="{FABC54B2-A1CE-4F0A-9165-2DDB23AA7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840909" y="948232"/>
            <a:ext cx="624843" cy="6780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81805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193B-C33D-AF77-C04D-12A922AE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9585DE4-1609-4484-9EA9-980E6FC76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6127" y="830669"/>
            <a:ext cx="8172598" cy="5857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EF6BE-B4CA-63C4-A20A-C2E6A74D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22100" cy="653020"/>
          </a:xfrm>
        </p:spPr>
        <p:txBody>
          <a:bodyPr>
            <a:normAutofit fontScale="90000"/>
          </a:bodyPr>
          <a:lstStyle/>
          <a:p>
            <a:r>
              <a:rPr lang="ru-RU" dirty="0"/>
              <a:t>Характеристики гребного винта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A451B1F-F1A1-8ACF-0B9D-0D502948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5540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5CCC7-E79F-3AE6-9212-E8DB1038B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5CAC8EC-8F2C-BB9E-9B05-382C98C235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D5DE7D-8C88-BDD8-DFB2-A0AD4D29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Расчет гребного винта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83531CD-CF08-C99D-FA61-4AAB801BB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9" name="Содержимое 4">
            <a:extLst>
              <a:ext uri="{FF2B5EF4-FFF2-40B4-BE49-F238E27FC236}">
                <a16:creationId xmlns:a16="http://schemas.microsoft.com/office/drawing/2014/main" id="{876F03EA-4698-40BD-B464-F6CD2D34B945}"/>
              </a:ext>
            </a:extLst>
          </p:cNvPr>
          <p:cNvSpPr txBox="1">
            <a:spLocks/>
          </p:cNvSpPr>
          <p:nvPr/>
        </p:nvSpPr>
        <p:spPr>
          <a:xfrm>
            <a:off x="636841" y="967154"/>
            <a:ext cx="10918318" cy="543674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u="sng" dirty="0"/>
              <a:t>Дано: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АНПА имеет один маршевый движитель, диаметром не более </a:t>
            </a:r>
            <a:r>
              <a:rPr lang="en-US" dirty="0"/>
              <a:t>D=</a:t>
            </a:r>
            <a:r>
              <a:rPr lang="ru-RU" dirty="0"/>
              <a:t>0,25 м.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Желаемая скорость движения АНПА по маршу относительно дна </a:t>
            </a:r>
            <a:r>
              <a:rPr lang="en-US" dirty="0" err="1"/>
              <a:t>vx</a:t>
            </a:r>
            <a:r>
              <a:rPr lang="en-US" dirty="0"/>
              <a:t>=1,5 </a:t>
            </a:r>
            <a:r>
              <a:rPr lang="ru-RU" dirty="0"/>
              <a:t>м/с.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Расчетное гидродинамическое сопротивление движению АНПА на данной скорости </a:t>
            </a:r>
            <a:r>
              <a:rPr lang="en-US" dirty="0"/>
              <a:t>Rx=60 </a:t>
            </a:r>
            <a:r>
              <a:rPr lang="ru-RU" dirty="0"/>
              <a:t>Н.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u="sng" dirty="0"/>
              <a:t>Найти: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Геометрические параметры гребного винта;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Характеристики электродвигателя для установки в данный движитель;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Динамические характеристики гребного винта для построения модели движителя.</a:t>
            </a:r>
          </a:p>
        </p:txBody>
      </p:sp>
    </p:spTree>
    <p:extLst>
      <p:ext uri="{BB962C8B-B14F-4D97-AF65-F5344CB8AC3E}">
        <p14:creationId xmlns:p14="http://schemas.microsoft.com/office/powerpoint/2010/main" val="1292503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193B-C33D-AF77-C04D-12A922AE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Содержимое 4">
            <a:extLst>
              <a:ext uri="{FF2B5EF4-FFF2-40B4-BE49-F238E27FC236}">
                <a16:creationId xmlns:a16="http://schemas.microsoft.com/office/drawing/2014/main" id="{D7A34FD1-8153-4917-932E-FAD93668C5A9}"/>
              </a:ext>
            </a:extLst>
          </p:cNvPr>
          <p:cNvSpPr txBox="1">
            <a:spLocks/>
          </p:cNvSpPr>
          <p:nvPr/>
        </p:nvSpPr>
        <p:spPr>
          <a:xfrm>
            <a:off x="671488" y="1086990"/>
            <a:ext cx="10968062" cy="480060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u="sng" dirty="0"/>
              <a:t>Допущение: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Параметры кинематического и силового взаимодействия примем: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u="sng" dirty="0"/>
              <a:t>Расчет:</a:t>
            </a:r>
          </a:p>
          <a:p>
            <a:pPr marL="266700" indent="-266700">
              <a:buFont typeface="Arial" panose="020B0604020202020204" pitchFamily="34" charset="0"/>
              <a:buNone/>
            </a:pPr>
            <a:r>
              <a:rPr lang="ru-RU" dirty="0"/>
              <a:t>1) Определим требуемый упор:</a:t>
            </a:r>
          </a:p>
          <a:p>
            <a:pPr marL="266700" indent="-266700">
              <a:buFont typeface="Arial" panose="020B0604020202020204" pitchFamily="34" charset="0"/>
              <a:buAutoNum type="arabicParenR"/>
            </a:pPr>
            <a:endParaRPr lang="ru-RU" dirty="0"/>
          </a:p>
          <a:p>
            <a:pPr marL="266700" indent="-266700">
              <a:buFont typeface="Arial" panose="020B0604020202020204" pitchFamily="34" charset="0"/>
              <a:buAutoNum type="arabicParenR"/>
            </a:pPr>
            <a:endParaRPr lang="ru-RU" dirty="0"/>
          </a:p>
          <a:p>
            <a:pPr marL="266700" indent="-266700">
              <a:buFont typeface="Arial" panose="020B0604020202020204" pitchFamily="34" charset="0"/>
              <a:buNone/>
            </a:pPr>
            <a:r>
              <a:rPr lang="ru-RU" dirty="0"/>
              <a:t>2) Вычислим вспомогательный коэффициент:</a:t>
            </a:r>
          </a:p>
          <a:p>
            <a:pPr marL="266700" indent="-266700">
              <a:buFont typeface="Arial" panose="020B0604020202020204" pitchFamily="34" charset="0"/>
              <a:buAutoNum type="arabicParenR"/>
            </a:pPr>
            <a:endParaRPr lang="ru-RU" dirty="0"/>
          </a:p>
          <a:p>
            <a:pPr marL="266700" indent="-266700">
              <a:buFont typeface="Arial" panose="020B0604020202020204" pitchFamily="34" charset="0"/>
              <a:buAutoNum type="arabicParenR"/>
            </a:pPr>
            <a:endParaRPr lang="ru-RU" dirty="0"/>
          </a:p>
          <a:p>
            <a:pPr marL="266700" indent="-266700">
              <a:buFont typeface="Arial" panose="020B0604020202020204" pitchFamily="34" charset="0"/>
              <a:buNone/>
            </a:pPr>
            <a:r>
              <a:rPr lang="ru-RU" dirty="0"/>
              <a:t>3)Определим параметры гребного винта по графику</a:t>
            </a:r>
            <a:endParaRPr lang="en-US" dirty="0"/>
          </a:p>
          <a:p>
            <a:pPr marL="266700" indent="-266700">
              <a:buFont typeface="Arial" panose="020B0604020202020204" pitchFamily="34" charset="0"/>
              <a:buNone/>
            </a:pPr>
            <a:endParaRPr lang="ru-RU" dirty="0"/>
          </a:p>
        </p:txBody>
      </p:sp>
      <p:pic>
        <p:nvPicPr>
          <p:cNvPr id="22" name="Picture 6">
            <a:extLst>
              <a:ext uri="{FF2B5EF4-FFF2-40B4-BE49-F238E27FC236}">
                <a16:creationId xmlns:a16="http://schemas.microsoft.com/office/drawing/2014/main" id="{0BE06427-4FE8-4918-9800-B41110B80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16730" y="2678583"/>
            <a:ext cx="1793719" cy="95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3">
            <a:extLst>
              <a:ext uri="{FF2B5EF4-FFF2-40B4-BE49-F238E27FC236}">
                <a16:creationId xmlns:a16="http://schemas.microsoft.com/office/drawing/2014/main" id="{CA00461D-6412-43F5-A877-326051B446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09971" y="1742179"/>
            <a:ext cx="3626033" cy="600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EF6BE-B4CA-63C4-A20A-C2E6A74D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22100" cy="721864"/>
          </a:xfrm>
        </p:spPr>
        <p:txBody>
          <a:bodyPr>
            <a:normAutofit/>
          </a:bodyPr>
          <a:lstStyle/>
          <a:p>
            <a:r>
              <a:rPr lang="ru-RU" dirty="0"/>
              <a:t>Расчет гребного винта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A451B1F-F1A1-8ACF-0B9D-0D502948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6</a:t>
            </a:fld>
            <a:endParaRPr lang="ru-RU"/>
          </a:p>
        </p:txBody>
      </p:sp>
      <p:pic>
        <p:nvPicPr>
          <p:cNvPr id="23" name="Picture 7">
            <a:extLst>
              <a:ext uri="{FF2B5EF4-FFF2-40B4-BE49-F238E27FC236}">
                <a16:creationId xmlns:a16="http://schemas.microsoft.com/office/drawing/2014/main" id="{E23614C1-8120-4EC9-BC60-6313B38CD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48555" y="3636246"/>
            <a:ext cx="2381309" cy="1102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4">
            <a:extLst>
              <a:ext uri="{FF2B5EF4-FFF2-40B4-BE49-F238E27FC236}">
                <a16:creationId xmlns:a16="http://schemas.microsoft.com/office/drawing/2014/main" id="{9F99DB05-5BCC-4429-B652-ABB967929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167712" y="4954136"/>
            <a:ext cx="519088" cy="563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10">
            <a:extLst>
              <a:ext uri="{FF2B5EF4-FFF2-40B4-BE49-F238E27FC236}">
                <a16:creationId xmlns:a16="http://schemas.microsoft.com/office/drawing/2014/main" id="{BA971239-18A5-4D8A-9F8F-C840D58F1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030202" y="5644821"/>
            <a:ext cx="2175464" cy="693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67058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193B-C33D-AF77-C04D-12A922AE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EF6BE-B4CA-63C4-A20A-C2E6A74D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22100" cy="721864"/>
          </a:xfrm>
        </p:spPr>
        <p:txBody>
          <a:bodyPr>
            <a:normAutofit/>
          </a:bodyPr>
          <a:lstStyle/>
          <a:p>
            <a:r>
              <a:rPr lang="ru-RU" dirty="0"/>
              <a:t>Расчет гребного винта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A451B1F-F1A1-8ACF-0B9D-0D502948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7</a:t>
            </a:fld>
            <a:endParaRPr lang="ru-RU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4C4F804E-8EA0-4394-90EB-E97A2B8C0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06166" y="925607"/>
            <a:ext cx="9779667" cy="5567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16603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193B-C33D-AF77-C04D-12A922AE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7">
            <a:extLst>
              <a:ext uri="{FF2B5EF4-FFF2-40B4-BE49-F238E27FC236}">
                <a16:creationId xmlns:a16="http://schemas.microsoft.com/office/drawing/2014/main" id="{8CED8386-F5D0-41FE-B963-E2561DAD0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52314" y="5082969"/>
            <a:ext cx="3211695" cy="1376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EF6BE-B4CA-63C4-A20A-C2E6A74D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22100" cy="721864"/>
          </a:xfrm>
        </p:spPr>
        <p:txBody>
          <a:bodyPr>
            <a:normAutofit/>
          </a:bodyPr>
          <a:lstStyle/>
          <a:p>
            <a:r>
              <a:rPr lang="ru-RU" dirty="0"/>
              <a:t>Расчет гребного винта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A451B1F-F1A1-8ACF-0B9D-0D502948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10" name="Содержимое 4">
            <a:extLst>
              <a:ext uri="{FF2B5EF4-FFF2-40B4-BE49-F238E27FC236}">
                <a16:creationId xmlns:a16="http://schemas.microsoft.com/office/drawing/2014/main" id="{7C919ADD-938D-484F-9E46-2FC785D34BD2}"/>
              </a:ext>
            </a:extLst>
          </p:cNvPr>
          <p:cNvSpPr txBox="1">
            <a:spLocks/>
          </p:cNvSpPr>
          <p:nvPr/>
        </p:nvSpPr>
        <p:spPr>
          <a:xfrm>
            <a:off x="652438" y="1086990"/>
            <a:ext cx="10872812" cy="48006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ru-RU" sz="3200" dirty="0"/>
              <a:t>4) Вычислим угловую скорость вращения гребного винта:</a:t>
            </a:r>
          </a:p>
          <a:p>
            <a:pPr>
              <a:buFont typeface="Arial" panose="020B0604020202020204" pitchFamily="34" charset="0"/>
              <a:buNone/>
            </a:pPr>
            <a:endParaRPr lang="ru-RU" sz="3200" dirty="0"/>
          </a:p>
          <a:p>
            <a:pPr>
              <a:buFont typeface="Arial" panose="020B0604020202020204" pitchFamily="34" charset="0"/>
              <a:buNone/>
            </a:pPr>
            <a:endParaRPr lang="ru-RU" sz="3200" dirty="0"/>
          </a:p>
          <a:p>
            <a:pPr>
              <a:buFont typeface="Arial" panose="020B0604020202020204" pitchFamily="34" charset="0"/>
              <a:buNone/>
            </a:pPr>
            <a:r>
              <a:rPr lang="ru-RU" sz="3200" dirty="0"/>
              <a:t>5) Уточним упор гребного винта:</a:t>
            </a:r>
          </a:p>
          <a:p>
            <a:pPr>
              <a:buFont typeface="Arial" panose="020B0604020202020204" pitchFamily="34" charset="0"/>
              <a:buNone/>
            </a:pPr>
            <a:endParaRPr lang="ru-RU" sz="3200" dirty="0"/>
          </a:p>
          <a:p>
            <a:pPr>
              <a:buFont typeface="Arial" panose="020B0604020202020204" pitchFamily="34" charset="0"/>
              <a:buNone/>
            </a:pPr>
            <a:r>
              <a:rPr lang="ru-RU" sz="3200" dirty="0"/>
              <a:t>6) Вычислим момент сопротивления гребного винта:</a:t>
            </a:r>
          </a:p>
          <a:p>
            <a:pPr>
              <a:buFont typeface="Arial" panose="020B0604020202020204" pitchFamily="34" charset="0"/>
              <a:buNone/>
            </a:pPr>
            <a:endParaRPr lang="ru-RU" sz="3200" dirty="0"/>
          </a:p>
          <a:p>
            <a:pPr>
              <a:buFont typeface="Arial" panose="020B0604020202020204" pitchFamily="34" charset="0"/>
              <a:buNone/>
            </a:pPr>
            <a:r>
              <a:rPr lang="ru-RU" sz="3200" dirty="0"/>
              <a:t>7) Вычислим момент инерции гребного винта:</a:t>
            </a:r>
          </a:p>
          <a:p>
            <a:pPr marL="266700" indent="-266700">
              <a:buFont typeface="Arial" panose="020B0604020202020204" pitchFamily="34" charset="0"/>
              <a:buNone/>
            </a:pPr>
            <a:endParaRPr lang="ru-RU" sz="3200" dirty="0"/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3F16B3E2-666B-4C8F-AFB8-B7C25D4EC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2517" y="1649499"/>
            <a:ext cx="4329561" cy="1085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D4DD66B2-F02F-40B3-BC3D-133358457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52518" y="3234925"/>
            <a:ext cx="3170973" cy="670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5">
            <a:extLst>
              <a:ext uri="{FF2B5EF4-FFF2-40B4-BE49-F238E27FC236}">
                <a16:creationId xmlns:a16="http://schemas.microsoft.com/office/drawing/2014/main" id="{3525BF21-3458-4704-92B8-FE3497C24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78275" y="4467807"/>
            <a:ext cx="3119458" cy="648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E044C8C6-07A0-4E0D-9E55-6C0BA418A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278275" y="5602280"/>
            <a:ext cx="4063525" cy="1085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56266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193B-C33D-AF77-C04D-12A922AE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EF6BE-B4CA-63C4-A20A-C2E6A74D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22100" cy="721864"/>
          </a:xfrm>
        </p:spPr>
        <p:txBody>
          <a:bodyPr>
            <a:normAutofit/>
          </a:bodyPr>
          <a:lstStyle/>
          <a:p>
            <a:r>
              <a:rPr lang="ru-RU" dirty="0"/>
              <a:t>Расчет гребного винта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A451B1F-F1A1-8ACF-0B9D-0D502948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9</a:t>
            </a:fld>
            <a:endParaRPr lang="ru-RU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160426F-6BD3-4916-A3B6-ED389DD54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0539" y="981062"/>
            <a:ext cx="10254240" cy="551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36547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193B-C33D-AF77-C04D-12A922AE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EF6BE-B4CA-63C4-A20A-C2E6A74D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5"/>
            <a:ext cx="11722100" cy="730249"/>
          </a:xfrm>
        </p:spPr>
        <p:txBody>
          <a:bodyPr>
            <a:normAutofit/>
          </a:bodyPr>
          <a:lstStyle/>
          <a:p>
            <a:r>
              <a:rPr lang="ru-RU" dirty="0"/>
              <a:t>Выбор электродвигателя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A451B1F-F1A1-8ACF-0B9D-0D502948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10</a:t>
            </a:fld>
            <a:endParaRPr lang="ru-RU"/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4EAD97E2-2385-47AD-A402-D2930DB16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312" y="1095374"/>
            <a:ext cx="11243088" cy="5095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82573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193B-C33D-AF77-C04D-12A922AE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EF6BE-B4CA-63C4-A20A-C2E6A74D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5"/>
            <a:ext cx="11722100" cy="730249"/>
          </a:xfrm>
        </p:spPr>
        <p:txBody>
          <a:bodyPr>
            <a:normAutofit/>
          </a:bodyPr>
          <a:lstStyle/>
          <a:p>
            <a:r>
              <a:rPr lang="ru-RU" dirty="0"/>
              <a:t>Расчет редуктора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A451B1F-F1A1-8ACF-0B9D-0D502948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5" name="Содержимое 4">
            <a:extLst>
              <a:ext uri="{FF2B5EF4-FFF2-40B4-BE49-F238E27FC236}">
                <a16:creationId xmlns:a16="http://schemas.microsoft.com/office/drawing/2014/main" id="{CA135F73-79C4-4602-832A-16DA51FE2B54}"/>
              </a:ext>
            </a:extLst>
          </p:cNvPr>
          <p:cNvSpPr txBox="1">
            <a:spLocks/>
          </p:cNvSpPr>
          <p:nvPr/>
        </p:nvSpPr>
        <p:spPr>
          <a:xfrm>
            <a:off x="547662" y="1028700"/>
            <a:ext cx="11403037" cy="48006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None/>
            </a:pPr>
            <a:r>
              <a:rPr lang="ru-RU" dirty="0"/>
              <a:t>1) Вычислим коэффициент передачи редуктора:</a:t>
            </a:r>
          </a:p>
          <a:p>
            <a:pPr marL="457200" indent="-457200">
              <a:buFont typeface="Arial" panose="020B0604020202020204" pitchFamily="34" charset="0"/>
              <a:buNone/>
            </a:pPr>
            <a:endParaRPr lang="ru-RU" dirty="0"/>
          </a:p>
          <a:p>
            <a:pPr marL="457200" indent="-457200">
              <a:buFont typeface="Arial" panose="020B0604020202020204" pitchFamily="34" charset="0"/>
              <a:buNone/>
            </a:pPr>
            <a:endParaRPr lang="ru-RU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ru-RU" dirty="0"/>
              <a:t>2) Построим механическую характеристику двигателя с редуктором и сравним ее с нагрузочной характеристикой гребного винта:</a:t>
            </a:r>
          </a:p>
          <a:p>
            <a:pPr marL="457200" indent="-457200">
              <a:buFont typeface="Arial" panose="020B0604020202020204" pitchFamily="34" charset="0"/>
              <a:buNone/>
            </a:pPr>
            <a:endParaRPr lang="ru-RU" dirty="0"/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45E9C26-621D-4CD0-BBF0-174DCB2B4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7740" y="1477454"/>
            <a:ext cx="1995509" cy="11466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95CC9D27-CFD0-4EFA-B1B9-8F59DDC79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7740" y="3536491"/>
            <a:ext cx="8285488" cy="2956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33144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193B-C33D-AF77-C04D-12A922AE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EF6BE-B4CA-63C4-A20A-C2E6A74D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5"/>
            <a:ext cx="11722100" cy="730249"/>
          </a:xfrm>
        </p:spPr>
        <p:txBody>
          <a:bodyPr>
            <a:normAutofit/>
          </a:bodyPr>
          <a:lstStyle/>
          <a:p>
            <a:r>
              <a:rPr lang="ru-RU" dirty="0"/>
              <a:t>Структурная схема движителя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A451B1F-F1A1-8ACF-0B9D-0D502948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7" name="Содержимое 4">
            <a:extLst>
              <a:ext uri="{FF2B5EF4-FFF2-40B4-BE49-F238E27FC236}">
                <a16:creationId xmlns:a16="http://schemas.microsoft.com/office/drawing/2014/main" id="{70A6482A-AF46-4AEA-B9F1-9BB9055F8D8E}"/>
              </a:ext>
            </a:extLst>
          </p:cNvPr>
          <p:cNvSpPr txBox="1">
            <a:spLocks/>
          </p:cNvSpPr>
          <p:nvPr/>
        </p:nvSpPr>
        <p:spPr>
          <a:xfrm>
            <a:off x="509563" y="962025"/>
            <a:ext cx="11177612" cy="48006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3200" dirty="0"/>
              <a:t>Момент на валу двигателя: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sz="3200" dirty="0"/>
          </a:p>
          <a:p>
            <a:pPr marL="0" indent="0">
              <a:buFont typeface="Arial" panose="020B0604020202020204" pitchFamily="34" charset="0"/>
              <a:buNone/>
            </a:pPr>
            <a:endParaRPr lang="ru-RU" sz="32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3200" dirty="0"/>
              <a:t>Момент нагрузки, определяемый характеристиками гребного винта и приведенный к валу двигателя:</a:t>
            </a:r>
          </a:p>
          <a:p>
            <a:pPr marL="457200" indent="-457200">
              <a:buFont typeface="Arial" panose="020B0604020202020204" pitchFamily="34" charset="0"/>
              <a:buNone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None/>
            </a:pPr>
            <a:endParaRPr lang="ru-RU" sz="3200" dirty="0"/>
          </a:p>
          <a:p>
            <a:pPr marL="266700" indent="-266700">
              <a:buFont typeface="Arial" panose="020B0604020202020204" pitchFamily="34" charset="0"/>
              <a:buNone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None/>
            </a:pPr>
            <a:endParaRPr lang="ru-RU" sz="3200" dirty="0"/>
          </a:p>
          <a:p>
            <a:pPr marL="0" indent="0">
              <a:buFont typeface="Arial" panose="020B0604020202020204" pitchFamily="34" charset="0"/>
              <a:buNone/>
            </a:pPr>
            <a:endParaRPr lang="ru-RU" sz="3200" dirty="0"/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512E6FA6-4383-4315-A838-6ED17712E2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2437" y="1433500"/>
            <a:ext cx="3819278" cy="1264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5">
            <a:extLst>
              <a:ext uri="{FF2B5EF4-FFF2-40B4-BE49-F238E27FC236}">
                <a16:creationId xmlns:a16="http://schemas.microsoft.com/office/drawing/2014/main" id="{3E1252E5-24C2-464D-97FB-17A410714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2437" y="3746060"/>
            <a:ext cx="4170495" cy="2576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62462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193B-C33D-AF77-C04D-12A922AE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EF6BE-B4CA-63C4-A20A-C2E6A74D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5"/>
            <a:ext cx="11722100" cy="730249"/>
          </a:xfrm>
        </p:spPr>
        <p:txBody>
          <a:bodyPr>
            <a:normAutofit/>
          </a:bodyPr>
          <a:lstStyle/>
          <a:p>
            <a:r>
              <a:rPr lang="ru-RU" dirty="0"/>
              <a:t>Структурная схема движителя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A451B1F-F1A1-8ACF-0B9D-0D502948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13</a:t>
            </a:fld>
            <a:endParaRPr lang="ru-RU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4187" y="1971668"/>
            <a:ext cx="11766513" cy="31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32725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193B-C33D-AF77-C04D-12A922AE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EF6BE-B4CA-63C4-A20A-C2E6A74D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5"/>
            <a:ext cx="11722100" cy="730249"/>
          </a:xfrm>
        </p:spPr>
        <p:txBody>
          <a:bodyPr>
            <a:normAutofit/>
          </a:bodyPr>
          <a:lstStyle/>
          <a:p>
            <a:r>
              <a:rPr lang="ru-RU" dirty="0"/>
              <a:t>Линеаризация нелинейностей движителя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A451B1F-F1A1-8ACF-0B9D-0D502948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8" name="Содержимое 4">
            <a:extLst>
              <a:ext uri="{FF2B5EF4-FFF2-40B4-BE49-F238E27FC236}">
                <a16:creationId xmlns:a16="http://schemas.microsoft.com/office/drawing/2014/main" id="{925C6E0D-571A-4442-8A4A-8918CC5652D4}"/>
              </a:ext>
            </a:extLst>
          </p:cNvPr>
          <p:cNvSpPr txBox="1">
            <a:spLocks/>
          </p:cNvSpPr>
          <p:nvPr/>
        </p:nvSpPr>
        <p:spPr>
          <a:xfrm>
            <a:off x="1071538" y="1447800"/>
            <a:ext cx="7862150" cy="48006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None/>
            </a:pPr>
            <a:endParaRPr lang="ru-RU" sz="2400"/>
          </a:p>
          <a:p>
            <a:pPr marL="457200" indent="-457200">
              <a:buFont typeface="Arial" panose="020B0604020202020204" pitchFamily="34" charset="0"/>
              <a:buNone/>
            </a:pPr>
            <a:endParaRPr lang="ru-RU" sz="2400"/>
          </a:p>
          <a:p>
            <a:pPr marL="266700" indent="-266700">
              <a:buFont typeface="Arial" panose="020B0604020202020204" pitchFamily="34" charset="0"/>
              <a:buNone/>
            </a:pPr>
            <a:endParaRPr lang="ru-RU" sz="2400"/>
          </a:p>
          <a:p>
            <a:pPr marL="457200" indent="-457200">
              <a:buFont typeface="Arial" panose="020B0604020202020204" pitchFamily="34" charset="0"/>
              <a:buNone/>
            </a:pPr>
            <a:endParaRPr lang="ru-RU" sz="2400"/>
          </a:p>
          <a:p>
            <a:pPr marL="0" indent="0">
              <a:buFont typeface="Arial" panose="020B0604020202020204" pitchFamily="34" charset="0"/>
              <a:buNone/>
            </a:pPr>
            <a:endParaRPr lang="ru-RU" sz="2400" dirty="0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BB031C84-7355-4AB2-B131-663953E840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1964" y="1064760"/>
            <a:ext cx="3471886" cy="5699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8985A048-BFA7-4D5F-8FC1-9A1E9497E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83699" y="1167224"/>
            <a:ext cx="6229350" cy="562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5">
            <a:extLst>
              <a:ext uri="{FF2B5EF4-FFF2-40B4-BE49-F238E27FC236}">
                <a16:creationId xmlns:a16="http://schemas.microsoft.com/office/drawing/2014/main" id="{68693171-4C13-45BC-BF72-99F001ABF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91025" y="1795455"/>
            <a:ext cx="1701719" cy="5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95116452-E4E2-43E4-9F6F-82886A29E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267199" y="2373445"/>
            <a:ext cx="6656281" cy="5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7">
            <a:extLst>
              <a:ext uri="{FF2B5EF4-FFF2-40B4-BE49-F238E27FC236}">
                <a16:creationId xmlns:a16="http://schemas.microsoft.com/office/drawing/2014/main" id="{B2999ABD-E834-4E7C-B7B7-7EA691729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413701" y="2978280"/>
            <a:ext cx="1872811" cy="5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8">
            <a:extLst>
              <a:ext uri="{FF2B5EF4-FFF2-40B4-BE49-F238E27FC236}">
                <a16:creationId xmlns:a16="http://schemas.microsoft.com/office/drawing/2014/main" id="{E89C172E-EACF-4B42-8638-16A2A9AA9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408446" y="3630726"/>
            <a:ext cx="2566053" cy="5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51043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193B-C33D-AF77-C04D-12A922AE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EF6BE-B4CA-63C4-A20A-C2E6A74D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5"/>
            <a:ext cx="11722100" cy="730249"/>
          </a:xfrm>
        </p:spPr>
        <p:txBody>
          <a:bodyPr>
            <a:normAutofit/>
          </a:bodyPr>
          <a:lstStyle/>
          <a:p>
            <a:r>
              <a:rPr lang="ru-RU" dirty="0" smtClean="0"/>
              <a:t>Линеаризованная модель движителя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A451B1F-F1A1-8ACF-0B9D-0D502948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15</a:t>
            </a:fld>
            <a:endParaRPr lang="ru-RU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3239" y="1095374"/>
            <a:ext cx="10439520" cy="3406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1738" y="4717610"/>
            <a:ext cx="7672065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1738" y="5719317"/>
            <a:ext cx="5367912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185674" y="5244694"/>
            <a:ext cx="2071702" cy="763868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85704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193B-C33D-AF77-C04D-12A922AE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EF6BE-B4CA-63C4-A20A-C2E6A74D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5"/>
            <a:ext cx="11722100" cy="730249"/>
          </a:xfrm>
        </p:spPr>
        <p:txBody>
          <a:bodyPr>
            <a:normAutofit/>
          </a:bodyPr>
          <a:lstStyle/>
          <a:p>
            <a:r>
              <a:rPr lang="ru-RU" dirty="0"/>
              <a:t>Упрощенная модель движителя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A451B1F-F1A1-8ACF-0B9D-0D502948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16</a:t>
            </a:fld>
            <a:endParaRPr lang="ru-RU"/>
          </a:p>
        </p:txBody>
      </p:sp>
      <p:pic>
        <p:nvPicPr>
          <p:cNvPr id="17" name="Picture 5">
            <a:extLst>
              <a:ext uri="{FF2B5EF4-FFF2-40B4-BE49-F238E27FC236}">
                <a16:creationId xmlns:a16="http://schemas.microsoft.com/office/drawing/2014/main" id="{81B7C0E7-4D20-4260-BD5E-C000BE9BA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1418" y="3194390"/>
            <a:ext cx="3695378" cy="13625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3B175D9-766F-49C1-9DF2-38D04A2FAC96}"/>
              </a:ext>
            </a:extLst>
          </p:cNvPr>
          <p:cNvSpPr/>
          <p:nvPr/>
        </p:nvSpPr>
        <p:spPr>
          <a:xfrm>
            <a:off x="5038725" y="1428750"/>
            <a:ext cx="5819775" cy="48938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A1FDD4A7-DB2D-43A7-A5E4-7909813132DA}"/>
              </a:ext>
            </a:extLst>
          </p:cNvPr>
          <p:cNvCxnSpPr/>
          <p:nvPr/>
        </p:nvCxnSpPr>
        <p:spPr>
          <a:xfrm>
            <a:off x="5191125" y="3876675"/>
            <a:ext cx="55721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42720174-B777-4162-8C36-E8CB626CEE29}"/>
              </a:ext>
            </a:extLst>
          </p:cNvPr>
          <p:cNvCxnSpPr>
            <a:cxnSpLocks/>
          </p:cNvCxnSpPr>
          <p:nvPr/>
        </p:nvCxnSpPr>
        <p:spPr>
          <a:xfrm flipV="1">
            <a:off x="8001000" y="1638301"/>
            <a:ext cx="0" cy="45529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DED6FA9D-3FFB-43AC-B7B3-708FDA956B27}"/>
              </a:ext>
            </a:extLst>
          </p:cNvPr>
          <p:cNvCxnSpPr/>
          <p:nvPr/>
        </p:nvCxnSpPr>
        <p:spPr>
          <a:xfrm>
            <a:off x="7086600" y="3876675"/>
            <a:ext cx="1543050" cy="0"/>
          </a:xfrm>
          <a:prstGeom prst="line">
            <a:avLst/>
          </a:prstGeom>
          <a:ln w="762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1E901C2E-35FA-4728-8C2F-D1884D34EFAA}"/>
              </a:ext>
            </a:extLst>
          </p:cNvPr>
          <p:cNvCxnSpPr>
            <a:cxnSpLocks/>
          </p:cNvCxnSpPr>
          <p:nvPr/>
        </p:nvCxnSpPr>
        <p:spPr>
          <a:xfrm>
            <a:off x="9763125" y="1933575"/>
            <a:ext cx="904875" cy="0"/>
          </a:xfrm>
          <a:prstGeom prst="line">
            <a:avLst/>
          </a:prstGeom>
          <a:ln w="762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AFB2C8F8-72D9-4DA3-8B19-02FB1E1F690A}"/>
              </a:ext>
            </a:extLst>
          </p:cNvPr>
          <p:cNvCxnSpPr>
            <a:cxnSpLocks/>
          </p:cNvCxnSpPr>
          <p:nvPr/>
        </p:nvCxnSpPr>
        <p:spPr>
          <a:xfrm flipV="1">
            <a:off x="5343525" y="5962650"/>
            <a:ext cx="895351" cy="1"/>
          </a:xfrm>
          <a:prstGeom prst="line">
            <a:avLst/>
          </a:prstGeom>
          <a:ln w="762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A368BDFA-B937-44BF-B07D-39D7F953AB79}"/>
              </a:ext>
            </a:extLst>
          </p:cNvPr>
          <p:cNvCxnSpPr>
            <a:cxnSpLocks/>
          </p:cNvCxnSpPr>
          <p:nvPr/>
        </p:nvCxnSpPr>
        <p:spPr>
          <a:xfrm flipV="1">
            <a:off x="6203156" y="3857625"/>
            <a:ext cx="919163" cy="2128838"/>
          </a:xfrm>
          <a:prstGeom prst="line">
            <a:avLst/>
          </a:prstGeom>
          <a:ln w="762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FC5F27FC-2BAE-4B8A-A750-2DD62A87F842}"/>
              </a:ext>
            </a:extLst>
          </p:cNvPr>
          <p:cNvCxnSpPr>
            <a:cxnSpLocks/>
          </p:cNvCxnSpPr>
          <p:nvPr/>
        </p:nvCxnSpPr>
        <p:spPr>
          <a:xfrm flipV="1">
            <a:off x="8593931" y="1914525"/>
            <a:ext cx="1204913" cy="1981203"/>
          </a:xfrm>
          <a:prstGeom prst="line">
            <a:avLst/>
          </a:prstGeom>
          <a:ln w="762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5">
            <a:extLst>
              <a:ext uri="{FF2B5EF4-FFF2-40B4-BE49-F238E27FC236}">
                <a16:creationId xmlns:a16="http://schemas.microsoft.com/office/drawing/2014/main" id="{68986B73-3928-4818-9543-79655BBD7D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l="58714" r="18591" b="55309"/>
          <a:stretch/>
        </p:blipFill>
        <p:spPr bwMode="auto">
          <a:xfrm>
            <a:off x="8141494" y="1456392"/>
            <a:ext cx="657225" cy="477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" name="Picture 3">
            <a:extLst>
              <a:ext uri="{FF2B5EF4-FFF2-40B4-BE49-F238E27FC236}">
                <a16:creationId xmlns:a16="http://schemas.microsoft.com/office/drawing/2014/main" id="{166EDDD6-769C-40C6-BD9C-D05A4CFA1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168886" y="3962867"/>
            <a:ext cx="624843" cy="531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390493A4-B6DC-4647-BBA1-103FC7D0BCBB}"/>
              </a:ext>
            </a:extLst>
          </p:cNvPr>
          <p:cNvCxnSpPr/>
          <p:nvPr/>
        </p:nvCxnSpPr>
        <p:spPr>
          <a:xfrm flipH="1">
            <a:off x="9763125" y="1914525"/>
            <a:ext cx="35719" cy="19431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3BFDF7A4-94AD-4845-A56E-D3819A47F8C2}"/>
              </a:ext>
            </a:extLst>
          </p:cNvPr>
          <p:cNvCxnSpPr>
            <a:cxnSpLocks/>
          </p:cNvCxnSpPr>
          <p:nvPr/>
        </p:nvCxnSpPr>
        <p:spPr>
          <a:xfrm flipH="1">
            <a:off x="6212722" y="3875661"/>
            <a:ext cx="26154" cy="2129852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319CB5EA-6F0F-43A0-9326-BB8028CC47F6}"/>
              </a:ext>
            </a:extLst>
          </p:cNvPr>
          <p:cNvCxnSpPr>
            <a:cxnSpLocks/>
          </p:cNvCxnSpPr>
          <p:nvPr/>
        </p:nvCxnSpPr>
        <p:spPr>
          <a:xfrm flipH="1">
            <a:off x="6203156" y="5962650"/>
            <a:ext cx="1797844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28EB1563-5F41-4F16-BB07-67EAAA3087D5}"/>
              </a:ext>
            </a:extLst>
          </p:cNvPr>
          <p:cNvCxnSpPr>
            <a:cxnSpLocks/>
          </p:cNvCxnSpPr>
          <p:nvPr/>
        </p:nvCxnSpPr>
        <p:spPr>
          <a:xfrm flipH="1">
            <a:off x="7948612" y="1905000"/>
            <a:ext cx="1797844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964629A-0C35-4C4F-B17F-0F3E9D59E89A}"/>
              </a:ext>
            </a:extLst>
          </p:cNvPr>
          <p:cNvSpPr txBox="1"/>
          <p:nvPr/>
        </p:nvSpPr>
        <p:spPr>
          <a:xfrm>
            <a:off x="7396162" y="1652915"/>
            <a:ext cx="552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k1</a:t>
            </a:r>
            <a:endParaRPr lang="ru-RU" sz="28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722354C-DC49-4434-A804-1DBB972994D9}"/>
              </a:ext>
            </a:extLst>
          </p:cNvPr>
          <p:cNvSpPr txBox="1"/>
          <p:nvPr/>
        </p:nvSpPr>
        <p:spPr>
          <a:xfrm>
            <a:off x="8021241" y="5638804"/>
            <a:ext cx="552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k2</a:t>
            </a:r>
            <a:endParaRPr lang="ru-RU" sz="28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3A761FC-C66B-4590-9D14-2F2789733E96}"/>
              </a:ext>
            </a:extLst>
          </p:cNvPr>
          <p:cNvSpPr txBox="1"/>
          <p:nvPr/>
        </p:nvSpPr>
        <p:spPr>
          <a:xfrm>
            <a:off x="8401998" y="3923148"/>
            <a:ext cx="552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u1</a:t>
            </a:r>
            <a:endParaRPr lang="ru-RU" sz="28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25E32C-A1CE-47DB-84FE-C9D3DFBDA2D3}"/>
              </a:ext>
            </a:extLst>
          </p:cNvPr>
          <p:cNvSpPr txBox="1"/>
          <p:nvPr/>
        </p:nvSpPr>
        <p:spPr>
          <a:xfrm>
            <a:off x="9522619" y="3905250"/>
            <a:ext cx="552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u3</a:t>
            </a:r>
            <a:endParaRPr lang="ru-RU" sz="28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4B05EAD-9F48-4501-B70F-7A654452E9C5}"/>
              </a:ext>
            </a:extLst>
          </p:cNvPr>
          <p:cNvSpPr txBox="1"/>
          <p:nvPr/>
        </p:nvSpPr>
        <p:spPr>
          <a:xfrm>
            <a:off x="7066117" y="3971428"/>
            <a:ext cx="552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u2</a:t>
            </a:r>
            <a:endParaRPr lang="ru-RU" sz="28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BBA7193-01D3-4233-8B31-36741A66B338}"/>
              </a:ext>
            </a:extLst>
          </p:cNvPr>
          <p:cNvSpPr txBox="1"/>
          <p:nvPr/>
        </p:nvSpPr>
        <p:spPr>
          <a:xfrm>
            <a:off x="5595501" y="3829270"/>
            <a:ext cx="552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u4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68561340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плый синий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1580</TotalTime>
  <Words>265</Words>
  <Application>Microsoft Office PowerPoint</Application>
  <PresentationFormat>Широкоэкранный</PresentationFormat>
  <Paragraphs>89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Тема Office</vt:lpstr>
      <vt:lpstr>Основы моделирования и исследования систем подводных аппаратов</vt:lpstr>
      <vt:lpstr>Движитель</vt:lpstr>
      <vt:lpstr>Структурная схема движителя подводного аппарата</vt:lpstr>
      <vt:lpstr>Характеристики гребного винта</vt:lpstr>
      <vt:lpstr>Расчет гребного винта</vt:lpstr>
      <vt:lpstr>Расчет гребного винта</vt:lpstr>
      <vt:lpstr>Расчет гребного винта</vt:lpstr>
      <vt:lpstr>Расчет гребного винта</vt:lpstr>
      <vt:lpstr>Расчет гребного винта</vt:lpstr>
      <vt:lpstr>Выбор электродвигателя</vt:lpstr>
      <vt:lpstr>Расчет редуктора</vt:lpstr>
      <vt:lpstr>Структурная схема движителя</vt:lpstr>
      <vt:lpstr>Структурная схема движителя</vt:lpstr>
      <vt:lpstr>Линеаризация нелинейностей движителя</vt:lpstr>
      <vt:lpstr>Линеаризованная модель движителя</vt:lpstr>
      <vt:lpstr>Упрощенная модель движителя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моделирования и исследования систем подводных аппаратов</dc:title>
  <dc:creator>Анна Сергеевна Ромашко</dc:creator>
  <cp:lastModifiedBy>User</cp:lastModifiedBy>
  <cp:revision>57</cp:revision>
  <dcterms:created xsi:type="dcterms:W3CDTF">2026-08-31T05:10:56Z</dcterms:created>
  <dcterms:modified xsi:type="dcterms:W3CDTF">2026-10-04T11:20:23Z</dcterms:modified>
</cp:coreProperties>
</file>