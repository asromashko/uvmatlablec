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sldIdLst>
    <p:sldId id="258" r:id="rId2"/>
    <p:sldId id="296" r:id="rId3"/>
    <p:sldId id="301" r:id="rId4"/>
    <p:sldId id="282" r:id="rId5"/>
    <p:sldId id="297" r:id="rId6"/>
    <p:sldId id="298" r:id="rId7"/>
    <p:sldId id="29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63CDDF"/>
    <a:srgbClr val="54A3D8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Описание системы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EA7F647-B5CC-4F64-91CE-F35DD3261272}"/>
              </a:ext>
            </a:extLst>
          </p:cNvPr>
          <p:cNvCxnSpPr>
            <a:cxnSpLocks/>
          </p:cNvCxnSpPr>
          <p:nvPr/>
        </p:nvCxnSpPr>
        <p:spPr>
          <a:xfrm>
            <a:off x="5308600" y="1231900"/>
            <a:ext cx="1511300" cy="0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4691D5F-DDC1-490E-9E65-854ABBDBD49C}"/>
              </a:ext>
            </a:extLst>
          </p:cNvPr>
          <p:cNvCxnSpPr>
            <a:cxnSpLocks/>
          </p:cNvCxnSpPr>
          <p:nvPr/>
        </p:nvCxnSpPr>
        <p:spPr>
          <a:xfrm flipH="1">
            <a:off x="5308600" y="1651000"/>
            <a:ext cx="1511300" cy="0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373A4B5-EAC1-4B12-B918-DDF646E08318}"/>
              </a:ext>
            </a:extLst>
          </p:cNvPr>
          <p:cNvSpPr/>
          <p:nvPr/>
        </p:nvSpPr>
        <p:spPr>
          <a:xfrm>
            <a:off x="571500" y="1104900"/>
            <a:ext cx="4470400" cy="762000"/>
          </a:xfrm>
          <a:prstGeom prst="roundRect">
            <a:avLst/>
          </a:prstGeom>
          <a:noFill/>
          <a:ln w="76200">
            <a:solidFill>
              <a:srgbClr val="63CD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Дифференциальное уравнение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ADEA9D4-92ED-4CA7-9D25-DF94ECBB47B6}"/>
              </a:ext>
            </a:extLst>
          </p:cNvPr>
          <p:cNvSpPr/>
          <p:nvPr/>
        </p:nvSpPr>
        <p:spPr>
          <a:xfrm>
            <a:off x="7150100" y="1104900"/>
            <a:ext cx="4470400" cy="762000"/>
          </a:xfrm>
          <a:prstGeom prst="roundRect">
            <a:avLst/>
          </a:prstGeom>
          <a:noFill/>
          <a:ln w="76200">
            <a:solidFill>
              <a:srgbClr val="2CAB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Передаточная функция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20AE71E-3D34-4FD1-9BF1-BF7B7F7F8C0A}"/>
              </a:ext>
            </a:extLst>
          </p:cNvPr>
          <p:cNvSpPr/>
          <p:nvPr/>
        </p:nvSpPr>
        <p:spPr>
          <a:xfrm>
            <a:off x="571500" y="2296745"/>
            <a:ext cx="11049000" cy="762000"/>
          </a:xfrm>
          <a:prstGeom prst="roundRect">
            <a:avLst/>
          </a:prstGeom>
          <a:noFill/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>
                <a:solidFill>
                  <a:schemeClr val="tx1"/>
                </a:solidFill>
              </a:rPr>
              <a:t>Расчет параметров системы – решение дифференциального уравнения</a:t>
            </a:r>
          </a:p>
        </p:txBody>
      </p:sp>
      <p:pic>
        <p:nvPicPr>
          <p:cNvPr id="25" name="Picture 9">
            <a:extLst>
              <a:ext uri="{FF2B5EF4-FFF2-40B4-BE49-F238E27FC236}">
                <a16:creationId xmlns:a16="http://schemas.microsoft.com/office/drawing/2014/main" id="{C9D96B81-90A4-4B47-8426-155482D64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00187" y="4380281"/>
            <a:ext cx="2638425" cy="1171575"/>
          </a:xfrm>
          <a:prstGeom prst="rect">
            <a:avLst/>
          </a:prstGeom>
          <a:noFill/>
        </p:spPr>
      </p:pic>
      <p:pic>
        <p:nvPicPr>
          <p:cNvPr id="26" name="Picture 12">
            <a:extLst>
              <a:ext uri="{FF2B5EF4-FFF2-40B4-BE49-F238E27FC236}">
                <a16:creationId xmlns:a16="http://schemas.microsoft.com/office/drawing/2014/main" id="{F97A876E-FEAC-4444-946F-4FAF1707A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2076" y="3799256"/>
            <a:ext cx="4210050" cy="1752600"/>
          </a:xfrm>
          <a:prstGeom prst="rect">
            <a:avLst/>
          </a:prstGeom>
          <a:noFill/>
        </p:spPr>
      </p:pic>
      <p:sp>
        <p:nvSpPr>
          <p:cNvPr id="27" name="Левая фигурная скобка 26">
            <a:extLst>
              <a:ext uri="{FF2B5EF4-FFF2-40B4-BE49-F238E27FC236}">
                <a16:creationId xmlns:a16="http://schemas.microsoft.com/office/drawing/2014/main" id="{06D91976-7040-47D2-A469-202BD46C48E6}"/>
              </a:ext>
            </a:extLst>
          </p:cNvPr>
          <p:cNvSpPr/>
          <p:nvPr/>
        </p:nvSpPr>
        <p:spPr>
          <a:xfrm rot="16200000">
            <a:off x="7517723" y="5388128"/>
            <a:ext cx="428628" cy="53703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Левая фигурная скобка 27">
            <a:extLst>
              <a:ext uri="{FF2B5EF4-FFF2-40B4-BE49-F238E27FC236}">
                <a16:creationId xmlns:a16="http://schemas.microsoft.com/office/drawing/2014/main" id="{3BB8E674-8F28-4379-B20C-6503A9BA6F90}"/>
              </a:ext>
            </a:extLst>
          </p:cNvPr>
          <p:cNvSpPr/>
          <p:nvPr/>
        </p:nvSpPr>
        <p:spPr>
          <a:xfrm rot="16200000">
            <a:off x="9499596" y="4442198"/>
            <a:ext cx="428628" cy="2428892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795643-7B6B-4D4B-AAE6-8BED079F2C32}"/>
              </a:ext>
            </a:extLst>
          </p:cNvPr>
          <p:cNvSpPr txBox="1"/>
          <p:nvPr/>
        </p:nvSpPr>
        <p:spPr>
          <a:xfrm>
            <a:off x="7070704" y="6013834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itchFamily="34" charset="0"/>
                <a:cs typeface="Arial" pitchFamily="34" charset="0"/>
              </a:rPr>
              <a:t>частное</a:t>
            </a:r>
            <a:endParaRPr lang="ru-RU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BC7633-5AA1-4B2C-B79B-5511641770E6}"/>
              </a:ext>
            </a:extLst>
          </p:cNvPr>
          <p:cNvSpPr txBox="1"/>
          <p:nvPr/>
        </p:nvSpPr>
        <p:spPr>
          <a:xfrm>
            <a:off x="9142406" y="6013834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общее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F4047E-A626-4351-AA5D-ECCFBC3BB962}"/>
              </a:ext>
            </a:extLst>
          </p:cNvPr>
          <p:cNvSpPr txBox="1"/>
          <p:nvPr/>
        </p:nvSpPr>
        <p:spPr>
          <a:xfrm>
            <a:off x="838200" y="3419540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Дифференциальное уравнение в общем виде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B2AAA3-5D7B-4CCA-A1EF-7D920662E159}"/>
              </a:ext>
            </a:extLst>
          </p:cNvPr>
          <p:cNvSpPr txBox="1"/>
          <p:nvPr/>
        </p:nvSpPr>
        <p:spPr>
          <a:xfrm>
            <a:off x="6096000" y="3419540"/>
            <a:ext cx="5584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Решение дифференциального уравнения</a:t>
            </a:r>
          </a:p>
        </p:txBody>
      </p:sp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46699B0-610C-4554-B75F-9D64C58EB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66" y="4860242"/>
            <a:ext cx="5071756" cy="16448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1146175"/>
          </a:xfrm>
        </p:spPr>
        <p:txBody>
          <a:bodyPr>
            <a:normAutofit fontScale="90000"/>
          </a:bodyPr>
          <a:lstStyle/>
          <a:p>
            <a:r>
              <a:rPr lang="ru-RU" dirty="0"/>
              <a:t>Численное решение дифференциального уравнения</a:t>
            </a:r>
            <a:br>
              <a:rPr lang="ru-RU" dirty="0"/>
            </a:br>
            <a:r>
              <a:rPr lang="ru-RU" dirty="0"/>
              <a:t>Численное интегрирование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F480EF-D3F6-4465-AE80-A46683677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569" y="2370321"/>
            <a:ext cx="2846174" cy="9843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CEE7EF-07EB-40DA-A5D6-2143BD8E16FC}"/>
              </a:ext>
            </a:extLst>
          </p:cNvPr>
          <p:cNvSpPr txBox="1"/>
          <p:nvPr/>
        </p:nvSpPr>
        <p:spPr>
          <a:xfrm>
            <a:off x="228600" y="1631356"/>
            <a:ext cx="544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Система описывается дифференциальным уравнением вида: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0B88DF-63AD-40B5-82D1-79F906AC2E4E}"/>
              </a:ext>
            </a:extLst>
          </p:cNvPr>
          <p:cNvSpPr txBox="1"/>
          <p:nvPr/>
        </p:nvSpPr>
        <p:spPr>
          <a:xfrm>
            <a:off x="228600" y="4194345"/>
            <a:ext cx="5448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Преобразуем уравнение </a:t>
            </a:r>
            <a:r>
              <a:rPr lang="en-US" sz="2400" dirty="0"/>
              <a:t>n-</a:t>
            </a:r>
            <a:r>
              <a:rPr lang="ru-RU" sz="2400" dirty="0" err="1"/>
              <a:t>го</a:t>
            </a:r>
            <a:r>
              <a:rPr lang="ru-RU" sz="2400" dirty="0"/>
              <a:t> порядка в систему уравнений 1-го порядка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6F38B9A-861D-4FC3-A06A-3530674D9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285" y="2093021"/>
            <a:ext cx="2846174" cy="20413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829CE42-28B1-4E0B-B69B-97BEA4227D1F}"/>
              </a:ext>
            </a:extLst>
          </p:cNvPr>
          <p:cNvSpPr txBox="1"/>
          <p:nvPr/>
        </p:nvSpPr>
        <p:spPr>
          <a:xfrm>
            <a:off x="6165222" y="1631356"/>
            <a:ext cx="5448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Задаем начальные условия: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63585-CE51-4BEF-B74B-A97C999B878E}"/>
              </a:ext>
            </a:extLst>
          </p:cNvPr>
          <p:cNvSpPr txBox="1"/>
          <p:nvPr/>
        </p:nvSpPr>
        <p:spPr>
          <a:xfrm>
            <a:off x="8667122" y="5578245"/>
            <a:ext cx="237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Интегрируем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6E2385B-C2AC-4188-A0D7-FC322EA2D1A8}"/>
              </a:ext>
            </a:extLst>
          </p:cNvPr>
          <p:cNvCxnSpPr>
            <a:cxnSpLocks/>
          </p:cNvCxnSpPr>
          <p:nvPr/>
        </p:nvCxnSpPr>
        <p:spPr>
          <a:xfrm>
            <a:off x="5631822" y="2997200"/>
            <a:ext cx="1511300" cy="0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F1E5C65-7F8A-4CA7-B44A-FE6040ABDF3B}"/>
              </a:ext>
            </a:extLst>
          </p:cNvPr>
          <p:cNvCxnSpPr>
            <a:cxnSpLocks/>
          </p:cNvCxnSpPr>
          <p:nvPr/>
        </p:nvCxnSpPr>
        <p:spPr>
          <a:xfrm>
            <a:off x="2719443" y="3238500"/>
            <a:ext cx="0" cy="955845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D3A8D8F-882F-4C2F-BD08-61262E5278E8}"/>
              </a:ext>
            </a:extLst>
          </p:cNvPr>
          <p:cNvCxnSpPr>
            <a:cxnSpLocks/>
          </p:cNvCxnSpPr>
          <p:nvPr/>
        </p:nvCxnSpPr>
        <p:spPr>
          <a:xfrm>
            <a:off x="6616700" y="5475138"/>
            <a:ext cx="1854200" cy="364717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6C0B688A-4AA2-4386-AEE7-A6929E115D5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889372" y="4134416"/>
            <a:ext cx="826128" cy="1186884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80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C1DF6-4AE0-BE75-E5EE-D11980BF0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Решатели или алгоритмы интегрирования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B18AA9-C3D6-0559-73BF-591BF7E0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7F223-E30B-4A7E-8DB1-B6F0D295EE8C}"/>
              </a:ext>
            </a:extLst>
          </p:cNvPr>
          <p:cNvSpPr txBox="1"/>
          <p:nvPr/>
        </p:nvSpPr>
        <p:spPr>
          <a:xfrm>
            <a:off x="304800" y="967154"/>
            <a:ext cx="1158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u="sng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ode45</a:t>
            </a:r>
            <a:r>
              <a:rPr lang="ru-RU" dirty="0">
                <a:latin typeface="Arial" pitchFamily="34" charset="0"/>
                <a:cs typeface="Arial" pitchFamily="34" charset="0"/>
              </a:rPr>
              <a:t> одношаговые явные методы Рунге-Кутта 4-го и 5-го порядков в модификации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Дорманда</a:t>
            </a:r>
            <a:r>
              <a:rPr lang="ru-RU" dirty="0">
                <a:latin typeface="Arial" pitchFamily="34" charset="0"/>
                <a:cs typeface="Arial" pitchFamily="34" charset="0"/>
              </a:rPr>
              <a:t> и Принца. Это классический метод, рекомендуемый для начальной пробы решения. Во многих случаях он дает хорошие результаты, если система решаемых уравнений нежесткая.</a:t>
            </a:r>
          </a:p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ode23</a:t>
            </a:r>
            <a:r>
              <a:rPr lang="ru-RU" dirty="0">
                <a:latin typeface="Arial" pitchFamily="34" charset="0"/>
                <a:cs typeface="Arial" pitchFamily="34" charset="0"/>
              </a:rPr>
              <a:t> одношаговые явные методы Рунге-Кутта 2-го и 4-го порядков в модификации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Богацки</a:t>
            </a:r>
            <a:r>
              <a:rPr lang="ru-RU" dirty="0">
                <a:latin typeface="Arial" pitchFamily="34" charset="0"/>
                <a:cs typeface="Arial" pitchFamily="34" charset="0"/>
              </a:rPr>
              <a:t> и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Шампина</a:t>
            </a:r>
            <a:r>
              <a:rPr lang="ru-RU" dirty="0">
                <a:latin typeface="Arial" pitchFamily="34" charset="0"/>
                <a:cs typeface="Arial" pitchFamily="34" charset="0"/>
              </a:rPr>
              <a:t>. При умеренной жесткости системы ОДУ и низких требованиях к точности этот метод может дать выигрыш в скорости решения.</a:t>
            </a:r>
          </a:p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ode113</a:t>
            </a:r>
            <a:r>
              <a:rPr lang="ru-RU" dirty="0">
                <a:latin typeface="Arial" pitchFamily="34" charset="0"/>
                <a:cs typeface="Arial" pitchFamily="34" charset="0"/>
              </a:rPr>
              <a:t> многошаговый метод Адамса-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Башворта</a:t>
            </a:r>
            <a:r>
              <a:rPr lang="ru-RU" dirty="0">
                <a:latin typeface="Arial" pitchFamily="34" charset="0"/>
                <a:cs typeface="Arial" pitchFamily="34" charset="0"/>
              </a:rPr>
              <a:t>-Мултона переменного порядка класса предиктор-корректор. Это адаптивный метод, который может обеспечить высокую точность решения.</a:t>
            </a:r>
          </a:p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u="sng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ode15s</a:t>
            </a:r>
            <a:r>
              <a:rPr lang="ru-RU" dirty="0">
                <a:latin typeface="Arial" pitchFamily="34" charset="0"/>
                <a:cs typeface="Arial" pitchFamily="34" charset="0"/>
              </a:rPr>
              <a:t> многошаговый метод переменного порядка (от 1 до 5, по умолчанию 5), использующий формулы численного «дифференцирования назад». Это адаптивный метод, его стоит применять, если решатель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ode45</a:t>
            </a:r>
            <a:r>
              <a:rPr lang="ru-RU" dirty="0">
                <a:latin typeface="Arial" pitchFamily="34" charset="0"/>
                <a:cs typeface="Arial" pitchFamily="34" charset="0"/>
              </a:rPr>
              <a:t> не обеспечивает решения и система ДУ жесткая.</a:t>
            </a:r>
          </a:p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ode23s</a:t>
            </a:r>
            <a:r>
              <a:rPr lang="ru-RU" dirty="0">
                <a:latin typeface="Arial" pitchFamily="34" charset="0"/>
                <a:cs typeface="Arial" pitchFamily="34" charset="0"/>
              </a:rPr>
              <a:t> одношаговый метод, использующий модифицированную формулу </a:t>
            </a:r>
            <a:r>
              <a:rPr lang="ru-RU" dirty="0" err="1">
                <a:latin typeface="Arial" pitchFamily="34" charset="0"/>
                <a:cs typeface="Arial" pitchFamily="34" charset="0"/>
              </a:rPr>
              <a:t>Розенброка</a:t>
            </a:r>
            <a:r>
              <a:rPr lang="ru-RU" dirty="0">
                <a:latin typeface="Arial" pitchFamily="34" charset="0"/>
                <a:cs typeface="Arial" pitchFamily="34" charset="0"/>
              </a:rPr>
              <a:t> 2-го порядка. Может обеспечить высокую скорость вычислений при низкой точности решения жесткой системы ДУ.</a:t>
            </a:r>
          </a:p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ode23t</a:t>
            </a:r>
            <a:r>
              <a:rPr lang="ru-RU" dirty="0">
                <a:latin typeface="Arial" pitchFamily="34" charset="0"/>
                <a:cs typeface="Arial" pitchFamily="34" charset="0"/>
              </a:rPr>
              <a:t> неявный метод трапеций с интерполяцией. Этот метод дает хорошие результаты при решении задач, описывающих колебательные системы с почти гармоническим выходным сигналом. При умеренно жестких системах ДУ может дать высокую точность решения.</a:t>
            </a:r>
          </a:p>
          <a:p>
            <a:pPr marL="285750" indent="-285750" algn="just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ode23tb</a:t>
            </a:r>
            <a:r>
              <a:rPr lang="ru-RU" dirty="0">
                <a:latin typeface="Arial" pitchFamily="34" charset="0"/>
                <a:cs typeface="Arial" pitchFamily="34" charset="0"/>
              </a:rPr>
              <a:t> неявный метод Рунге Кутта в начале решения и метод, использующий формулы «дифференцирования назад» 2-го порядка в последующем. Несмотря на сравнительно низкую точность, этот метод может оказаться более эффективным, чем ode15s.</a:t>
            </a:r>
          </a:p>
        </p:txBody>
      </p:sp>
    </p:spTree>
    <p:extLst>
      <p:ext uri="{BB962C8B-B14F-4D97-AF65-F5344CB8AC3E}">
        <p14:creationId xmlns:p14="http://schemas.microsoft.com/office/powerpoint/2010/main" val="233553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Численное решение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44E4A60-0085-45E6-A12C-9442B034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16" y="967154"/>
            <a:ext cx="8055652" cy="552572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47D4971-8931-44A2-9763-B0579BC9E6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67" t="17523" r="3237"/>
          <a:stretch/>
        </p:blipFill>
        <p:spPr>
          <a:xfrm>
            <a:off x="7692992" y="3035300"/>
            <a:ext cx="4002717" cy="31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0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F2E-8A31-688D-903F-8CAE90E2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A07A4-554F-7E5F-3400-071E74C3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21" y="365125"/>
            <a:ext cx="11127557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Численное решение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3D40C69-A171-5A8F-ACDE-6049A057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3FC6A5-1400-4924-BEDC-15C91FD6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21" y="967154"/>
            <a:ext cx="10850196" cy="18522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78BCD1-0626-49B8-9D76-017FED40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21" y="2379784"/>
            <a:ext cx="3430179" cy="4162542"/>
          </a:xfrm>
          <a:prstGeom prst="rect">
            <a:avLst/>
          </a:prstGeom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3BB68C1-77E1-460D-8EB5-DD07C7D87D84}"/>
              </a:ext>
            </a:extLst>
          </p:cNvPr>
          <p:cNvSpPr/>
          <p:nvPr/>
        </p:nvSpPr>
        <p:spPr>
          <a:xfrm>
            <a:off x="570321" y="3631954"/>
            <a:ext cx="3430179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DE7F3D74-B966-422A-B351-8C0A53E613F5}"/>
              </a:ext>
            </a:extLst>
          </p:cNvPr>
          <p:cNvCxnSpPr>
            <a:cxnSpLocks/>
          </p:cNvCxnSpPr>
          <p:nvPr/>
        </p:nvCxnSpPr>
        <p:spPr>
          <a:xfrm flipH="1" flipV="1">
            <a:off x="4086184" y="4064003"/>
            <a:ext cx="600116" cy="6114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1F53BE-C864-41DB-A2D7-374FF41C8FB3}"/>
              </a:ext>
            </a:extLst>
          </p:cNvPr>
          <p:cNvSpPr txBox="1"/>
          <p:nvPr/>
        </p:nvSpPr>
        <p:spPr>
          <a:xfrm>
            <a:off x="4152900" y="4675416"/>
            <a:ext cx="2908299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Начальные условия в интеграторах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805CB02-184B-4ABB-B264-24E6E5492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600" y="2812301"/>
            <a:ext cx="4140200" cy="372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8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042FDA9B-7D1F-2BD1-F1EE-391258C0F112}"/>
              </a:ext>
            </a:extLst>
          </p:cNvPr>
          <p:cNvSpPr txBox="1">
            <a:spLocks/>
          </p:cNvSpPr>
          <p:nvPr/>
        </p:nvSpPr>
        <p:spPr>
          <a:xfrm>
            <a:off x="540062" y="967154"/>
            <a:ext cx="11319756" cy="5248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Для заданной передаточной функции:</a:t>
            </a: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Arial" pitchFamily="34" charset="0"/>
                <a:cs typeface="Arial" pitchFamily="34" charset="0"/>
              </a:rPr>
              <a:t>Записать дифференциальное уравнение;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Arial" pitchFamily="34" charset="0"/>
                <a:cs typeface="Arial" pitchFamily="34" charset="0"/>
              </a:rPr>
              <a:t>Найти решение с помощью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MatLab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ru-RU" dirty="0">
                <a:latin typeface="Arial" pitchFamily="34" charset="0"/>
                <a:cs typeface="Arial" pitchFamily="34" charset="0"/>
              </a:rPr>
              <a:t>и </a:t>
            </a:r>
            <a:r>
              <a:rPr lang="en-US" dirty="0">
                <a:latin typeface="Arial" pitchFamily="34" charset="0"/>
                <a:cs typeface="Arial" pitchFamily="34" charset="0"/>
              </a:rPr>
              <a:t>Simulink </a:t>
            </a:r>
            <a:r>
              <a:rPr lang="ru-RU" dirty="0">
                <a:latin typeface="Arial" pitchFamily="34" charset="0"/>
                <a:cs typeface="Arial" pitchFamily="34" charset="0"/>
              </a:rPr>
              <a:t>для нулевых начальных условий.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27DE8A-E08C-4355-8E53-D91ECD5C7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813" y="1670782"/>
            <a:ext cx="9179859" cy="324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1502</TotalTime>
  <Words>331</Words>
  <Application>Microsoft Office PowerPoint</Application>
  <PresentationFormat>Широкоэкранный</PresentationFormat>
  <Paragraphs>42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Тема Office</vt:lpstr>
      <vt:lpstr>Основы моделирования и исследования систем подводных аппаратов</vt:lpstr>
      <vt:lpstr>Описание системы</vt:lpstr>
      <vt:lpstr>Численное решение дифференциального уравнения Численное интегрирование</vt:lpstr>
      <vt:lpstr>Решатели или алгоритмы интегрирования</vt:lpstr>
      <vt:lpstr>Численное решение в MatLab</vt:lpstr>
      <vt:lpstr>Численное решение в Simulink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Анна Ромашко</cp:lastModifiedBy>
  <cp:revision>45</cp:revision>
  <dcterms:created xsi:type="dcterms:W3CDTF">2026-08-31T05:10:56Z</dcterms:created>
  <dcterms:modified xsi:type="dcterms:W3CDTF">2026-09-06T07:34:00Z</dcterms:modified>
</cp:coreProperties>
</file>