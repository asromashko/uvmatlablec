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8" r:id="rId2"/>
    <p:sldId id="296" r:id="rId3"/>
    <p:sldId id="301" r:id="rId4"/>
    <p:sldId id="302" r:id="rId5"/>
    <p:sldId id="307" r:id="rId6"/>
    <p:sldId id="304" r:id="rId7"/>
    <p:sldId id="305" r:id="rId8"/>
    <p:sldId id="29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63CDDF"/>
    <a:srgbClr val="54A3D8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Двигатель постоянного тока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8F42D317-73B1-439A-A2DF-AA248B7AC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4386" y="967154"/>
            <a:ext cx="6603227" cy="579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/>
              <a:t>Эквивалентная схема двигателя постоянного тока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DE83897-3E18-451B-87A6-EC10AD2F76A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1018147"/>
            <a:ext cx="6181725" cy="2029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4">
            <a:extLst>
              <a:ext uri="{FF2B5EF4-FFF2-40B4-BE49-F238E27FC236}">
                <a16:creationId xmlns:a16="http://schemas.microsoft.com/office/drawing/2014/main" id="{425B4531-DE61-4634-8D9B-FD8A17F46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7443" y="3048001"/>
            <a:ext cx="5786358" cy="36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5">
            <a:extLst>
              <a:ext uri="{FF2B5EF4-FFF2-40B4-BE49-F238E27FC236}">
                <a16:creationId xmlns:a16="http://schemas.microsoft.com/office/drawing/2014/main" id="{4C00DAD0-CD75-48F6-91B0-978E2E2FD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1881" y="3048000"/>
            <a:ext cx="3293865" cy="1714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046711-AE33-4379-88AC-35195A8DF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33307" y="4762500"/>
            <a:ext cx="2923744" cy="1925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180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Структурная схема </a:t>
            </a:r>
            <a:r>
              <a:rPr lang="ru-RU" dirty="0" smtClean="0"/>
              <a:t>двигателя </a:t>
            </a:r>
            <a:r>
              <a:rPr lang="ru-RU" dirty="0"/>
              <a:t>постоянного тока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539551" y="1059488"/>
                <a:ext cx="9509319" cy="2676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ru-RU" sz="2800" b="0" i="1" smtClean="0">
                                            <a:latin typeface="Cambria Math" panose="02040503050406030204" pitchFamily="18" charset="0"/>
                                          </a:rPr>
                                          <m:t>я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д</m:t>
                                    </m:r>
                                  </m:sub>
                                </m:sSub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2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sub>
                                      </m:sSub>
                                      <m:f>
                                        <m:fPr>
                                          <m:ctrlPr>
                                            <a:rPr lang="ru-RU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800" i="1">
                                                  <a:latin typeface="Cambria Math" panose="02040503050406030204" pitchFamily="18" charset="0"/>
                                                </a:rPr>
                                                <m:t>д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ru-RU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д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latin typeface="Cambria Math" panose="02040503050406030204" pitchFamily="18" charset="0"/>
                                        </a:rPr>
                                        <m:t>;                           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sub>
                                      </m:sSub>
                                      <m:f>
                                        <m:fPr>
                                          <m:ctrlP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800" i="1">
                                                  <a:latin typeface="Cambria Math" panose="02040503050406030204" pitchFamily="18" charset="0"/>
                                                </a:rPr>
                                                <m:t>д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ru-RU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м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  <m:t>я</m:t>
                                          </m:r>
                                        </m:sub>
                                      </m:sSub>
                                      <m:r>
                                        <a:rPr lang="ru-RU" sz="2800" b="0" i="1" smtClean="0">
                                          <a:latin typeface="Cambria Math" panose="02040503050406030204" pitchFamily="18" charset="0"/>
                                        </a:rPr>
                                        <m:t>,                         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д</m:t>
                                    </m:r>
                                  </m:sub>
                                </m:sSub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  <m:t>я</m:t>
                                        </m:r>
                                      </m:sub>
                                    </m:s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  <m:t>я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  <m:t>д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  <m:t>м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l-GR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.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551" y="1059488"/>
                <a:ext cx="9509319" cy="26762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09" y="4024982"/>
            <a:ext cx="11381609" cy="221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4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Передаточная функция </a:t>
            </a:r>
            <a:r>
              <a:rPr lang="ru-RU" dirty="0" smtClean="0"/>
              <a:t>двигателя </a:t>
            </a:r>
            <a:r>
              <a:rPr lang="ru-RU" dirty="0"/>
              <a:t>постоянного тока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539551" y="1059488"/>
                <a:ext cx="9509319" cy="2676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ru-RU" sz="2800" b="0" i="1" smtClean="0">
                                            <a:latin typeface="Cambria Math" panose="02040503050406030204" pitchFamily="18" charset="0"/>
                                          </a:rPr>
                                          <m:t>я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д</m:t>
                                    </m:r>
                                  </m:sub>
                                </m:sSub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2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sub>
                                      </m:sSub>
                                      <m:f>
                                        <m:fPr>
                                          <m:ctrlPr>
                                            <a:rPr lang="ru-RU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800" i="1">
                                                  <a:latin typeface="Cambria Math" panose="02040503050406030204" pitchFamily="18" charset="0"/>
                                                </a:rPr>
                                                <m:t>д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ru-RU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д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ru-RU" sz="2800" b="0" i="1" smtClean="0">
                                          <a:latin typeface="Cambria Math" panose="02040503050406030204" pitchFamily="18" charset="0"/>
                                        </a:rPr>
                                        <m:t>;                           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sub>
                                      </m:sSub>
                                      <m:f>
                                        <m:fPr>
                                          <m:ctrlP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800" i="1">
                                                  <a:latin typeface="Cambria Math" panose="02040503050406030204" pitchFamily="18" charset="0"/>
                                                </a:rPr>
                                                <m:t>д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ru-RU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м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  <m:t>я</m:t>
                                          </m:r>
                                        </m:sub>
                                      </m:sSub>
                                      <m:r>
                                        <a:rPr lang="ru-RU" sz="2800" b="0" i="1" smtClean="0">
                                          <a:latin typeface="Cambria Math" panose="02040503050406030204" pitchFamily="18" charset="0"/>
                                        </a:rPr>
                                        <m:t>,                         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  <m:t>я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д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я</m:t>
                                    </m:r>
                                  </m:sub>
                                </m:sSub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l-GR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ru-RU" sz="2800" b="0" i="1" smtClean="0">
                                            <a:latin typeface="Cambria Math" panose="02040503050406030204" pitchFamily="18" charset="0"/>
                                          </a:rPr>
                                          <m:t>м</m:t>
                                        </m:r>
                                      </m:sub>
                                    </m:sSub>
                                  </m:den>
                                </m:f>
                                <m:f>
                                  <m:f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  <m:t>д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.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551" y="1059488"/>
                <a:ext cx="9509319" cy="26762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3217373" y="3777075"/>
                <a:ext cx="5914953" cy="9694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я</m:t>
                          </m:r>
                        </m:sub>
                      </m:sSub>
                      <m:r>
                        <a:rPr lang="ru-RU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я</m:t>
                          </m:r>
                        </m:sub>
                      </m:sSub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м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</m:t>
                          </m:r>
                        </m:sub>
                      </m:sSub>
                      <m:sSup>
                        <m:s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я</m:t>
                          </m:r>
                        </m:sub>
                      </m:sSub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м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373" y="3777075"/>
                <a:ext cx="5914953" cy="969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34A88021-ADF8-405C-9BB1-621815F0B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8557" y="4930591"/>
            <a:ext cx="8952584" cy="145739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68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911224"/>
          </a:xfrm>
        </p:spPr>
        <p:txBody>
          <a:bodyPr>
            <a:normAutofit fontScale="90000"/>
          </a:bodyPr>
          <a:lstStyle/>
          <a:p>
            <a:r>
              <a:rPr lang="ru-RU" dirty="0"/>
              <a:t>Паспортные характеристики</a:t>
            </a:r>
            <a:br>
              <a:rPr lang="ru-RU" dirty="0"/>
            </a:br>
            <a:r>
              <a:rPr lang="ru-RU" dirty="0"/>
              <a:t> двигателя постоянного тока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0492DC40-641D-4049-9530-232D8799B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17051" r="39947"/>
          <a:stretch>
            <a:fillRect/>
          </a:stretch>
        </p:blipFill>
        <p:spPr bwMode="auto">
          <a:xfrm>
            <a:off x="4517335" y="1364213"/>
            <a:ext cx="7050679" cy="5494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8B89C1F-86FF-43AC-81DB-ADD14446D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0435" y="2102502"/>
            <a:ext cx="21812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74EF8818-DADE-4753-8F75-23792FC43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3093" y="4645460"/>
            <a:ext cx="551093" cy="48220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F6A8D81A-D34B-4EA6-8CEF-CF55E45D4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74837" y="5415628"/>
            <a:ext cx="673687" cy="5167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646DD2CB-7FE8-43CF-A415-DAAA38F58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55279" y="4121426"/>
            <a:ext cx="428628" cy="48453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0F738D3D-F8B9-453A-A083-392BE99F1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98847" y="3244873"/>
            <a:ext cx="512731" cy="43815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E30207A-C1CF-4D2E-BEB8-AD76CC104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12367" y="6143179"/>
            <a:ext cx="381840" cy="4143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D83F6A5-7A05-4929-8608-3C099195361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211578" y="3463949"/>
            <a:ext cx="2455672" cy="15289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12FC8A0-2310-4720-BCBB-856D585273C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883907" y="4363694"/>
            <a:ext cx="1783343" cy="86740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83062E7C-F1B8-40E6-B662-D7129659AAB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894186" y="4886564"/>
            <a:ext cx="2773064" cy="5959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4479E78-73BE-4EE3-9E41-0F178D83EAA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348524" y="5673984"/>
            <a:ext cx="1318726" cy="496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28FEDA3-2803-4E08-8DAC-BC9C42194846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994207" y="6350348"/>
            <a:ext cx="2673043" cy="14252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05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>
            <a:extLst>
              <a:ext uri="{FF2B5EF4-FFF2-40B4-BE49-F238E27FC236}">
                <a16:creationId xmlns:a16="http://schemas.microsoft.com/office/drawing/2014/main" id="{DDB7D707-BE53-4B05-9765-8F640E307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403" y="1276350"/>
            <a:ext cx="8995194" cy="2724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911224"/>
          </a:xfrm>
        </p:spPr>
        <p:txBody>
          <a:bodyPr>
            <a:normAutofit fontScale="90000"/>
          </a:bodyPr>
          <a:lstStyle/>
          <a:p>
            <a:r>
              <a:rPr lang="ru-RU" dirty="0"/>
              <a:t>Механическая характеристика</a:t>
            </a:r>
            <a:br>
              <a:rPr lang="ru-RU" dirty="0"/>
            </a:br>
            <a:r>
              <a:rPr lang="ru-RU" dirty="0"/>
              <a:t> двигателя постоянного тока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21" name="Picture 5">
            <a:extLst>
              <a:ext uri="{FF2B5EF4-FFF2-40B4-BE49-F238E27FC236}">
                <a16:creationId xmlns:a16="http://schemas.microsoft.com/office/drawing/2014/main" id="{29F97CF6-E4C6-4B96-B4A3-304B73F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8224" y="3265373"/>
            <a:ext cx="3571245" cy="33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BC8F7BD1-936C-4C66-8C0C-0B62711688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8827" r="19199"/>
          <a:stretch/>
        </p:blipFill>
        <p:spPr bwMode="auto">
          <a:xfrm>
            <a:off x="7892059" y="3177535"/>
            <a:ext cx="3714750" cy="346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2573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042FDA9B-7D1F-2BD1-F1EE-391258C0F112}"/>
              </a:ext>
            </a:extLst>
          </p:cNvPr>
          <p:cNvSpPr txBox="1">
            <a:spLocks/>
          </p:cNvSpPr>
          <p:nvPr/>
        </p:nvSpPr>
        <p:spPr>
          <a:xfrm>
            <a:off x="540062" y="967154"/>
            <a:ext cx="11319756" cy="847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Построить модель заданного двигателя и определить момент на валу двигателя при скорости вращения вала 2/3 от номинальной.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2A67786-69D6-4589-B9AF-7C744A0C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0103" y="1814506"/>
            <a:ext cx="8731794" cy="395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D4678F30-DA21-4C9C-AEAD-8E20F6A865CC}"/>
              </a:ext>
            </a:extLst>
          </p:cNvPr>
          <p:cNvSpPr txBox="1">
            <a:spLocks/>
          </p:cNvSpPr>
          <p:nvPr/>
        </p:nvSpPr>
        <p:spPr>
          <a:xfrm>
            <a:off x="436122" y="5786431"/>
            <a:ext cx="11319756" cy="9858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Четные номера в списке – двигатель 268214;</a:t>
            </a:r>
          </a:p>
          <a:p>
            <a:pPr marL="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Нечетные номера в списке – двигатель 268213.</a:t>
            </a:r>
          </a:p>
        </p:txBody>
      </p:sp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1572</TotalTime>
  <Words>71</Words>
  <Application>Microsoft Office PowerPoint</Application>
  <PresentationFormat>Широкоэкранный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Тема Office</vt:lpstr>
      <vt:lpstr>Основы моделирования и исследования систем подводных аппаратов</vt:lpstr>
      <vt:lpstr>Двигатель постоянного тока</vt:lpstr>
      <vt:lpstr>Эквивалентная схема двигателя постоянного тока</vt:lpstr>
      <vt:lpstr>Структурная схема двигателя постоянного тока</vt:lpstr>
      <vt:lpstr>Передаточная функция двигателя постоянного тока</vt:lpstr>
      <vt:lpstr>Паспортные характеристики  двигателя постоянного тока</vt:lpstr>
      <vt:lpstr>Механическая характеристика  двигателя постоянного тока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User</cp:lastModifiedBy>
  <cp:revision>54</cp:revision>
  <dcterms:created xsi:type="dcterms:W3CDTF">2026-08-31T05:10:56Z</dcterms:created>
  <dcterms:modified xsi:type="dcterms:W3CDTF">2026-10-04T11:20:34Z</dcterms:modified>
</cp:coreProperties>
</file>