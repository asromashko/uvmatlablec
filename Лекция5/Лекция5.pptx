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1"/>
  </p:sldMasterIdLst>
  <p:notesMasterIdLst>
    <p:notesMasterId r:id="rId10"/>
  </p:notesMasterIdLst>
  <p:sldIdLst>
    <p:sldId id="258" r:id="rId2"/>
    <p:sldId id="296" r:id="rId3"/>
    <p:sldId id="301" r:id="rId4"/>
    <p:sldId id="302" r:id="rId5"/>
    <p:sldId id="303" r:id="rId6"/>
    <p:sldId id="304" r:id="rId7"/>
    <p:sldId id="305" r:id="rId8"/>
    <p:sldId id="295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CABCE"/>
    <a:srgbClr val="63CDDF"/>
    <a:srgbClr val="54A3D8"/>
    <a:srgbClr val="F57041"/>
    <a:srgbClr val="F4671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91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B5F00A-51B7-4331-8B21-77675F9FED1E}" type="datetimeFigureOut">
              <a:rPr lang="ru-RU" smtClean="0"/>
              <a:t>06.09.2026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28AACF-F7CE-4699-9710-58C08EA487B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57655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2901F9-C394-4AD0-8AC1-89113BB3056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34750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2901F9-C394-4AD0-8AC1-89113BB3056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03782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 algn="ctr">
              <a:defRPr sz="60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73850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2901F9-C394-4AD0-8AC1-89113BB3056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66224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2901F9-C394-4AD0-8AC1-89113BB3056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23251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2029"/>
          </a:xfrm>
        </p:spPr>
        <p:txBody>
          <a:bodyPr/>
          <a:lstStyle>
            <a:lvl1pPr algn="ctr"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353800" y="6322573"/>
            <a:ext cx="506018" cy="365125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</a:lstStyle>
          <a:p>
            <a:fld id="{862901F9-C394-4AD0-8AC1-89113BB3056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213399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2901F9-C394-4AD0-8AC1-89113BB3056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874688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2901F9-C394-4AD0-8AC1-89113BB3056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709189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2901F9-C394-4AD0-8AC1-89113BB3056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731374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2901F9-C394-4AD0-8AC1-89113BB3056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350009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2901F9-C394-4AD0-8AC1-89113BB3056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565191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2901F9-C394-4AD0-8AC1-89113BB3056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64422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5DF6DD7-9C94-BFD2-A85A-E0F309285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Основы моделирования и исследования систем подводных аппаратов</a:t>
            </a:r>
          </a:p>
        </p:txBody>
      </p:sp>
    </p:spTree>
    <p:extLst>
      <p:ext uri="{BB962C8B-B14F-4D97-AF65-F5344CB8AC3E}">
        <p14:creationId xmlns:p14="http://schemas.microsoft.com/office/powerpoint/2010/main" val="25783542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B36097-2706-6BF6-9139-0C93ABDA9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808E0D6-AAE1-6B5D-9AA0-1B34B725D5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2029"/>
          </a:xfrm>
        </p:spPr>
        <p:txBody>
          <a:bodyPr>
            <a:normAutofit fontScale="90000"/>
          </a:bodyPr>
          <a:lstStyle/>
          <a:p>
            <a:r>
              <a:rPr lang="ru-RU" dirty="0"/>
              <a:t>Двигатель постоянного тока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3DF9BF0-A0D8-588C-56D0-F7F8ACF954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2901F9-C394-4AD0-8AC1-89113BB3056D}" type="slidenum">
              <a:rPr lang="ru-RU" smtClean="0"/>
              <a:pPr/>
              <a:t>2</a:t>
            </a:fld>
            <a:endParaRPr lang="ru-RU"/>
          </a:p>
        </p:txBody>
      </p:sp>
      <p:pic>
        <p:nvPicPr>
          <p:cNvPr id="19" name="Picture 5">
            <a:extLst>
              <a:ext uri="{FF2B5EF4-FFF2-40B4-BE49-F238E27FC236}">
                <a16:creationId xmlns:a16="http://schemas.microsoft.com/office/drawing/2014/main" id="{8F42D317-73B1-439A-A2DF-AA248B7AC3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794386" y="967154"/>
            <a:ext cx="6603227" cy="57981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8510734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9C193B-C33D-AF77-C04D-12A922AE4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84EF6BE-B4CA-63C4-A20A-C2E6A74D5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365126"/>
            <a:ext cx="11722100" cy="653020"/>
          </a:xfrm>
        </p:spPr>
        <p:txBody>
          <a:bodyPr>
            <a:normAutofit fontScale="90000"/>
          </a:bodyPr>
          <a:lstStyle/>
          <a:p>
            <a:r>
              <a:rPr lang="ru-RU" dirty="0"/>
              <a:t>Эквивалентная схема двигателя постоянного тока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CA451B1F-F1A1-8ACF-0B9D-0D50294806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2901F9-C394-4AD0-8AC1-89113BB3056D}" type="slidenum">
              <a:rPr lang="ru-RU" smtClean="0"/>
              <a:pPr/>
              <a:t>3</a:t>
            </a:fld>
            <a:endParaRPr lang="ru-RU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DDE83897-3E18-451B-87A6-EC10AD2F76A7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09900" y="1018147"/>
            <a:ext cx="6181725" cy="2029854"/>
          </a:xfrm>
          <a:prstGeom prst="rect">
            <a:avLst/>
          </a:prstGeom>
          <a:noFill/>
          <a:ln>
            <a:noFill/>
          </a:ln>
        </p:spPr>
      </p:pic>
      <p:pic>
        <p:nvPicPr>
          <p:cNvPr id="26" name="Picture 24">
            <a:extLst>
              <a:ext uri="{FF2B5EF4-FFF2-40B4-BE49-F238E27FC236}">
                <a16:creationId xmlns:a16="http://schemas.microsoft.com/office/drawing/2014/main" id="{425B4531-DE61-4634-8D9B-FD8A17F469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567443" y="3048001"/>
            <a:ext cx="5786358" cy="3684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7" name="Picture 25">
            <a:extLst>
              <a:ext uri="{FF2B5EF4-FFF2-40B4-BE49-F238E27FC236}">
                <a16:creationId xmlns:a16="http://schemas.microsoft.com/office/drawing/2014/main" id="{4C00DAD0-CD75-48F6-91B0-978E2E2FD4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961881" y="3048000"/>
            <a:ext cx="3293865" cy="1714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17046711-AE33-4379-88AC-35195A8DF7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933307" y="4762500"/>
            <a:ext cx="2923744" cy="19251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2818055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9C193B-C33D-AF77-C04D-12A922AE4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>
            <a:extLst>
              <a:ext uri="{FF2B5EF4-FFF2-40B4-BE49-F238E27FC236}">
                <a16:creationId xmlns:a16="http://schemas.microsoft.com/office/drawing/2014/main" id="{34A88021-ADF8-405C-9BB1-621815F0B0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76801" y="4543425"/>
            <a:ext cx="10356510" cy="16859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" name="Picture 1">
            <a:extLst>
              <a:ext uri="{FF2B5EF4-FFF2-40B4-BE49-F238E27FC236}">
                <a16:creationId xmlns:a16="http://schemas.microsoft.com/office/drawing/2014/main" id="{94192071-780F-4FBB-B1C0-FA4278015F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 l="1742"/>
          <a:stretch>
            <a:fillRect/>
          </a:stretch>
        </p:blipFill>
        <p:spPr bwMode="auto">
          <a:xfrm>
            <a:off x="676801" y="857231"/>
            <a:ext cx="10283009" cy="36099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84EF6BE-B4CA-63C4-A20A-C2E6A74D5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365126"/>
            <a:ext cx="11722100" cy="653020"/>
          </a:xfrm>
        </p:spPr>
        <p:txBody>
          <a:bodyPr>
            <a:normAutofit fontScale="90000"/>
          </a:bodyPr>
          <a:lstStyle/>
          <a:p>
            <a:r>
              <a:rPr lang="ru-RU" dirty="0"/>
              <a:t>Передаточная функция двигателя постоянного тока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CA451B1F-F1A1-8ACF-0B9D-0D50294806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2901F9-C394-4AD0-8AC1-89113BB3056D}" type="slidenum">
              <a:rPr lang="ru-RU" smtClean="0"/>
              <a:pPr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55403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9C193B-C33D-AF77-C04D-12A922AE4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84EF6BE-B4CA-63C4-A20A-C2E6A74D5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365126"/>
            <a:ext cx="11722100" cy="653020"/>
          </a:xfrm>
        </p:spPr>
        <p:txBody>
          <a:bodyPr>
            <a:normAutofit fontScale="90000"/>
          </a:bodyPr>
          <a:lstStyle/>
          <a:p>
            <a:r>
              <a:rPr lang="ru-RU" dirty="0"/>
              <a:t>Структурная схема двигателя постоянного тока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CA451B1F-F1A1-8ACF-0B9D-0D50294806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2901F9-C394-4AD0-8AC1-89113BB3056D}" type="slidenum">
              <a:rPr lang="ru-RU" smtClean="0"/>
              <a:pPr/>
              <a:t>5</a:t>
            </a:fld>
            <a:endParaRPr lang="ru-RU"/>
          </a:p>
        </p:txBody>
      </p:sp>
      <p:pic>
        <p:nvPicPr>
          <p:cNvPr id="6" name="Picture 1">
            <a:extLst>
              <a:ext uri="{FF2B5EF4-FFF2-40B4-BE49-F238E27FC236}">
                <a16:creationId xmlns:a16="http://schemas.microsoft.com/office/drawing/2014/main" id="{B76850A5-B517-4F3C-99DB-3F5BA278E6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97696" y="1018146"/>
            <a:ext cx="8596608" cy="3062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1185C390-F0A1-4B90-ABD0-FFDC2FB2CF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666875" y="4366737"/>
            <a:ext cx="9020153" cy="18224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8937917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9C193B-C33D-AF77-C04D-12A922AE4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84EF6BE-B4CA-63C4-A20A-C2E6A74D5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365126"/>
            <a:ext cx="11722100" cy="911224"/>
          </a:xfrm>
        </p:spPr>
        <p:txBody>
          <a:bodyPr>
            <a:normAutofit fontScale="90000"/>
          </a:bodyPr>
          <a:lstStyle/>
          <a:p>
            <a:r>
              <a:rPr lang="ru-RU" dirty="0"/>
              <a:t>Паспортные характеристики</a:t>
            </a:r>
            <a:br>
              <a:rPr lang="ru-RU" dirty="0"/>
            </a:br>
            <a:r>
              <a:rPr lang="ru-RU" dirty="0"/>
              <a:t> двигателя постоянного тока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CA451B1F-F1A1-8ACF-0B9D-0D50294806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2901F9-C394-4AD0-8AC1-89113BB3056D}" type="slidenum">
              <a:rPr lang="ru-RU" smtClean="0"/>
              <a:pPr/>
              <a:t>6</a:t>
            </a:fld>
            <a:endParaRPr lang="ru-RU"/>
          </a:p>
        </p:txBody>
      </p:sp>
      <p:pic>
        <p:nvPicPr>
          <p:cNvPr id="8" name="Picture 1">
            <a:extLst>
              <a:ext uri="{FF2B5EF4-FFF2-40B4-BE49-F238E27FC236}">
                <a16:creationId xmlns:a16="http://schemas.microsoft.com/office/drawing/2014/main" id="{0492DC40-641D-4049-9530-232D8799B7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 t="17051" r="39947"/>
          <a:stretch>
            <a:fillRect/>
          </a:stretch>
        </p:blipFill>
        <p:spPr bwMode="auto">
          <a:xfrm>
            <a:off x="4517335" y="1364213"/>
            <a:ext cx="7050679" cy="54940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58B89C1F-86FF-43AC-81DB-ADD14446D2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20435" y="2102502"/>
            <a:ext cx="2181225" cy="419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" name="Picture 3">
            <a:extLst>
              <a:ext uri="{FF2B5EF4-FFF2-40B4-BE49-F238E27FC236}">
                <a16:creationId xmlns:a16="http://schemas.microsoft.com/office/drawing/2014/main" id="{74EF8818-DADE-4753-8F75-23792FC432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343093" y="4645460"/>
            <a:ext cx="551093" cy="482207"/>
          </a:xfrm>
          <a:prstGeom prst="rect">
            <a:avLst/>
          </a:prstGeom>
          <a:noFill/>
          <a:ln w="38100">
            <a:solidFill>
              <a:srgbClr val="FF0000"/>
            </a:solidFill>
            <a:miter lim="800000"/>
            <a:headEnd/>
            <a:tailEnd/>
          </a:ln>
        </p:spPr>
      </p:pic>
      <p:pic>
        <p:nvPicPr>
          <p:cNvPr id="11" name="Picture 4">
            <a:extLst>
              <a:ext uri="{FF2B5EF4-FFF2-40B4-BE49-F238E27FC236}">
                <a16:creationId xmlns:a16="http://schemas.microsoft.com/office/drawing/2014/main" id="{F6A8D81A-D34B-4EA6-8CEF-CF55E45D49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674837" y="5415628"/>
            <a:ext cx="673687" cy="516712"/>
          </a:xfrm>
          <a:prstGeom prst="rect">
            <a:avLst/>
          </a:prstGeom>
          <a:noFill/>
          <a:ln w="38100">
            <a:solidFill>
              <a:srgbClr val="FF0000"/>
            </a:solidFill>
            <a:miter lim="800000"/>
            <a:headEnd/>
            <a:tailEnd/>
          </a:ln>
        </p:spPr>
      </p:pic>
      <p:pic>
        <p:nvPicPr>
          <p:cNvPr id="12" name="Picture 5">
            <a:extLst>
              <a:ext uri="{FF2B5EF4-FFF2-40B4-BE49-F238E27FC236}">
                <a16:creationId xmlns:a16="http://schemas.microsoft.com/office/drawing/2014/main" id="{646DD2CB-7FE8-43CF-A415-DAAA38F580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455279" y="4121426"/>
            <a:ext cx="428628" cy="484536"/>
          </a:xfrm>
          <a:prstGeom prst="rect">
            <a:avLst/>
          </a:prstGeom>
          <a:noFill/>
          <a:ln w="38100">
            <a:solidFill>
              <a:srgbClr val="FF0000"/>
            </a:solidFill>
            <a:miter lim="800000"/>
            <a:headEnd/>
            <a:tailEnd/>
          </a:ln>
        </p:spPr>
      </p:pic>
      <p:pic>
        <p:nvPicPr>
          <p:cNvPr id="13" name="Picture 6">
            <a:extLst>
              <a:ext uri="{FF2B5EF4-FFF2-40B4-BE49-F238E27FC236}">
                <a16:creationId xmlns:a16="http://schemas.microsoft.com/office/drawing/2014/main" id="{0F738D3D-F8B9-453A-A083-392BE99F19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1698847" y="3244873"/>
            <a:ext cx="512731" cy="438152"/>
          </a:xfrm>
          <a:prstGeom prst="rect">
            <a:avLst/>
          </a:prstGeom>
          <a:noFill/>
          <a:ln w="38100">
            <a:solidFill>
              <a:srgbClr val="FF0000"/>
            </a:solidFill>
            <a:miter lim="800000"/>
            <a:headEnd/>
            <a:tailEnd/>
          </a:ln>
        </p:spPr>
      </p:pic>
      <p:pic>
        <p:nvPicPr>
          <p:cNvPr id="14" name="Picture 7">
            <a:extLst>
              <a:ext uri="{FF2B5EF4-FFF2-40B4-BE49-F238E27FC236}">
                <a16:creationId xmlns:a16="http://schemas.microsoft.com/office/drawing/2014/main" id="{DE30207A-C1CF-4D2E-BEB8-AD76CC104E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1612367" y="6143179"/>
            <a:ext cx="381840" cy="414337"/>
          </a:xfrm>
          <a:prstGeom prst="rect">
            <a:avLst/>
          </a:prstGeom>
          <a:noFill/>
          <a:ln w="38100">
            <a:solidFill>
              <a:srgbClr val="FF0000"/>
            </a:solidFill>
            <a:miter lim="800000"/>
            <a:headEnd/>
            <a:tailEnd/>
          </a:ln>
        </p:spPr>
      </p:pic>
      <p:cxnSp>
        <p:nvCxnSpPr>
          <p:cNvPr id="15" name="Прямая со стрелкой 14">
            <a:extLst>
              <a:ext uri="{FF2B5EF4-FFF2-40B4-BE49-F238E27FC236}">
                <a16:creationId xmlns:a16="http://schemas.microsoft.com/office/drawing/2014/main" id="{2D83F6A5-7A05-4929-8608-3C099195361D}"/>
              </a:ext>
            </a:extLst>
          </p:cNvPr>
          <p:cNvCxnSpPr>
            <a:cxnSpLocks/>
            <a:stCxn id="13" idx="3"/>
          </p:cNvCxnSpPr>
          <p:nvPr/>
        </p:nvCxnSpPr>
        <p:spPr>
          <a:xfrm>
            <a:off x="2211578" y="3463949"/>
            <a:ext cx="2455672" cy="152899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Прямая со стрелкой 15">
            <a:extLst>
              <a:ext uri="{FF2B5EF4-FFF2-40B4-BE49-F238E27FC236}">
                <a16:creationId xmlns:a16="http://schemas.microsoft.com/office/drawing/2014/main" id="{412FC8A0-2310-4720-BCBB-856D585273C9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2883907" y="4363694"/>
            <a:ext cx="1783343" cy="867403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 стрелкой 16">
            <a:extLst>
              <a:ext uri="{FF2B5EF4-FFF2-40B4-BE49-F238E27FC236}">
                <a16:creationId xmlns:a16="http://schemas.microsoft.com/office/drawing/2014/main" id="{83062E7C-F1B8-40E6-B662-D7129659AABB}"/>
              </a:ext>
            </a:extLst>
          </p:cNvPr>
          <p:cNvCxnSpPr>
            <a:cxnSpLocks/>
            <a:stCxn id="10" idx="3"/>
          </p:cNvCxnSpPr>
          <p:nvPr/>
        </p:nvCxnSpPr>
        <p:spPr>
          <a:xfrm>
            <a:off x="1894186" y="4886564"/>
            <a:ext cx="2773064" cy="595972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Прямая со стрелкой 17">
            <a:extLst>
              <a:ext uri="{FF2B5EF4-FFF2-40B4-BE49-F238E27FC236}">
                <a16:creationId xmlns:a16="http://schemas.microsoft.com/office/drawing/2014/main" id="{F4479E78-73BE-4EE3-9E41-0F178D83EAA4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3348524" y="5673984"/>
            <a:ext cx="1318726" cy="49656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 стрелкой 18">
            <a:extLst>
              <a:ext uri="{FF2B5EF4-FFF2-40B4-BE49-F238E27FC236}">
                <a16:creationId xmlns:a16="http://schemas.microsoft.com/office/drawing/2014/main" id="{F28FEDA3-2803-4E08-8DAC-BC9C42194846}"/>
              </a:ext>
            </a:extLst>
          </p:cNvPr>
          <p:cNvCxnSpPr>
            <a:cxnSpLocks/>
            <a:stCxn id="14" idx="3"/>
          </p:cNvCxnSpPr>
          <p:nvPr/>
        </p:nvCxnSpPr>
        <p:spPr>
          <a:xfrm>
            <a:off x="1994207" y="6350348"/>
            <a:ext cx="2673043" cy="142526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70580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9C193B-C33D-AF77-C04D-12A922AE4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4">
            <a:extLst>
              <a:ext uri="{FF2B5EF4-FFF2-40B4-BE49-F238E27FC236}">
                <a16:creationId xmlns:a16="http://schemas.microsoft.com/office/drawing/2014/main" id="{DDB7D707-BE53-4B05-9765-8F640E3071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33403" y="1276350"/>
            <a:ext cx="8995194" cy="27241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84EF6BE-B4CA-63C4-A20A-C2E6A74D5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365126"/>
            <a:ext cx="11722100" cy="911224"/>
          </a:xfrm>
        </p:spPr>
        <p:txBody>
          <a:bodyPr>
            <a:normAutofit fontScale="90000"/>
          </a:bodyPr>
          <a:lstStyle/>
          <a:p>
            <a:r>
              <a:rPr lang="ru-RU" dirty="0"/>
              <a:t>Механическая характеристика</a:t>
            </a:r>
            <a:br>
              <a:rPr lang="ru-RU" dirty="0"/>
            </a:br>
            <a:r>
              <a:rPr lang="ru-RU" dirty="0"/>
              <a:t> двигателя постоянного тока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CA451B1F-F1A1-8ACF-0B9D-0D50294806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2901F9-C394-4AD0-8AC1-89113BB3056D}" type="slidenum">
              <a:rPr lang="ru-RU" smtClean="0"/>
              <a:pPr/>
              <a:t>7</a:t>
            </a:fld>
            <a:endParaRPr lang="ru-RU"/>
          </a:p>
        </p:txBody>
      </p:sp>
      <p:pic>
        <p:nvPicPr>
          <p:cNvPr id="21" name="Picture 5">
            <a:extLst>
              <a:ext uri="{FF2B5EF4-FFF2-40B4-BE49-F238E27FC236}">
                <a16:creationId xmlns:a16="http://schemas.microsoft.com/office/drawing/2014/main" id="{29F97CF6-E4C6-4B96-B4A3-304B73F852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228224" y="3265373"/>
            <a:ext cx="3571245" cy="33805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2" name="Picture 6">
            <a:extLst>
              <a:ext uri="{FF2B5EF4-FFF2-40B4-BE49-F238E27FC236}">
                <a16:creationId xmlns:a16="http://schemas.microsoft.com/office/drawing/2014/main" id="{BC8F7BD1-936C-4C66-8C0C-0B62711688C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/>
          <a:srcRect t="8827" r="19199"/>
          <a:stretch/>
        </p:blipFill>
        <p:spPr bwMode="auto">
          <a:xfrm>
            <a:off x="7892059" y="3177535"/>
            <a:ext cx="3714750" cy="34683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39825733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5CCC7-E79F-3AE6-9212-E8DB1038B8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45CAC8EC-8F2C-BB9E-9B05-382C98C2354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7D5DE7D-8C88-BDD8-DFB2-A0AD4D29C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Задача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483531CD-CF08-C99D-FA61-4AAB801BB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2901F9-C394-4AD0-8AC1-89113BB3056D}" type="slidenum">
              <a:rPr lang="ru-RU" smtClean="0"/>
              <a:pPr/>
              <a:t>8</a:t>
            </a:fld>
            <a:endParaRPr lang="ru-RU"/>
          </a:p>
        </p:txBody>
      </p:sp>
      <p:sp>
        <p:nvSpPr>
          <p:cNvPr id="5" name="Содержимое 2">
            <a:extLst>
              <a:ext uri="{FF2B5EF4-FFF2-40B4-BE49-F238E27FC236}">
                <a16:creationId xmlns:a16="http://schemas.microsoft.com/office/drawing/2014/main" id="{042FDA9B-7D1F-2BD1-F1EE-391258C0F112}"/>
              </a:ext>
            </a:extLst>
          </p:cNvPr>
          <p:cNvSpPr txBox="1">
            <a:spLocks/>
          </p:cNvSpPr>
          <p:nvPr/>
        </p:nvSpPr>
        <p:spPr>
          <a:xfrm>
            <a:off x="540062" y="967154"/>
            <a:ext cx="11319756" cy="84735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dirty="0">
                <a:latin typeface="Arial" pitchFamily="34" charset="0"/>
                <a:cs typeface="Arial" pitchFamily="34" charset="0"/>
              </a:rPr>
              <a:t>Построить модель заданного двигателя и определить момент на валу двигателя при скорости вращения вала 2/3 от номинальной.</a:t>
            </a:r>
          </a:p>
        </p:txBody>
      </p:sp>
      <p:pic>
        <p:nvPicPr>
          <p:cNvPr id="7" name="Picture 1">
            <a:extLst>
              <a:ext uri="{FF2B5EF4-FFF2-40B4-BE49-F238E27FC236}">
                <a16:creationId xmlns:a16="http://schemas.microsoft.com/office/drawing/2014/main" id="{D2A67786-69D6-4589-B9AF-7C744A0C96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30103" y="1814506"/>
            <a:ext cx="8731794" cy="39576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Содержимое 2">
            <a:extLst>
              <a:ext uri="{FF2B5EF4-FFF2-40B4-BE49-F238E27FC236}">
                <a16:creationId xmlns:a16="http://schemas.microsoft.com/office/drawing/2014/main" id="{D4678F30-DA21-4C9C-AEAD-8E20F6A865CC}"/>
              </a:ext>
            </a:extLst>
          </p:cNvPr>
          <p:cNvSpPr txBox="1">
            <a:spLocks/>
          </p:cNvSpPr>
          <p:nvPr/>
        </p:nvSpPr>
        <p:spPr>
          <a:xfrm>
            <a:off x="436122" y="5786431"/>
            <a:ext cx="11319756" cy="98584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dirty="0">
                <a:latin typeface="Arial" pitchFamily="34" charset="0"/>
                <a:cs typeface="Arial" pitchFamily="34" charset="0"/>
              </a:rPr>
              <a:t>Четные номера в списке – двигатель 268214;</a:t>
            </a:r>
          </a:p>
          <a:p>
            <a:pPr marL="0" indent="0">
              <a:buNone/>
            </a:pPr>
            <a:r>
              <a:rPr lang="ru-RU" dirty="0">
                <a:latin typeface="Arial" pitchFamily="34" charset="0"/>
                <a:cs typeface="Arial" pitchFamily="34" charset="0"/>
              </a:rPr>
              <a:t>Нечетные номера в списке – двигатель 268213.</a:t>
            </a:r>
          </a:p>
        </p:txBody>
      </p:sp>
    </p:spTree>
    <p:extLst>
      <p:ext uri="{BB962C8B-B14F-4D97-AF65-F5344CB8AC3E}">
        <p14:creationId xmlns:p14="http://schemas.microsoft.com/office/powerpoint/2010/main" val="129250318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плый синий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1523</TotalTime>
  <Words>71</Words>
  <Application>Microsoft Office PowerPoint</Application>
  <PresentationFormat>Широкоэкранный</PresentationFormat>
  <Paragraphs>18</Paragraphs>
  <Slides>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Тема Office</vt:lpstr>
      <vt:lpstr>Основы моделирования и исследования систем подводных аппаратов</vt:lpstr>
      <vt:lpstr>Двигатель постоянного тока</vt:lpstr>
      <vt:lpstr>Эквивалентная схема двигателя постоянного тока</vt:lpstr>
      <vt:lpstr>Передаточная функция двигателя постоянного тока</vt:lpstr>
      <vt:lpstr>Структурная схема двигателя постоянного тока</vt:lpstr>
      <vt:lpstr>Паспортные характеристики  двигателя постоянного тока</vt:lpstr>
      <vt:lpstr>Механическая характеристика  двигателя постоянного тока</vt:lpstr>
      <vt:lpstr>Задача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Основы моделирования и исследования систем подводных аппаратов</dc:title>
  <dc:creator>Анна Сергеевна Ромашко</dc:creator>
  <cp:lastModifiedBy>Анна Ромашко</cp:lastModifiedBy>
  <cp:revision>49</cp:revision>
  <dcterms:created xsi:type="dcterms:W3CDTF">2026-08-31T05:10:56Z</dcterms:created>
  <dcterms:modified xsi:type="dcterms:W3CDTF">2026-09-06T08:05:18Z</dcterms:modified>
</cp:coreProperties>
</file>