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17"/>
  </p:notesMasterIdLst>
  <p:sldIdLst>
    <p:sldId id="258" r:id="rId2"/>
    <p:sldId id="296" r:id="rId3"/>
    <p:sldId id="313" r:id="rId4"/>
    <p:sldId id="320" r:id="rId5"/>
    <p:sldId id="321" r:id="rId6"/>
    <p:sldId id="323" r:id="rId7"/>
    <p:sldId id="322" r:id="rId8"/>
    <p:sldId id="324" r:id="rId9"/>
    <p:sldId id="325" r:id="rId10"/>
    <p:sldId id="326" r:id="rId11"/>
    <p:sldId id="327" r:id="rId12"/>
    <p:sldId id="295" r:id="rId13"/>
    <p:sldId id="319" r:id="rId14"/>
    <p:sldId id="328" r:id="rId15"/>
    <p:sldId id="329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CABCE"/>
    <a:srgbClr val="54A3D8"/>
    <a:srgbClr val="EDF583"/>
    <a:srgbClr val="61E995"/>
    <a:srgbClr val="8DEFB2"/>
    <a:srgbClr val="EEB646"/>
    <a:srgbClr val="63CDDF"/>
    <a:srgbClr val="F57041"/>
    <a:srgbClr val="F4671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799B23B-EC83-4686-B30A-512413B5E67A}" styleName="Светлый стиль 3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87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B5F00A-51B7-4331-8B21-77675F9FED1E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28AACF-F7CE-4699-9710-58C08EA487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57655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47508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0378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 algn="ctr">
              <a:defRPr sz="60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7385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6622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23251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2029"/>
          </a:xfrm>
        </p:spPr>
        <p:txBody>
          <a:bodyPr/>
          <a:lstStyle>
            <a:lvl1pPr algn="ctr"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353800" y="6322573"/>
            <a:ext cx="506018" cy="365125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fld id="{862901F9-C394-4AD0-8AC1-89113BB3056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13399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7468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09189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31374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5000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65191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2901F9-C394-4AD0-8AC1-89113BB305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6442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DF6DD7-9C94-BFD2-A85A-E0F309285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Основы моделирования и исследования систем подводных аппаратов</a:t>
            </a:r>
          </a:p>
        </p:txBody>
      </p:sp>
    </p:spTree>
    <p:extLst>
      <p:ext uri="{BB962C8B-B14F-4D97-AF65-F5344CB8AC3E}">
        <p14:creationId xmlns:p14="http://schemas.microsoft.com/office/powerpoint/2010/main" val="25783542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36097-2706-6BF6-9139-0C93ABDA9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08E0D6-AAE1-6B5D-9AA0-1B34B725D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109" y="365125"/>
            <a:ext cx="11892591" cy="602029"/>
          </a:xfrm>
        </p:spPr>
        <p:txBody>
          <a:bodyPr>
            <a:normAutofit fontScale="90000"/>
          </a:bodyPr>
          <a:lstStyle/>
          <a:p>
            <a:r>
              <a:rPr lang="ru-RU" dirty="0"/>
              <a:t>Математическая модель подводного аппарата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3DF9BF0-A0D8-588C-56D0-F7F8ACF95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pPr/>
              <a:t>2</a:t>
            </a:fld>
            <a:endParaRPr lang="ru-RU"/>
          </a:p>
        </p:txBody>
      </p:sp>
      <p:sp>
        <p:nvSpPr>
          <p:cNvPr id="6" name="Объект 4">
            <a:extLst>
              <a:ext uri="{FF2B5EF4-FFF2-40B4-BE49-F238E27FC236}">
                <a16:creationId xmlns:a16="http://schemas.microsoft.com/office/drawing/2014/main" id="{1C7C2FFF-DD83-4A71-8C42-F542E5A1DA7A}"/>
              </a:ext>
            </a:extLst>
          </p:cNvPr>
          <p:cNvSpPr txBox="1">
            <a:spLocks/>
          </p:cNvSpPr>
          <p:nvPr/>
        </p:nvSpPr>
        <p:spPr>
          <a:xfrm>
            <a:off x="390578" y="1187776"/>
            <a:ext cx="11469239" cy="542762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2296" indent="0">
              <a:buFont typeface="Arial" panose="020B0604020202020204" pitchFamily="34" charset="0"/>
              <a:buNone/>
            </a:pPr>
            <a:r>
              <a:rPr lang="ru-RU" dirty="0">
                <a:solidFill>
                  <a:schemeClr val="bg2">
                    <a:lumMod val="50000"/>
                  </a:schemeClr>
                </a:solidFill>
              </a:rPr>
              <a:t>Цель разработки математической модели  ПА</a:t>
            </a:r>
            <a:r>
              <a:rPr lang="ru-RU" dirty="0"/>
              <a:t>: разработка упрощенной модели ПА, для которой возможно известными методами синтезировать систему управления и навигационную систему ПА.</a:t>
            </a:r>
          </a:p>
          <a:p>
            <a:pPr marL="82296" indent="0">
              <a:buFont typeface="Arial" panose="020B0604020202020204" pitchFamily="34" charset="0"/>
              <a:buNone/>
            </a:pPr>
            <a:endParaRPr lang="ru-RU" dirty="0"/>
          </a:p>
          <a:p>
            <a:pPr marL="82296" indent="0">
              <a:buFont typeface="Arial" panose="020B0604020202020204" pitchFamily="34" charset="0"/>
              <a:buNone/>
            </a:pPr>
            <a:r>
              <a:rPr lang="ru-RU" dirty="0">
                <a:solidFill>
                  <a:schemeClr val="bg2">
                    <a:lumMod val="50000"/>
                  </a:schemeClr>
                </a:solidFill>
              </a:rPr>
              <a:t>Этапы разработки математической модели ПА:</a:t>
            </a:r>
          </a:p>
          <a:p>
            <a:pPr marL="596646" indent="-514350">
              <a:buFont typeface="+mj-lt"/>
              <a:buAutoNum type="arabicPeriod"/>
            </a:pPr>
            <a:r>
              <a:rPr lang="ru-RU" dirty="0"/>
              <a:t>Построение физической модели ПА;</a:t>
            </a:r>
          </a:p>
          <a:p>
            <a:pPr marL="596646" indent="-514350">
              <a:buFont typeface="+mj-lt"/>
              <a:buAutoNum type="arabicPeriod"/>
            </a:pPr>
            <a:r>
              <a:rPr lang="ru-RU" dirty="0"/>
              <a:t>Разделение физической модели ПА по степеням свободы ПА с учетом некоторых допущений (контура) ;</a:t>
            </a:r>
          </a:p>
          <a:p>
            <a:pPr marL="596646" indent="-514350">
              <a:buFont typeface="+mj-lt"/>
              <a:buAutoNum type="arabicPeriod"/>
            </a:pPr>
            <a:r>
              <a:rPr lang="ru-RU" dirty="0"/>
              <a:t>Построение модели ПА для отдельного контура;</a:t>
            </a:r>
          </a:p>
          <a:p>
            <a:pPr marL="596646" indent="-514350">
              <a:buFont typeface="+mj-lt"/>
              <a:buAutoNum type="arabicPeriod"/>
            </a:pPr>
            <a:r>
              <a:rPr lang="ru-RU" dirty="0"/>
              <a:t>Упрощение модели ПА в отдельном контуре путем линеаризации с целью привидения к известным передаточным функциям.</a:t>
            </a:r>
          </a:p>
        </p:txBody>
      </p:sp>
    </p:spTree>
    <p:extLst>
      <p:ext uri="{BB962C8B-B14F-4D97-AF65-F5344CB8AC3E}">
        <p14:creationId xmlns:p14="http://schemas.microsoft.com/office/powerpoint/2010/main" val="18510734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36097-2706-6BF6-9139-0C93ABDA9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08E0D6-AAE1-6B5D-9AA0-1B34B725D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109" y="365125"/>
            <a:ext cx="11892591" cy="602029"/>
          </a:xfrm>
        </p:spPr>
        <p:txBody>
          <a:bodyPr>
            <a:normAutofit fontScale="90000"/>
          </a:bodyPr>
          <a:lstStyle/>
          <a:p>
            <a:r>
              <a:rPr lang="ru-RU" dirty="0"/>
              <a:t>Системы координат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3DF9BF0-A0D8-588C-56D0-F7F8ACF95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pPr/>
              <a:t>3</a:t>
            </a:fld>
            <a:endParaRPr lang="ru-RU"/>
          </a:p>
        </p:txBody>
      </p:sp>
      <p:cxnSp>
        <p:nvCxnSpPr>
          <p:cNvPr id="6" name="Прямая со стрелкой 5">
            <a:extLst>
              <a:ext uri="{FF2B5EF4-FFF2-40B4-BE49-F238E27FC236}">
                <a16:creationId xmlns:a16="http://schemas.microsoft.com/office/drawing/2014/main" id="{8767BD0C-3FE8-4BA2-A3C1-843149CA8F51}"/>
              </a:ext>
            </a:extLst>
          </p:cNvPr>
          <p:cNvCxnSpPr>
            <a:cxnSpLocks/>
          </p:cNvCxnSpPr>
          <p:nvPr/>
        </p:nvCxnSpPr>
        <p:spPr>
          <a:xfrm flipV="1">
            <a:off x="1788824" y="1647495"/>
            <a:ext cx="0" cy="132208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Прямая со стрелкой 6">
            <a:extLst>
              <a:ext uri="{FF2B5EF4-FFF2-40B4-BE49-F238E27FC236}">
                <a16:creationId xmlns:a16="http://schemas.microsoft.com/office/drawing/2014/main" id="{54AEE18F-CD01-4968-89DB-746C25D2F860}"/>
              </a:ext>
            </a:extLst>
          </p:cNvPr>
          <p:cNvCxnSpPr>
            <a:cxnSpLocks/>
          </p:cNvCxnSpPr>
          <p:nvPr/>
        </p:nvCxnSpPr>
        <p:spPr>
          <a:xfrm>
            <a:off x="1788824" y="2969580"/>
            <a:ext cx="1246636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7A2A3DB7-C615-4E12-A585-6DA8BBCE037F}"/>
              </a:ext>
            </a:extLst>
          </p:cNvPr>
          <p:cNvCxnSpPr>
            <a:cxnSpLocks/>
          </p:cNvCxnSpPr>
          <p:nvPr/>
        </p:nvCxnSpPr>
        <p:spPr>
          <a:xfrm flipH="1">
            <a:off x="1139181" y="2969580"/>
            <a:ext cx="649643" cy="82416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C6986CA-AB61-4CC9-903C-32CA0920AEDF}"/>
                  </a:ext>
                </a:extLst>
              </p:cNvPr>
              <p:cNvSpPr txBox="1"/>
              <p:nvPr/>
            </p:nvSpPr>
            <p:spPr>
              <a:xfrm>
                <a:off x="1692777" y="3006116"/>
                <a:ext cx="288032" cy="3907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C6986CA-AB61-4CC9-903C-32CA0920AE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2777" y="3006116"/>
                <a:ext cx="288032" cy="390748"/>
              </a:xfrm>
              <a:prstGeom prst="rect">
                <a:avLst/>
              </a:prstGeom>
              <a:blipFill>
                <a:blip r:embed="rId2"/>
                <a:stretch>
                  <a:fillRect r="-38298" b="-468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406BE39-1E4E-4E75-AE82-20565D96BFA5}"/>
                  </a:ext>
                </a:extLst>
              </p:cNvPr>
              <p:cNvSpPr txBox="1"/>
              <p:nvPr/>
            </p:nvSpPr>
            <p:spPr>
              <a:xfrm>
                <a:off x="3052158" y="2797348"/>
                <a:ext cx="288032" cy="3907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406BE39-1E4E-4E75-AE82-20565D96BF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2158" y="2797348"/>
                <a:ext cx="288032" cy="390748"/>
              </a:xfrm>
              <a:prstGeom prst="rect">
                <a:avLst/>
              </a:prstGeom>
              <a:blipFill>
                <a:blip r:embed="rId3"/>
                <a:stretch>
                  <a:fillRect l="-6383" r="-27660" b="-781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10C6CD8-C8F7-471F-941B-6299CBC69950}"/>
                  </a:ext>
                </a:extLst>
              </p:cNvPr>
              <p:cNvSpPr txBox="1"/>
              <p:nvPr/>
            </p:nvSpPr>
            <p:spPr>
              <a:xfrm>
                <a:off x="867109" y="3751884"/>
                <a:ext cx="288032" cy="3907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𝜁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10C6CD8-C8F7-471F-941B-6299CBC699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109" y="3751884"/>
                <a:ext cx="288032" cy="390748"/>
              </a:xfrm>
              <a:prstGeom prst="rect">
                <a:avLst/>
              </a:prstGeom>
              <a:blipFill>
                <a:blip r:embed="rId4"/>
                <a:stretch>
                  <a:fillRect l="-4255" r="-25532" b="-615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A2F7F1A-7ADB-41FB-A38F-EFFCA60C0E77}"/>
                  </a:ext>
                </a:extLst>
              </p:cNvPr>
              <p:cNvSpPr txBox="1"/>
              <p:nvPr/>
            </p:nvSpPr>
            <p:spPr>
              <a:xfrm>
                <a:off x="1464002" y="1291527"/>
                <a:ext cx="288032" cy="3907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A2F7F1A-7ADB-41FB-A38F-EFFCA60C0E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4002" y="1291527"/>
                <a:ext cx="288032" cy="390748"/>
              </a:xfrm>
              <a:prstGeom prst="rect">
                <a:avLst/>
              </a:prstGeom>
              <a:blipFill>
                <a:blip r:embed="rId5"/>
                <a:stretch>
                  <a:fillRect r="-34043" b="-312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4">
            <a:extLst>
              <a:ext uri="{FF2B5EF4-FFF2-40B4-BE49-F238E27FC236}">
                <a16:creationId xmlns:a16="http://schemas.microsoft.com/office/drawing/2014/main" id="{6D1AB358-8931-496E-B5ED-3F5C892EEF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862031">
            <a:off x="4555910" y="1725445"/>
            <a:ext cx="3550927" cy="2459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1731658F-9AF0-4115-9C63-AC3F434D64A0}"/>
              </a:ext>
            </a:extLst>
          </p:cNvPr>
          <p:cNvCxnSpPr>
            <a:cxnSpLocks/>
          </p:cNvCxnSpPr>
          <p:nvPr/>
        </p:nvCxnSpPr>
        <p:spPr>
          <a:xfrm flipV="1">
            <a:off x="5862615" y="1177356"/>
            <a:ext cx="9948" cy="164689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14028F7C-85EB-4DFC-824C-3C92EEB7D64F}"/>
              </a:ext>
            </a:extLst>
          </p:cNvPr>
          <p:cNvCxnSpPr>
            <a:cxnSpLocks/>
          </p:cNvCxnSpPr>
          <p:nvPr/>
        </p:nvCxnSpPr>
        <p:spPr>
          <a:xfrm flipH="1">
            <a:off x="4690926" y="2824248"/>
            <a:ext cx="1171689" cy="151323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Прямая со стрелкой 16">
            <a:extLst>
              <a:ext uri="{FF2B5EF4-FFF2-40B4-BE49-F238E27FC236}">
                <a16:creationId xmlns:a16="http://schemas.microsoft.com/office/drawing/2014/main" id="{70A0BC62-1F80-4B8D-AF01-434BCD66DC19}"/>
              </a:ext>
            </a:extLst>
          </p:cNvPr>
          <p:cNvCxnSpPr>
            <a:cxnSpLocks/>
            <a:endCxn id="23" idx="1"/>
          </p:cNvCxnSpPr>
          <p:nvPr/>
        </p:nvCxnSpPr>
        <p:spPr>
          <a:xfrm flipV="1">
            <a:off x="5862615" y="2813541"/>
            <a:ext cx="3336280" cy="1070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C100F847-3515-4411-8421-5D637CD2B4BF}"/>
              </a:ext>
            </a:extLst>
          </p:cNvPr>
          <p:cNvCxnSpPr>
            <a:cxnSpLocks/>
          </p:cNvCxnSpPr>
          <p:nvPr/>
        </p:nvCxnSpPr>
        <p:spPr>
          <a:xfrm flipH="1" flipV="1">
            <a:off x="5048375" y="1548386"/>
            <a:ext cx="814241" cy="127586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2D37123E-4A52-4C94-ACA9-BE9A7DB1E0C6}"/>
              </a:ext>
            </a:extLst>
          </p:cNvPr>
          <p:cNvCxnSpPr>
            <a:cxnSpLocks/>
          </p:cNvCxnSpPr>
          <p:nvPr/>
        </p:nvCxnSpPr>
        <p:spPr>
          <a:xfrm flipV="1">
            <a:off x="5862615" y="1814924"/>
            <a:ext cx="3240360" cy="100932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Прямая со стрелкой 19">
            <a:extLst>
              <a:ext uri="{FF2B5EF4-FFF2-40B4-BE49-F238E27FC236}">
                <a16:creationId xmlns:a16="http://schemas.microsoft.com/office/drawing/2014/main" id="{F83F3D96-45DB-4D88-B5CD-840B10BB4543}"/>
              </a:ext>
            </a:extLst>
          </p:cNvPr>
          <p:cNvCxnSpPr>
            <a:cxnSpLocks/>
          </p:cNvCxnSpPr>
          <p:nvPr/>
        </p:nvCxnSpPr>
        <p:spPr>
          <a:xfrm flipH="1">
            <a:off x="5574584" y="2824248"/>
            <a:ext cx="288031" cy="172376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D9A59B8-ACF3-4698-AC1A-E213763D6CC5}"/>
                  </a:ext>
                </a:extLst>
              </p:cNvPr>
              <p:cNvSpPr txBox="1"/>
              <p:nvPr/>
            </p:nvSpPr>
            <p:spPr>
              <a:xfrm>
                <a:off x="5933851" y="947778"/>
                <a:ext cx="2880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D9A59B8-ACF3-4698-AC1A-E213763D6C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3851" y="947778"/>
                <a:ext cx="288032" cy="369332"/>
              </a:xfrm>
              <a:prstGeom prst="rect">
                <a:avLst/>
              </a:prstGeom>
              <a:blipFill>
                <a:blip r:embed="rId7"/>
                <a:stretch>
                  <a:fillRect r="-2083" b="-655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9967187-1F44-4A7A-B900-236C12D07F2A}"/>
                  </a:ext>
                </a:extLst>
              </p:cNvPr>
              <p:cNvSpPr txBox="1"/>
              <p:nvPr/>
            </p:nvSpPr>
            <p:spPr>
              <a:xfrm>
                <a:off x="9198895" y="2628875"/>
                <a:ext cx="2880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𝜉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9967187-1F44-4A7A-B900-236C12D07F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8895" y="2628875"/>
                <a:ext cx="288032" cy="369332"/>
              </a:xfrm>
              <a:prstGeom prst="rect">
                <a:avLst/>
              </a:prstGeom>
              <a:blipFill>
                <a:blip r:embed="rId8"/>
                <a:stretch>
                  <a:fillRect l="-6383" r="-8511" b="-1311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DD404C9-E582-45B5-9215-39BC45CF8826}"/>
                  </a:ext>
                </a:extLst>
              </p:cNvPr>
              <p:cNvSpPr txBox="1"/>
              <p:nvPr/>
            </p:nvSpPr>
            <p:spPr>
              <a:xfrm>
                <a:off x="4366678" y="4194218"/>
                <a:ext cx="2880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𝜁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DD404C9-E582-45B5-9215-39BC45CF88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6678" y="4194218"/>
                <a:ext cx="288032" cy="369332"/>
              </a:xfrm>
              <a:prstGeom prst="rect">
                <a:avLst/>
              </a:prstGeom>
              <a:blipFill>
                <a:blip r:embed="rId9"/>
                <a:stretch>
                  <a:fillRect l="-4167" r="-6250" b="-1147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5373D45-163C-4F1C-839F-6676CA4FBBB6}"/>
                  </a:ext>
                </a:extLst>
              </p:cNvPr>
              <p:cNvSpPr txBox="1"/>
              <p:nvPr/>
            </p:nvSpPr>
            <p:spPr>
              <a:xfrm>
                <a:off x="5830910" y="2770649"/>
                <a:ext cx="2880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ПА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5373D45-163C-4F1C-839F-6676CA4FBB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0910" y="2770649"/>
                <a:ext cx="288032" cy="369332"/>
              </a:xfrm>
              <a:prstGeom prst="rect">
                <a:avLst/>
              </a:prstGeom>
              <a:blipFill>
                <a:blip r:embed="rId10"/>
                <a:stretch>
                  <a:fillRect r="-8085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Прямая со стрелкой 25">
            <a:extLst>
              <a:ext uri="{FF2B5EF4-FFF2-40B4-BE49-F238E27FC236}">
                <a16:creationId xmlns:a16="http://schemas.microsoft.com/office/drawing/2014/main" id="{A231FA5E-1645-4600-AE97-AF2012AA344E}"/>
              </a:ext>
            </a:extLst>
          </p:cNvPr>
          <p:cNvCxnSpPr>
            <a:cxnSpLocks/>
          </p:cNvCxnSpPr>
          <p:nvPr/>
        </p:nvCxnSpPr>
        <p:spPr>
          <a:xfrm flipV="1">
            <a:off x="5862614" y="2341491"/>
            <a:ext cx="3240361" cy="47205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DFA3F54-C613-4644-BBA9-015AD7C74D26}"/>
                  </a:ext>
                </a:extLst>
              </p:cNvPr>
              <p:cNvSpPr txBox="1"/>
              <p:nvPr/>
            </p:nvSpPr>
            <p:spPr>
              <a:xfrm>
                <a:off x="9102975" y="1593814"/>
                <a:ext cx="2880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DFA3F54-C613-4644-BBA9-015AD7C74D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2975" y="1593814"/>
                <a:ext cx="288032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4E96015-F023-4744-81A4-4D7D196BC593}"/>
                  </a:ext>
                </a:extLst>
              </p:cNvPr>
              <p:cNvSpPr txBox="1"/>
              <p:nvPr/>
            </p:nvSpPr>
            <p:spPr>
              <a:xfrm>
                <a:off x="5535460" y="4460153"/>
                <a:ext cx="2880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4E96015-F023-4744-81A4-4D7D196BC5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5460" y="4460153"/>
                <a:ext cx="288032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62E84DE-DE96-478F-B6AE-B4417BC15782}"/>
                  </a:ext>
                </a:extLst>
              </p:cNvPr>
              <p:cNvSpPr txBox="1"/>
              <p:nvPr/>
            </p:nvSpPr>
            <p:spPr>
              <a:xfrm>
                <a:off x="4687335" y="1317110"/>
                <a:ext cx="2880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62E84DE-DE96-478F-B6AE-B4417BC157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7335" y="1317110"/>
                <a:ext cx="288032" cy="369332"/>
              </a:xfrm>
              <a:prstGeom prst="rect">
                <a:avLst/>
              </a:prstGeom>
              <a:blipFill>
                <a:blip r:embed="rId13"/>
                <a:stretch>
                  <a:fillRect r="-6383" b="-655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Прямая со стрелкой 29">
            <a:extLst>
              <a:ext uri="{FF2B5EF4-FFF2-40B4-BE49-F238E27FC236}">
                <a16:creationId xmlns:a16="http://schemas.microsoft.com/office/drawing/2014/main" id="{52919447-17DA-42AB-AC79-AD603C9CB2F8}"/>
              </a:ext>
            </a:extLst>
          </p:cNvPr>
          <p:cNvCxnSpPr>
            <a:cxnSpLocks/>
          </p:cNvCxnSpPr>
          <p:nvPr/>
        </p:nvCxnSpPr>
        <p:spPr>
          <a:xfrm flipH="1" flipV="1">
            <a:off x="5482424" y="1300311"/>
            <a:ext cx="380189" cy="150252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Прямая со стрелкой 30">
            <a:extLst>
              <a:ext uri="{FF2B5EF4-FFF2-40B4-BE49-F238E27FC236}">
                <a16:creationId xmlns:a16="http://schemas.microsoft.com/office/drawing/2014/main" id="{CDAE4544-ED2B-427C-8949-429F71A52829}"/>
              </a:ext>
            </a:extLst>
          </p:cNvPr>
          <p:cNvCxnSpPr>
            <a:cxnSpLocks/>
          </p:cNvCxnSpPr>
          <p:nvPr/>
        </p:nvCxnSpPr>
        <p:spPr>
          <a:xfrm flipH="1">
            <a:off x="5112370" y="2813541"/>
            <a:ext cx="750244" cy="164661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11F719D-3DEC-49D2-8BD9-E7559F12CCEE}"/>
                  </a:ext>
                </a:extLst>
              </p:cNvPr>
              <p:cNvSpPr txBox="1"/>
              <p:nvPr/>
            </p:nvSpPr>
            <p:spPr>
              <a:xfrm>
                <a:off x="9144129" y="2116589"/>
                <a:ext cx="34279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sup>
                      </m:sSup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11F719D-3DEC-49D2-8BD9-E7559F12CC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129" y="2116589"/>
                <a:ext cx="342798" cy="369332"/>
              </a:xfrm>
              <a:prstGeom prst="rect">
                <a:avLst/>
              </a:prstGeom>
              <a:blipFill>
                <a:blip r:embed="rId14"/>
                <a:stretch>
                  <a:fillRect r="-357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9BC98ED-F1DC-4EE3-9BD2-14B146737032}"/>
                  </a:ext>
                </a:extLst>
              </p:cNvPr>
              <p:cNvSpPr txBox="1"/>
              <p:nvPr/>
            </p:nvSpPr>
            <p:spPr>
              <a:xfrm>
                <a:off x="4838774" y="4417279"/>
                <a:ext cx="34279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sup>
                      </m:sSup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9BC98ED-F1DC-4EE3-9BD2-14B1467370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8774" y="4417279"/>
                <a:ext cx="342798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730C980-B7AC-4233-8A87-D6D3D5EDB637}"/>
                  </a:ext>
                </a:extLst>
              </p:cNvPr>
              <p:cNvSpPr txBox="1"/>
              <p:nvPr/>
            </p:nvSpPr>
            <p:spPr>
              <a:xfrm>
                <a:off x="5231786" y="932692"/>
                <a:ext cx="34279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sup>
                      </m:sSup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730C980-B7AC-4233-8A87-D6D3D5EDB6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1786" y="932692"/>
                <a:ext cx="342798" cy="369332"/>
              </a:xfrm>
              <a:prstGeom prst="rect">
                <a:avLst/>
              </a:prstGeom>
              <a:blipFill>
                <a:blip r:embed="rId16"/>
                <a:stretch>
                  <a:fillRect r="-5357" b="-491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Дуга 34">
            <a:extLst>
              <a:ext uri="{FF2B5EF4-FFF2-40B4-BE49-F238E27FC236}">
                <a16:creationId xmlns:a16="http://schemas.microsoft.com/office/drawing/2014/main" id="{D18EF48B-3831-4534-8584-54386031E79F}"/>
              </a:ext>
            </a:extLst>
          </p:cNvPr>
          <p:cNvSpPr/>
          <p:nvPr/>
        </p:nvSpPr>
        <p:spPr>
          <a:xfrm rot="17391106" flipV="1">
            <a:off x="7945340" y="2026038"/>
            <a:ext cx="531921" cy="587096"/>
          </a:xfrm>
          <a:prstGeom prst="arc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Дуга 35">
            <a:extLst>
              <a:ext uri="{FF2B5EF4-FFF2-40B4-BE49-F238E27FC236}">
                <a16:creationId xmlns:a16="http://schemas.microsoft.com/office/drawing/2014/main" id="{6D96334D-1058-48AC-9CC7-33A05B46500D}"/>
              </a:ext>
            </a:extLst>
          </p:cNvPr>
          <p:cNvSpPr/>
          <p:nvPr/>
        </p:nvSpPr>
        <p:spPr>
          <a:xfrm rot="17391106" flipV="1">
            <a:off x="7878618" y="2423729"/>
            <a:ext cx="531921" cy="587096"/>
          </a:xfrm>
          <a:prstGeom prst="arc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Дуга 36">
            <a:extLst>
              <a:ext uri="{FF2B5EF4-FFF2-40B4-BE49-F238E27FC236}">
                <a16:creationId xmlns:a16="http://schemas.microsoft.com/office/drawing/2014/main" id="{CABDFC4A-0286-4F77-BEC1-843B1FC577E1}"/>
              </a:ext>
            </a:extLst>
          </p:cNvPr>
          <p:cNvSpPr/>
          <p:nvPr/>
        </p:nvSpPr>
        <p:spPr>
          <a:xfrm rot="15005901" flipV="1">
            <a:off x="5359388" y="1421185"/>
            <a:ext cx="430390" cy="709384"/>
          </a:xfrm>
          <a:prstGeom prst="arc">
            <a:avLst>
              <a:gd name="adj1" fmla="val 16886946"/>
              <a:gd name="adj2" fmla="val 20774694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Дуга 37">
            <a:extLst>
              <a:ext uri="{FF2B5EF4-FFF2-40B4-BE49-F238E27FC236}">
                <a16:creationId xmlns:a16="http://schemas.microsoft.com/office/drawing/2014/main" id="{60E454CA-4361-4EDF-AC61-A5E6452C0AE3}"/>
              </a:ext>
            </a:extLst>
          </p:cNvPr>
          <p:cNvSpPr/>
          <p:nvPr/>
        </p:nvSpPr>
        <p:spPr>
          <a:xfrm rot="17391106" flipV="1">
            <a:off x="5322447" y="1685087"/>
            <a:ext cx="531921" cy="587096"/>
          </a:xfrm>
          <a:prstGeom prst="arc">
            <a:avLst>
              <a:gd name="adj1" fmla="val 1219032"/>
              <a:gd name="adj2" fmla="val 6097648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Дуга 38">
            <a:extLst>
              <a:ext uri="{FF2B5EF4-FFF2-40B4-BE49-F238E27FC236}">
                <a16:creationId xmlns:a16="http://schemas.microsoft.com/office/drawing/2014/main" id="{3587448B-13E2-4111-97B6-1EC8CEA65372}"/>
              </a:ext>
            </a:extLst>
          </p:cNvPr>
          <p:cNvSpPr/>
          <p:nvPr/>
        </p:nvSpPr>
        <p:spPr>
          <a:xfrm rot="17391106" flipV="1">
            <a:off x="5245555" y="3542507"/>
            <a:ext cx="531921" cy="587096"/>
          </a:xfrm>
          <a:prstGeom prst="arc">
            <a:avLst>
              <a:gd name="adj1" fmla="val 9213514"/>
              <a:gd name="adj2" fmla="val 13756327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Дуга 39">
            <a:extLst>
              <a:ext uri="{FF2B5EF4-FFF2-40B4-BE49-F238E27FC236}">
                <a16:creationId xmlns:a16="http://schemas.microsoft.com/office/drawing/2014/main" id="{0CE52F00-0954-44ED-9237-55E10962FAF9}"/>
              </a:ext>
            </a:extLst>
          </p:cNvPr>
          <p:cNvSpPr/>
          <p:nvPr/>
        </p:nvSpPr>
        <p:spPr>
          <a:xfrm rot="17391106" flipV="1">
            <a:off x="4871474" y="3542505"/>
            <a:ext cx="531921" cy="587096"/>
          </a:xfrm>
          <a:prstGeom prst="arc">
            <a:avLst>
              <a:gd name="adj1" fmla="val 9213514"/>
              <a:gd name="adj2" fmla="val 13756327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935EA0B-B57E-4447-ACE0-249950865518}"/>
                  </a:ext>
                </a:extLst>
              </p:cNvPr>
              <p:cNvSpPr txBox="1"/>
              <p:nvPr/>
            </p:nvSpPr>
            <p:spPr>
              <a:xfrm>
                <a:off x="5553755" y="1120448"/>
                <a:ext cx="2880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935EA0B-B57E-4447-ACE0-2499508655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3755" y="1120448"/>
                <a:ext cx="288032" cy="369332"/>
              </a:xfrm>
              <a:prstGeom prst="rect">
                <a:avLst/>
              </a:prstGeom>
              <a:blipFill>
                <a:blip r:embed="rId17"/>
                <a:stretch>
                  <a:fillRect r="-638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BC6DFBE8-350C-49C8-94DF-C1DA55CD1446}"/>
                  </a:ext>
                </a:extLst>
              </p:cNvPr>
              <p:cNvSpPr txBox="1"/>
              <p:nvPr/>
            </p:nvSpPr>
            <p:spPr>
              <a:xfrm>
                <a:off x="8511497" y="1959039"/>
                <a:ext cx="2880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BC6DFBE8-350C-49C8-94DF-C1DA55CD14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1497" y="1959039"/>
                <a:ext cx="288032" cy="369332"/>
              </a:xfrm>
              <a:prstGeom prst="rect">
                <a:avLst/>
              </a:prstGeom>
              <a:blipFill>
                <a:blip r:embed="rId18"/>
                <a:stretch>
                  <a:fillRect r="-638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1E132D56-1249-4E70-9CE0-E617D3719B1C}"/>
                  </a:ext>
                </a:extLst>
              </p:cNvPr>
              <p:cNvSpPr txBox="1"/>
              <p:nvPr/>
            </p:nvSpPr>
            <p:spPr>
              <a:xfrm>
                <a:off x="5182970" y="1417757"/>
                <a:ext cx="2880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1E132D56-1249-4E70-9CE0-E617D3719B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2970" y="1417757"/>
                <a:ext cx="288032" cy="369332"/>
              </a:xfrm>
              <a:prstGeom prst="rect">
                <a:avLst/>
              </a:prstGeom>
              <a:blipFill>
                <a:blip r:embed="rId19"/>
                <a:stretch>
                  <a:fillRect r="-4255" b="-5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F48B4ADF-09EE-4448-8E79-FC255B179D84}"/>
                  </a:ext>
                </a:extLst>
              </p:cNvPr>
              <p:cNvSpPr txBox="1"/>
              <p:nvPr/>
            </p:nvSpPr>
            <p:spPr>
              <a:xfrm>
                <a:off x="5286551" y="4046891"/>
                <a:ext cx="2880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F48B4ADF-09EE-4448-8E79-FC255B179D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6551" y="4046891"/>
                <a:ext cx="288032" cy="369332"/>
              </a:xfrm>
              <a:prstGeom prst="rect">
                <a:avLst/>
              </a:prstGeom>
              <a:blipFill>
                <a:blip r:embed="rId20"/>
                <a:stretch>
                  <a:fillRect r="-4255" b="-5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A08C4083-5123-4990-A999-8BF455B3BADB}"/>
                  </a:ext>
                </a:extLst>
              </p:cNvPr>
              <p:cNvSpPr txBox="1"/>
              <p:nvPr/>
            </p:nvSpPr>
            <p:spPr>
              <a:xfrm>
                <a:off x="4870987" y="3999035"/>
                <a:ext cx="2880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𝜓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A08C4083-5123-4990-A999-8BF455B3BA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0987" y="3999035"/>
                <a:ext cx="288032" cy="369332"/>
              </a:xfrm>
              <a:prstGeom prst="rect">
                <a:avLst/>
              </a:prstGeom>
              <a:blipFill>
                <a:blip r:embed="rId21"/>
                <a:stretch>
                  <a:fillRect l="-6383" r="-27660" b="-1311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D508EAB9-3354-4339-BC09-9F81A2C7DFD7}"/>
                  </a:ext>
                </a:extLst>
              </p:cNvPr>
              <p:cNvSpPr txBox="1"/>
              <p:nvPr/>
            </p:nvSpPr>
            <p:spPr>
              <a:xfrm>
                <a:off x="8392254" y="2387925"/>
                <a:ext cx="2880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𝜓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D508EAB9-3354-4339-BC09-9F81A2C7DF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2254" y="2387925"/>
                <a:ext cx="288032" cy="369332"/>
              </a:xfrm>
              <a:prstGeom prst="rect">
                <a:avLst/>
              </a:prstGeom>
              <a:blipFill>
                <a:blip r:embed="rId22"/>
                <a:stretch>
                  <a:fillRect l="-6383" r="-27660" b="-133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Прямая со стрелкой 47">
            <a:extLst>
              <a:ext uri="{FF2B5EF4-FFF2-40B4-BE49-F238E27FC236}">
                <a16:creationId xmlns:a16="http://schemas.microsoft.com/office/drawing/2014/main" id="{F6F49EE0-30D2-4B45-B97F-FD36CE816E7C}"/>
              </a:ext>
            </a:extLst>
          </p:cNvPr>
          <p:cNvCxnSpPr>
            <a:cxnSpLocks/>
          </p:cNvCxnSpPr>
          <p:nvPr/>
        </p:nvCxnSpPr>
        <p:spPr>
          <a:xfrm flipV="1">
            <a:off x="5872563" y="1883546"/>
            <a:ext cx="0" cy="94070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Прямая со стрелкой 48">
            <a:extLst>
              <a:ext uri="{FF2B5EF4-FFF2-40B4-BE49-F238E27FC236}">
                <a16:creationId xmlns:a16="http://schemas.microsoft.com/office/drawing/2014/main" id="{171056E6-6827-4CEB-B4FB-70E7CA6F318A}"/>
              </a:ext>
            </a:extLst>
          </p:cNvPr>
          <p:cNvCxnSpPr>
            <a:cxnSpLocks/>
          </p:cNvCxnSpPr>
          <p:nvPr/>
        </p:nvCxnSpPr>
        <p:spPr>
          <a:xfrm flipV="1">
            <a:off x="5862613" y="2116589"/>
            <a:ext cx="2208212" cy="69695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Прямая со стрелкой 49">
            <a:extLst>
              <a:ext uri="{FF2B5EF4-FFF2-40B4-BE49-F238E27FC236}">
                <a16:creationId xmlns:a16="http://schemas.microsoft.com/office/drawing/2014/main" id="{C0FDDD19-3FE3-4415-87D8-CBF9C2E6E795}"/>
              </a:ext>
            </a:extLst>
          </p:cNvPr>
          <p:cNvCxnSpPr>
            <a:cxnSpLocks/>
          </p:cNvCxnSpPr>
          <p:nvPr/>
        </p:nvCxnSpPr>
        <p:spPr>
          <a:xfrm flipH="1">
            <a:off x="5334521" y="2813541"/>
            <a:ext cx="528092" cy="115823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D274D6FA-4411-40D5-BF88-05DAEB0BDE41}"/>
                  </a:ext>
                </a:extLst>
              </p:cNvPr>
              <p:cNvSpPr txBox="1"/>
              <p:nvPr/>
            </p:nvSpPr>
            <p:spPr>
              <a:xfrm>
                <a:off x="5097048" y="3682872"/>
                <a:ext cx="288032" cy="3821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acc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D274D6FA-4411-40D5-BF88-05DAEB0BDE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7048" y="3682872"/>
                <a:ext cx="288032" cy="382156"/>
              </a:xfrm>
              <a:prstGeom prst="rect">
                <a:avLst/>
              </a:prstGeom>
              <a:blipFill>
                <a:blip r:embed="rId23"/>
                <a:stretch>
                  <a:fillRect r="-2553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8F3E29DE-9080-4608-B3F5-E49B9CCC0FA6}"/>
                  </a:ext>
                </a:extLst>
              </p:cNvPr>
              <p:cNvSpPr txBox="1"/>
              <p:nvPr/>
            </p:nvSpPr>
            <p:spPr>
              <a:xfrm>
                <a:off x="5848753" y="1540735"/>
                <a:ext cx="288032" cy="3821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𝜓</m:t>
                          </m:r>
                        </m:e>
                      </m:acc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8F3E29DE-9080-4608-B3F5-E49B9CCC0F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8753" y="1540735"/>
                <a:ext cx="288032" cy="382156"/>
              </a:xfrm>
              <a:prstGeom prst="rect">
                <a:avLst/>
              </a:prstGeom>
              <a:blipFill>
                <a:blip r:embed="rId24"/>
                <a:stretch>
                  <a:fillRect l="-6250" r="-31250" b="-1451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2213F974-B22B-4944-B4B9-C54F59929C67}"/>
                  </a:ext>
                </a:extLst>
              </p:cNvPr>
              <p:cNvSpPr txBox="1"/>
              <p:nvPr/>
            </p:nvSpPr>
            <p:spPr>
              <a:xfrm>
                <a:off x="7912155" y="1692014"/>
                <a:ext cx="2880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</m:e>
                      </m:acc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2213F974-B22B-4944-B4B9-C54F59929C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2155" y="1692014"/>
                <a:ext cx="288032" cy="369332"/>
              </a:xfrm>
              <a:prstGeom prst="rect">
                <a:avLst/>
              </a:prstGeom>
              <a:blipFill>
                <a:blip r:embed="rId25"/>
                <a:stretch>
                  <a:fillRect r="-19149" b="-5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4" name="Рисунок 53">
            <a:extLst>
              <a:ext uri="{FF2B5EF4-FFF2-40B4-BE49-F238E27FC236}">
                <a16:creationId xmlns:a16="http://schemas.microsoft.com/office/drawing/2014/main" id="{02610BB0-391F-4264-9DAD-77A92D702860}"/>
              </a:ext>
            </a:extLst>
          </p:cNvPr>
          <p:cNvPicPr>
            <a:picLocks noChangeAspect="1"/>
          </p:cNvPicPr>
          <p:nvPr/>
        </p:nvPicPr>
        <p:blipFill>
          <a:blip r:embed="rId26" cstate="print"/>
          <a:stretch>
            <a:fillRect/>
          </a:stretch>
        </p:blipFill>
        <p:spPr>
          <a:xfrm>
            <a:off x="2064509" y="5685874"/>
            <a:ext cx="1618297" cy="994248"/>
          </a:xfrm>
          <a:prstGeom prst="rect">
            <a:avLst/>
          </a:prstGeom>
        </p:spPr>
      </p:pic>
      <p:pic>
        <p:nvPicPr>
          <p:cNvPr id="55" name="Рисунок 54">
            <a:extLst>
              <a:ext uri="{FF2B5EF4-FFF2-40B4-BE49-F238E27FC236}">
                <a16:creationId xmlns:a16="http://schemas.microsoft.com/office/drawing/2014/main" id="{A200CEBE-667F-4861-8619-882262AE05AA}"/>
              </a:ext>
            </a:extLst>
          </p:cNvPr>
          <p:cNvPicPr>
            <a:picLocks noChangeAspect="1"/>
          </p:cNvPicPr>
          <p:nvPr/>
        </p:nvPicPr>
        <p:blipFill>
          <a:blip r:embed="rId27" cstate="print"/>
          <a:stretch>
            <a:fillRect/>
          </a:stretch>
        </p:blipFill>
        <p:spPr>
          <a:xfrm>
            <a:off x="491851" y="4669639"/>
            <a:ext cx="1403656" cy="925487"/>
          </a:xfrm>
          <a:prstGeom prst="rect">
            <a:avLst/>
          </a:prstGeom>
        </p:spPr>
      </p:pic>
      <p:pic>
        <p:nvPicPr>
          <p:cNvPr id="56" name="Picture 1">
            <a:extLst>
              <a:ext uri="{FF2B5EF4-FFF2-40B4-BE49-F238E27FC236}">
                <a16:creationId xmlns:a16="http://schemas.microsoft.com/office/drawing/2014/main" id="{AC911A96-8B82-41FB-AAB9-EEAAF9FDF2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8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113167" y="4772242"/>
            <a:ext cx="7286676" cy="799600"/>
          </a:xfrm>
          <a:prstGeom prst="rect">
            <a:avLst/>
          </a:prstGeom>
          <a:noFill/>
        </p:spPr>
      </p:pic>
      <p:pic>
        <p:nvPicPr>
          <p:cNvPr id="57" name="Рисунок 56">
            <a:extLst>
              <a:ext uri="{FF2B5EF4-FFF2-40B4-BE49-F238E27FC236}">
                <a16:creationId xmlns:a16="http://schemas.microsoft.com/office/drawing/2014/main" id="{325DDFA4-B75F-4431-B4C1-B4E6A83CF861}"/>
              </a:ext>
            </a:extLst>
          </p:cNvPr>
          <p:cNvPicPr>
            <a:picLocks noChangeAspect="1"/>
          </p:cNvPicPr>
          <p:nvPr/>
        </p:nvPicPr>
        <p:blipFill>
          <a:blip r:embed="rId29" cstate="print"/>
          <a:stretch>
            <a:fillRect/>
          </a:stretch>
        </p:blipFill>
        <p:spPr>
          <a:xfrm>
            <a:off x="3913915" y="5844629"/>
            <a:ext cx="7472575" cy="853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9751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36097-2706-6BF6-9139-0C93ABDA9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08E0D6-AAE1-6B5D-9AA0-1B34B725D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109" y="365125"/>
            <a:ext cx="11892591" cy="602029"/>
          </a:xfrm>
        </p:spPr>
        <p:txBody>
          <a:bodyPr>
            <a:normAutofit fontScale="90000"/>
          </a:bodyPr>
          <a:lstStyle/>
          <a:p>
            <a:r>
              <a:rPr lang="ru-RU" dirty="0"/>
              <a:t>Влияние среды на подводный аппарат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3DF9BF0-A0D8-588C-56D0-F7F8ACF95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pPr/>
              <a:t>4</a:t>
            </a:fld>
            <a:endParaRPr lang="ru-RU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1AB358-8931-496E-B5ED-3F5C892EEF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7619" y="2164238"/>
            <a:ext cx="3550927" cy="2459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Прямая со стрелкой 6">
            <a:extLst>
              <a:ext uri="{FF2B5EF4-FFF2-40B4-BE49-F238E27FC236}">
                <a16:creationId xmlns:a16="http://schemas.microsoft.com/office/drawing/2014/main" id="{25C85799-F94D-4791-8DB1-DA544A91116A}"/>
              </a:ext>
            </a:extLst>
          </p:cNvPr>
          <p:cNvCxnSpPr/>
          <p:nvPr/>
        </p:nvCxnSpPr>
        <p:spPr>
          <a:xfrm>
            <a:off x="5755496" y="3394108"/>
            <a:ext cx="0" cy="130860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Прямая со стрелкой 7">
            <a:extLst>
              <a:ext uri="{FF2B5EF4-FFF2-40B4-BE49-F238E27FC236}">
                <a16:creationId xmlns:a16="http://schemas.microsoft.com/office/drawing/2014/main" id="{A77B37A1-A49C-4A94-B7D9-3D627031BDE3}"/>
              </a:ext>
            </a:extLst>
          </p:cNvPr>
          <p:cNvCxnSpPr>
            <a:cxnSpLocks/>
          </p:cNvCxnSpPr>
          <p:nvPr/>
        </p:nvCxnSpPr>
        <p:spPr>
          <a:xfrm flipV="1">
            <a:off x="5755496" y="1534849"/>
            <a:ext cx="0" cy="144016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4C169BE1-19CB-4ADC-AB0E-4884153A90A7}"/>
              </a:ext>
            </a:extLst>
          </p:cNvPr>
          <p:cNvCxnSpPr>
            <a:cxnSpLocks/>
            <a:stCxn id="16" idx="5"/>
          </p:cNvCxnSpPr>
          <p:nvPr/>
        </p:nvCxnSpPr>
        <p:spPr>
          <a:xfrm flipH="1" flipV="1">
            <a:off x="4570188" y="1966898"/>
            <a:ext cx="1261684" cy="150358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3DE7BC6C-D912-481C-B2C7-39F0321679B1}"/>
              </a:ext>
            </a:extLst>
          </p:cNvPr>
          <p:cNvCxnSpPr>
            <a:cxnSpLocks/>
            <a:stCxn id="16" idx="5"/>
          </p:cNvCxnSpPr>
          <p:nvPr/>
        </p:nvCxnSpPr>
        <p:spPr>
          <a:xfrm>
            <a:off x="5831872" y="3470484"/>
            <a:ext cx="1978676" cy="159275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82FE476B-4479-472C-A9A4-DACAD40D52FE}"/>
              </a:ext>
            </a:extLst>
          </p:cNvPr>
          <p:cNvCxnSpPr>
            <a:cxnSpLocks/>
            <a:stCxn id="16" idx="5"/>
          </p:cNvCxnSpPr>
          <p:nvPr/>
        </p:nvCxnSpPr>
        <p:spPr>
          <a:xfrm flipH="1" flipV="1">
            <a:off x="3634084" y="2326938"/>
            <a:ext cx="2197788" cy="114354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98396E49-EC21-473F-86EE-BDC1774B0361}"/>
              </a:ext>
            </a:extLst>
          </p:cNvPr>
          <p:cNvCxnSpPr/>
          <p:nvPr/>
        </p:nvCxnSpPr>
        <p:spPr>
          <a:xfrm>
            <a:off x="5755496" y="3391799"/>
            <a:ext cx="2880320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E0FD6F7B-D5FA-4488-AED3-AA54DD204F31}"/>
              </a:ext>
            </a:extLst>
          </p:cNvPr>
          <p:cNvCxnSpPr/>
          <p:nvPr/>
        </p:nvCxnSpPr>
        <p:spPr>
          <a:xfrm>
            <a:off x="8458620" y="2975009"/>
            <a:ext cx="0" cy="416790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D9C9D1DD-7650-41EE-A600-B2D284BA643B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5650308" y="2975009"/>
            <a:ext cx="2985508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Блок-схема: узел суммирования 14">
            <a:extLst>
              <a:ext uri="{FF2B5EF4-FFF2-40B4-BE49-F238E27FC236}">
                <a16:creationId xmlns:a16="http://schemas.microsoft.com/office/drawing/2014/main" id="{9D7950F0-D9A8-400C-A2A0-5B7E3C9BFE88}"/>
              </a:ext>
            </a:extLst>
          </p:cNvPr>
          <p:cNvSpPr/>
          <p:nvPr/>
        </p:nvSpPr>
        <p:spPr>
          <a:xfrm>
            <a:off x="5650308" y="2866997"/>
            <a:ext cx="216024" cy="216024"/>
          </a:xfrm>
          <a:prstGeom prst="flowChartSummingJunction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Блок-схема: узел суммирования 15">
            <a:extLst>
              <a:ext uri="{FF2B5EF4-FFF2-40B4-BE49-F238E27FC236}">
                <a16:creationId xmlns:a16="http://schemas.microsoft.com/office/drawing/2014/main" id="{F668CB50-AE00-4AB7-9F83-9B243444A486}"/>
              </a:ext>
            </a:extLst>
          </p:cNvPr>
          <p:cNvSpPr/>
          <p:nvPr/>
        </p:nvSpPr>
        <p:spPr>
          <a:xfrm>
            <a:off x="5647484" y="3286096"/>
            <a:ext cx="216024" cy="216024"/>
          </a:xfrm>
          <a:prstGeom prst="flowChartSummingJunction">
            <a:avLst/>
          </a:prstGeom>
          <a:ln w="28575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754FFA2-4B04-4F7A-A2B8-EA473F986F0B}"/>
              </a:ext>
            </a:extLst>
          </p:cNvPr>
          <p:cNvSpPr txBox="1"/>
          <p:nvPr/>
        </p:nvSpPr>
        <p:spPr>
          <a:xfrm>
            <a:off x="8477537" y="2985403"/>
            <a:ext cx="480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h1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0F87025-B516-4C81-A6C7-C0C12CB026B6}"/>
              </a:ext>
            </a:extLst>
          </p:cNvPr>
          <p:cNvSpPr txBox="1"/>
          <p:nvPr/>
        </p:nvSpPr>
        <p:spPr>
          <a:xfrm>
            <a:off x="5894994" y="1350183"/>
            <a:ext cx="480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Fa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E1C5A9D-533F-4DD9-ABA5-267D8D259EE5}"/>
              </a:ext>
            </a:extLst>
          </p:cNvPr>
          <p:cNvSpPr txBox="1"/>
          <p:nvPr/>
        </p:nvSpPr>
        <p:spPr>
          <a:xfrm>
            <a:off x="5789965" y="4678438"/>
            <a:ext cx="480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Fg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CD52A24-DB21-4426-8BE4-263A3CD85586}"/>
              </a:ext>
            </a:extLst>
          </p:cNvPr>
          <p:cNvSpPr txBox="1"/>
          <p:nvPr/>
        </p:nvSpPr>
        <p:spPr>
          <a:xfrm>
            <a:off x="3210926" y="2035903"/>
            <a:ext cx="480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г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122049A-513A-40BB-8072-1A4398DAD7A5}"/>
              </a:ext>
            </a:extLst>
          </p:cNvPr>
          <p:cNvSpPr txBox="1"/>
          <p:nvPr/>
        </p:nvSpPr>
        <p:spPr>
          <a:xfrm>
            <a:off x="4247606" y="1644985"/>
            <a:ext cx="480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в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AB9FB44-DEF7-4FA1-8B26-542951606E25}"/>
              </a:ext>
            </a:extLst>
          </p:cNvPr>
          <p:cNvSpPr txBox="1"/>
          <p:nvPr/>
        </p:nvSpPr>
        <p:spPr>
          <a:xfrm>
            <a:off x="7798533" y="5068091"/>
            <a:ext cx="480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д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E67BA35-6939-486B-8C7F-30952905E424}"/>
              </a:ext>
            </a:extLst>
          </p:cNvPr>
          <p:cNvSpPr txBox="1"/>
          <p:nvPr/>
        </p:nvSpPr>
        <p:spPr>
          <a:xfrm>
            <a:off x="602883" y="4874519"/>
            <a:ext cx="695650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Fa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– сила Архимеда;</a:t>
            </a:r>
          </a:p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Fg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– сила тяжести;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д – сила тяги движителей;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в – внешние возмущающие силы;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г – гидродинамические силы сопротивления движению ПА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h1 –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метацентрическая высота.</a:t>
            </a:r>
          </a:p>
        </p:txBody>
      </p:sp>
    </p:spTree>
    <p:extLst>
      <p:ext uri="{BB962C8B-B14F-4D97-AF65-F5344CB8AC3E}">
        <p14:creationId xmlns:p14="http://schemas.microsoft.com/office/powerpoint/2010/main" val="22732830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36097-2706-6BF6-9139-0C93ABDA9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08E0D6-AAE1-6B5D-9AA0-1B34B725D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109" y="365125"/>
            <a:ext cx="11892591" cy="602029"/>
          </a:xfrm>
        </p:spPr>
        <p:txBody>
          <a:bodyPr>
            <a:normAutofit fontScale="90000"/>
          </a:bodyPr>
          <a:lstStyle/>
          <a:p>
            <a:r>
              <a:rPr lang="ru-RU" dirty="0"/>
              <a:t>Математическая модель подводного аппарата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3DF9BF0-A0D8-588C-56D0-F7F8ACF95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pPr/>
              <a:t>5</a:t>
            </a:fld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354564" y="1057263"/>
            <a:ext cx="8453534" cy="400110"/>
          </a:xfrm>
          <a:prstGeom prst="rect">
            <a:avLst/>
          </a:prstGeom>
          <a:noFill/>
          <a:ln w="38100">
            <a:solidFill>
              <a:schemeClr val="bg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ru-RU" sz="2000" dirty="0"/>
              <a:t>Рассматриваем подводный аппарат как математическую точку.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0681" y="1564283"/>
            <a:ext cx="10003499" cy="707886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r>
              <a:rPr lang="ru-RU" sz="2000" dirty="0"/>
              <a:t>Центр связанной системы координат принимаем совпадающим с центром масс подводного аппарата.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14534" y="2390060"/>
            <a:ext cx="10763166" cy="707886"/>
          </a:xfrm>
          <a:prstGeom prst="rect">
            <a:avLst/>
          </a:prstGeom>
          <a:noFill/>
          <a:ln w="38100">
            <a:solidFill>
              <a:schemeClr val="accent3"/>
            </a:solidFill>
          </a:ln>
        </p:spPr>
        <p:txBody>
          <a:bodyPr wrap="square" rtlCol="0">
            <a:spAutoFit/>
          </a:bodyPr>
          <a:lstStyle/>
          <a:p>
            <a:r>
              <a:rPr lang="ru-RU" sz="2000" dirty="0"/>
              <a:t>Подводный аппарат совершает сложное (одновременно линейное и угловое) движение под действием внешних сил и моментов.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18048" y="3296290"/>
            <a:ext cx="8696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u="sng" dirty="0"/>
              <a:t>Уравнение динамики подводного аппарата в матричной форме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973981" y="3757955"/>
                <a:ext cx="8702183" cy="6914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𝑚𝑎</m:t>
                      </m:r>
                      <m:r>
                        <a:rPr lang="en-US" sz="360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sz="360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Σ</m:t>
                      </m:r>
                      <m:r>
                        <a:rPr lang="en-US" sz="3600" b="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  <m:r>
                        <a:rPr lang="en-US" sz="3600" b="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 </m:t>
                      </m:r>
                      <m:r>
                        <a:rPr lang="en-US" sz="3600" b="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𝑚𝑎</m:t>
                      </m:r>
                      <m:r>
                        <a:rPr lang="en-US" sz="3600" b="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6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ru-RU" sz="36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д</m:t>
                          </m:r>
                        </m:sub>
                      </m:sSub>
                      <m:r>
                        <a:rPr lang="ru-RU" sz="3600" b="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ru-RU" sz="36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ru-RU" sz="36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г</m:t>
                          </m:r>
                        </m:sub>
                      </m:sSub>
                      <m:r>
                        <a:rPr lang="ru-RU" sz="3600" b="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ru-RU" sz="36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36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US" sz="3600" b="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6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36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 sz="3600" b="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6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ru-RU" sz="36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в</m:t>
                          </m:r>
                        </m:sub>
                      </m:sSub>
                      <m:r>
                        <a:rPr lang="ru-RU" sz="3600" b="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ru-RU" sz="360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3981" y="3757955"/>
                <a:ext cx="8702183" cy="69140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572446" y="4398097"/>
                <a:ext cx="11505254" cy="22896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000" dirty="0"/>
                  <a:t> – </a:t>
                </a:r>
                <a:r>
                  <a:rPr lang="ru-RU" sz="2000" dirty="0"/>
                  <a:t>матрица собственных и присоединенных масс и моментов инерции,</a:t>
                </a:r>
              </a:p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000" dirty="0"/>
                  <a:t> – </a:t>
                </a:r>
                <a:r>
                  <a:rPr lang="ru-RU" sz="2000" dirty="0"/>
                  <a:t>вектор линейных и угловых ускорений в связанной с подводным аппаратом системе координат,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ru-RU" sz="2000" b="0" i="1" smtClean="0">
                            <a:latin typeface="Cambria Math" panose="02040503050406030204" pitchFamily="18" charset="0"/>
                          </a:rPr>
                          <m:t>д</m:t>
                        </m:r>
                      </m:sub>
                    </m:sSub>
                  </m:oMath>
                </a14:m>
                <a:r>
                  <a:rPr lang="ru-RU" sz="2000" dirty="0"/>
                  <a:t> </a:t>
                </a:r>
                <a:r>
                  <a:rPr lang="en-US" sz="2000" dirty="0"/>
                  <a:t>–</a:t>
                </a:r>
                <a:r>
                  <a:rPr lang="ru-RU" sz="2000" dirty="0"/>
                  <a:t> вектор сил и моментов движительно-рулевого комплекса,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ru-RU" sz="2000" b="0" i="1" smtClean="0">
                            <a:latin typeface="Cambria Math" panose="02040503050406030204" pitchFamily="18" charset="0"/>
                          </a:rPr>
                          <m:t>г</m:t>
                        </m:r>
                      </m:sub>
                    </m:sSub>
                  </m:oMath>
                </a14:m>
                <a:r>
                  <a:rPr lang="ru-RU" sz="2000" dirty="0"/>
                  <a:t> </a:t>
                </a:r>
                <a:r>
                  <a:rPr lang="en-US" sz="2000" dirty="0"/>
                  <a:t>–</a:t>
                </a:r>
                <a:r>
                  <a:rPr lang="ru-RU" sz="2000" dirty="0"/>
                  <a:t> вектор гидродинамических сил и моментов сопротивления движению,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ru-RU" sz="2000" dirty="0"/>
                  <a:t> </a:t>
                </a:r>
                <a:r>
                  <a:rPr lang="en-US" sz="2000" dirty="0"/>
                  <a:t>–</a:t>
                </a:r>
                <a:r>
                  <a:rPr lang="ru-RU" sz="2000" dirty="0"/>
                  <a:t> вектор сил и моментов от силы тяжести,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ru-RU" sz="2000" dirty="0"/>
                  <a:t> </a:t>
                </a:r>
                <a:r>
                  <a:rPr lang="en-US" sz="2000" dirty="0"/>
                  <a:t>– </a:t>
                </a:r>
                <a:r>
                  <a:rPr lang="ru-RU" sz="2000" dirty="0"/>
                  <a:t>вектор сил и моментов от силы Архимеда,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ru-RU" sz="2000" b="0" i="1" smtClean="0">
                            <a:latin typeface="Cambria Math" panose="02040503050406030204" pitchFamily="18" charset="0"/>
                          </a:rPr>
                          <m:t>в</m:t>
                        </m:r>
                      </m:sub>
                    </m:sSub>
                  </m:oMath>
                </a14:m>
                <a:r>
                  <a:rPr lang="ru-RU" sz="2000" dirty="0"/>
                  <a:t> </a:t>
                </a:r>
                <a:r>
                  <a:rPr lang="en-US" sz="2000" dirty="0"/>
                  <a:t>–</a:t>
                </a:r>
                <a:r>
                  <a:rPr lang="ru-RU" sz="2000" dirty="0"/>
                  <a:t> вектор возмущающих сил и моментов.  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446" y="4398097"/>
                <a:ext cx="11505254" cy="2289601"/>
              </a:xfrm>
              <a:prstGeom prst="rect">
                <a:avLst/>
              </a:prstGeom>
              <a:blipFill>
                <a:blip r:embed="rId3"/>
                <a:stretch>
                  <a:fillRect t="-1330" b="-372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881933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36097-2706-6BF6-9139-0C93ABDA9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08E0D6-AAE1-6B5D-9AA0-1B34B725D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109" y="365125"/>
            <a:ext cx="11892591" cy="602029"/>
          </a:xfrm>
        </p:spPr>
        <p:txBody>
          <a:bodyPr>
            <a:normAutofit fontScale="90000"/>
          </a:bodyPr>
          <a:lstStyle/>
          <a:p>
            <a:r>
              <a:rPr lang="ru-RU" dirty="0"/>
              <a:t>Обращенные уравнения динамики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3DF9BF0-A0D8-588C-56D0-F7F8ACF95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pPr/>
              <a:t>6</a:t>
            </a:fld>
            <a:endParaRPr lang="ru-RU"/>
          </a:p>
        </p:txBody>
      </p:sp>
      <p:sp>
        <p:nvSpPr>
          <p:cNvPr id="5" name="TextBox 4"/>
          <p:cNvSpPr txBox="1"/>
          <p:nvPr/>
        </p:nvSpPr>
        <p:spPr>
          <a:xfrm>
            <a:off x="769078" y="1302508"/>
            <a:ext cx="10724652" cy="1200329"/>
          </a:xfrm>
          <a:prstGeom prst="rect">
            <a:avLst/>
          </a:prstGeom>
          <a:noFill/>
          <a:ln w="38100">
            <a:solidFill>
              <a:schemeClr val="bg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ru-RU" sz="2400" dirty="0"/>
              <a:t>Предполагаем, что подводный аппарат можно привести в заданное положение последовательным смещением и поворотом вокруг трех осей. Получается 6-ть степеней свободы =</a:t>
            </a:r>
            <a:r>
              <a:rPr lang="en-US" sz="2400" dirty="0"/>
              <a:t>&gt; </a:t>
            </a:r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6-</a:t>
            </a:r>
            <a:r>
              <a:rPr lang="ru-RU" sz="2400" dirty="0" err="1">
                <a:solidFill>
                  <a:schemeClr val="bg2">
                    <a:lumMod val="50000"/>
                  </a:schemeClr>
                </a:solidFill>
              </a:rPr>
              <a:t>ть</a:t>
            </a:r>
            <a:r>
              <a:rPr lang="ru-RU" sz="2400" dirty="0">
                <a:solidFill>
                  <a:schemeClr val="bg2">
                    <a:lumMod val="50000"/>
                  </a:schemeClr>
                </a:solidFill>
              </a:rPr>
              <a:t> сепаратных каналов</a:t>
            </a:r>
            <a:r>
              <a:rPr lang="ru-RU" sz="2400" dirty="0"/>
              <a:t>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2188" y="2838191"/>
            <a:ext cx="8705460" cy="3484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80472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36097-2706-6BF6-9139-0C93ABDA9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08E0D6-AAE1-6B5D-9AA0-1B34B725D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109" y="365125"/>
            <a:ext cx="11892591" cy="602029"/>
          </a:xfrm>
        </p:spPr>
        <p:txBody>
          <a:bodyPr>
            <a:normAutofit fontScale="90000"/>
          </a:bodyPr>
          <a:lstStyle/>
          <a:p>
            <a:r>
              <a:rPr lang="ru-RU" dirty="0"/>
              <a:t>Модель подводного аппарата в контуре курса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3DF9BF0-A0D8-588C-56D0-F7F8ACF95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pPr/>
              <a:t>7</a:t>
            </a:fld>
            <a:endParaRPr lang="ru-RU"/>
          </a:p>
        </p:txBody>
      </p:sp>
      <p:sp>
        <p:nvSpPr>
          <p:cNvPr id="9" name="Прямоугольник: скругленные углы 5">
            <a:extLst>
              <a:ext uri="{FF2B5EF4-FFF2-40B4-BE49-F238E27FC236}">
                <a16:creationId xmlns:a16="http://schemas.microsoft.com/office/drawing/2014/main" id="{7E7D06B7-E794-4480-BE14-D8722D9B4B11}"/>
              </a:ext>
            </a:extLst>
          </p:cNvPr>
          <p:cNvSpPr/>
          <p:nvPr/>
        </p:nvSpPr>
        <p:spPr>
          <a:xfrm>
            <a:off x="806186" y="2240861"/>
            <a:ext cx="1512168" cy="792088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Пульт управления</a:t>
            </a:r>
          </a:p>
        </p:txBody>
      </p:sp>
      <p:sp>
        <p:nvSpPr>
          <p:cNvPr id="10" name="Прямоугольник: скругленные углы 6">
            <a:extLst>
              <a:ext uri="{FF2B5EF4-FFF2-40B4-BE49-F238E27FC236}">
                <a16:creationId xmlns:a16="http://schemas.microsoft.com/office/drawing/2014/main" id="{C82F275E-2F7F-4CDB-8EA7-88FDF13706A6}"/>
              </a:ext>
            </a:extLst>
          </p:cNvPr>
          <p:cNvSpPr/>
          <p:nvPr/>
        </p:nvSpPr>
        <p:spPr>
          <a:xfrm>
            <a:off x="3401513" y="2132856"/>
            <a:ext cx="2646724" cy="1008099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Модель </a:t>
            </a:r>
          </a:p>
          <a:p>
            <a:pPr algn="ctr"/>
            <a:r>
              <a:rPr lang="ru-RU" dirty="0"/>
              <a:t>движительно-рулевого комплекса ПА</a:t>
            </a:r>
          </a:p>
        </p:txBody>
      </p:sp>
      <p:sp>
        <p:nvSpPr>
          <p:cNvPr id="11" name="Прямоугольник: скругленные углы 7">
            <a:extLst>
              <a:ext uri="{FF2B5EF4-FFF2-40B4-BE49-F238E27FC236}">
                <a16:creationId xmlns:a16="http://schemas.microsoft.com/office/drawing/2014/main" id="{3A9675C4-086F-4D0F-9978-2DCCDFAA7406}"/>
              </a:ext>
            </a:extLst>
          </p:cNvPr>
          <p:cNvSpPr/>
          <p:nvPr/>
        </p:nvSpPr>
        <p:spPr>
          <a:xfrm>
            <a:off x="6634111" y="3401820"/>
            <a:ext cx="2502749" cy="1008097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Модель динамики ПА</a:t>
            </a:r>
          </a:p>
        </p:txBody>
      </p:sp>
      <p:sp>
        <p:nvSpPr>
          <p:cNvPr id="12" name="Прямоугольник: скругленные углы 8">
            <a:extLst>
              <a:ext uri="{FF2B5EF4-FFF2-40B4-BE49-F238E27FC236}">
                <a16:creationId xmlns:a16="http://schemas.microsoft.com/office/drawing/2014/main" id="{CBC9A52C-BC4A-4C4E-ABDA-55F764B595D6}"/>
              </a:ext>
            </a:extLst>
          </p:cNvPr>
          <p:cNvSpPr/>
          <p:nvPr/>
        </p:nvSpPr>
        <p:spPr>
          <a:xfrm>
            <a:off x="9726723" y="2132856"/>
            <a:ext cx="1656184" cy="984686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Модель среды</a:t>
            </a:r>
          </a:p>
        </p:txBody>
      </p: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5C22C07D-0F45-410E-821D-ACD53C2B3E4B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>
            <a:off x="2318354" y="2636905"/>
            <a:ext cx="1083159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AFF4B58C-9088-4794-AE14-708A74B59D88}"/>
              </a:ext>
            </a:extLst>
          </p:cNvPr>
          <p:cNvCxnSpPr>
            <a:cxnSpLocks/>
            <a:endCxn id="11" idx="1"/>
          </p:cNvCxnSpPr>
          <p:nvPr/>
        </p:nvCxnSpPr>
        <p:spPr>
          <a:xfrm flipV="1">
            <a:off x="4724874" y="3905869"/>
            <a:ext cx="1909237" cy="2538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Облачко с текстом: прямоугольное со скругленными углами 20">
            <a:extLst>
              <a:ext uri="{FF2B5EF4-FFF2-40B4-BE49-F238E27FC236}">
                <a16:creationId xmlns:a16="http://schemas.microsoft.com/office/drawing/2014/main" id="{6A8BF5B3-CD27-4997-8C8F-C6AACAD26AB2}"/>
              </a:ext>
            </a:extLst>
          </p:cNvPr>
          <p:cNvSpPr/>
          <p:nvPr/>
        </p:nvSpPr>
        <p:spPr>
          <a:xfrm>
            <a:off x="1227645" y="1018726"/>
            <a:ext cx="1872208" cy="792088"/>
          </a:xfrm>
          <a:prstGeom prst="wedgeRoundRectCallout">
            <a:avLst>
              <a:gd name="adj1" fmla="val 34749"/>
              <a:gd name="adj2" fmla="val 152224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Управляющие команды на движители</a:t>
            </a:r>
          </a:p>
        </p:txBody>
      </p:sp>
      <p:sp>
        <p:nvSpPr>
          <p:cNvPr id="16" name="Облачко с текстом: прямоугольное со скругленными углами 21">
            <a:extLst>
              <a:ext uri="{FF2B5EF4-FFF2-40B4-BE49-F238E27FC236}">
                <a16:creationId xmlns:a16="http://schemas.microsoft.com/office/drawing/2014/main" id="{4571A85F-ABAA-4F8F-A4B3-A65E39427F27}"/>
              </a:ext>
            </a:extLst>
          </p:cNvPr>
          <p:cNvSpPr/>
          <p:nvPr/>
        </p:nvSpPr>
        <p:spPr>
          <a:xfrm flipH="1">
            <a:off x="2447106" y="3236440"/>
            <a:ext cx="1872208" cy="902050"/>
          </a:xfrm>
          <a:prstGeom prst="wedgeRoundRectCallout">
            <a:avLst>
              <a:gd name="adj1" fmla="val -70221"/>
              <a:gd name="adj2" fmla="val -28866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Момент, создаваемый движителями</a:t>
            </a:r>
          </a:p>
        </p:txBody>
      </p:sp>
      <p:cxnSp>
        <p:nvCxnSpPr>
          <p:cNvPr id="17" name="Прямая со стрелкой 16">
            <a:extLst>
              <a:ext uri="{FF2B5EF4-FFF2-40B4-BE49-F238E27FC236}">
                <a16:creationId xmlns:a16="http://schemas.microsoft.com/office/drawing/2014/main" id="{44DB2626-E17F-44E5-8871-DF4596EC5B71}"/>
              </a:ext>
            </a:extLst>
          </p:cNvPr>
          <p:cNvCxnSpPr>
            <a:cxnSpLocks/>
            <a:endCxn id="11" idx="3"/>
          </p:cNvCxnSpPr>
          <p:nvPr/>
        </p:nvCxnSpPr>
        <p:spPr>
          <a:xfrm flipH="1">
            <a:off x="9136860" y="3905869"/>
            <a:ext cx="141795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A08BFF9D-3934-4F84-9B33-715E7E4F1092}"/>
              </a:ext>
            </a:extLst>
          </p:cNvPr>
          <p:cNvCxnSpPr>
            <a:cxnSpLocks/>
            <a:endCxn id="12" idx="2"/>
          </p:cNvCxnSpPr>
          <p:nvPr/>
        </p:nvCxnSpPr>
        <p:spPr>
          <a:xfrm flipV="1">
            <a:off x="10554815" y="3117542"/>
            <a:ext cx="0" cy="791291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Облачко с текстом: прямоугольное со скругленными углами 44">
            <a:extLst>
              <a:ext uri="{FF2B5EF4-FFF2-40B4-BE49-F238E27FC236}">
                <a16:creationId xmlns:a16="http://schemas.microsoft.com/office/drawing/2014/main" id="{3E1C1B23-A19A-4D94-B3FB-BFF537F76DEE}"/>
              </a:ext>
            </a:extLst>
          </p:cNvPr>
          <p:cNvSpPr/>
          <p:nvPr/>
        </p:nvSpPr>
        <p:spPr>
          <a:xfrm>
            <a:off x="2008768" y="5661256"/>
            <a:ext cx="6800445" cy="1008097"/>
          </a:xfrm>
          <a:prstGeom prst="wedgeRoundRectCallout">
            <a:avLst>
              <a:gd name="adj1" fmla="val -28422"/>
              <a:gd name="adj2" fmla="val -140357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indent="161925">
              <a:buFont typeface="Arial" panose="020B0604020202020204" pitchFamily="34" charset="0"/>
              <a:buChar char="•"/>
            </a:pPr>
            <a:r>
              <a:rPr lang="ru-RU" dirty="0"/>
              <a:t>Угол курса ПА;</a:t>
            </a:r>
          </a:p>
          <a:p>
            <a:pPr indent="161925">
              <a:buFont typeface="Arial" panose="020B0604020202020204" pitchFamily="34" charset="0"/>
              <a:buChar char="•"/>
            </a:pPr>
            <a:r>
              <a:rPr lang="ru-RU" dirty="0"/>
              <a:t>Скорость вращения ПА вокруг вертикальной оси;</a:t>
            </a:r>
          </a:p>
          <a:p>
            <a:pPr indent="161925">
              <a:buFont typeface="Arial" panose="020B0604020202020204" pitchFamily="34" charset="0"/>
              <a:buChar char="•"/>
            </a:pPr>
            <a:r>
              <a:rPr lang="ru-RU" dirty="0"/>
              <a:t>Угловое ускорение ПА при вращении вокруг вертикальной оси.</a:t>
            </a:r>
          </a:p>
        </p:txBody>
      </p:sp>
      <p:sp>
        <p:nvSpPr>
          <p:cNvPr id="20" name="Облачко с текстом: прямоугольное со скругленными углами 45">
            <a:extLst>
              <a:ext uri="{FF2B5EF4-FFF2-40B4-BE49-F238E27FC236}">
                <a16:creationId xmlns:a16="http://schemas.microsoft.com/office/drawing/2014/main" id="{7591380F-BFD7-4CFF-AB8B-81B1403217A0}"/>
              </a:ext>
            </a:extLst>
          </p:cNvPr>
          <p:cNvSpPr/>
          <p:nvPr/>
        </p:nvSpPr>
        <p:spPr>
          <a:xfrm flipH="1">
            <a:off x="9399508" y="4869969"/>
            <a:ext cx="2310613" cy="791287"/>
          </a:xfrm>
          <a:prstGeom prst="wedgeRoundRectCallout">
            <a:avLst>
              <a:gd name="adj1" fmla="val 20760"/>
              <a:gd name="adj2" fmla="val -166430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Моменты, действующие на ПА со стороны среды</a:t>
            </a:r>
          </a:p>
        </p:txBody>
      </p: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8FE89720-54F6-4465-9A7E-954D20FA4297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7885486" y="4409917"/>
            <a:ext cx="0" cy="320383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Прямоугольник: скругленные углы 42">
            <a:extLst>
              <a:ext uri="{FF2B5EF4-FFF2-40B4-BE49-F238E27FC236}">
                <a16:creationId xmlns:a16="http://schemas.microsoft.com/office/drawing/2014/main" id="{C3112334-5FCD-4B68-AF2B-AA71A1420ADD}"/>
              </a:ext>
            </a:extLst>
          </p:cNvPr>
          <p:cNvSpPr/>
          <p:nvPr/>
        </p:nvSpPr>
        <p:spPr>
          <a:xfrm>
            <a:off x="597784" y="4334256"/>
            <a:ext cx="1565965" cy="792088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Экран диагностики</a:t>
            </a:r>
          </a:p>
        </p:txBody>
      </p: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A0087C46-F72C-4559-BF89-8A86845126D7}"/>
              </a:ext>
            </a:extLst>
          </p:cNvPr>
          <p:cNvCxnSpPr>
            <a:cxnSpLocks/>
            <a:endCxn id="10" idx="2"/>
          </p:cNvCxnSpPr>
          <p:nvPr/>
        </p:nvCxnSpPr>
        <p:spPr>
          <a:xfrm flipV="1">
            <a:off x="4724875" y="3140955"/>
            <a:ext cx="0" cy="798663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Прямая со стрелкой 23">
            <a:extLst>
              <a:ext uri="{FF2B5EF4-FFF2-40B4-BE49-F238E27FC236}">
                <a16:creationId xmlns:a16="http://schemas.microsoft.com/office/drawing/2014/main" id="{A67A8DDE-2175-4674-843D-7C074974D34D}"/>
              </a:ext>
            </a:extLst>
          </p:cNvPr>
          <p:cNvCxnSpPr>
            <a:cxnSpLocks/>
            <a:endCxn id="22" idx="3"/>
          </p:cNvCxnSpPr>
          <p:nvPr/>
        </p:nvCxnSpPr>
        <p:spPr>
          <a:xfrm flipH="1">
            <a:off x="2163749" y="4730300"/>
            <a:ext cx="572173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115233" y="1192858"/>
            <a:ext cx="7540504" cy="46166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ru-RU" sz="2400" dirty="0"/>
              <a:t>Подводный аппарат расположен в плоскости горизонта.</a:t>
            </a:r>
          </a:p>
        </p:txBody>
      </p:sp>
    </p:spTree>
    <p:extLst>
      <p:ext uri="{BB962C8B-B14F-4D97-AF65-F5344CB8AC3E}">
        <p14:creationId xmlns:p14="http://schemas.microsoft.com/office/powerpoint/2010/main" val="33311732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36097-2706-6BF6-9139-0C93ABDA9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08E0D6-AAE1-6B5D-9AA0-1B34B725D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109" y="365125"/>
            <a:ext cx="11892591" cy="602029"/>
          </a:xfrm>
        </p:spPr>
        <p:txBody>
          <a:bodyPr>
            <a:normAutofit fontScale="90000"/>
          </a:bodyPr>
          <a:lstStyle/>
          <a:p>
            <a:r>
              <a:rPr lang="ru-RU" dirty="0"/>
              <a:t>Модель подводного аппарата в контуре курса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3DF9BF0-A0D8-588C-56D0-F7F8ACF95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pPr/>
              <a:t>8</a:t>
            </a:fld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573625" y="2352149"/>
                <a:ext cx="5458408" cy="5880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ru-RU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55</m:t>
                              </m:r>
                            </m:sub>
                          </m:sSub>
                        </m:e>
                      </m:d>
                      <m:acc>
                        <m:accPr>
                          <m:chr m:val="̇"/>
                          <m:ctrlPr>
                            <a:rPr lang="ru-RU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ru-RU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e>
                      </m:acc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ru-RU" sz="2800" b="0" i="1" smtClean="0">
                              <a:latin typeface="Cambria Math" panose="02040503050406030204" pitchFamily="18" charset="0"/>
                            </a:rPr>
                            <m:t>д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ru-RU" sz="2800" b="0" i="1" smtClean="0">
                              <a:latin typeface="Cambria Math" panose="02040503050406030204" pitchFamily="18" charset="0"/>
                            </a:rPr>
                            <m:t>г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ru-RU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ru-RU" sz="2800" b="0" i="1" smtClean="0">
                              <a:latin typeface="Cambria Math" panose="02040503050406030204" pitchFamily="18" charset="0"/>
                            </a:rPr>
                            <m:t>в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ru-RU" sz="28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3625" y="2352149"/>
                <a:ext cx="5458408" cy="58804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475861" y="1428819"/>
            <a:ext cx="82109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Уравнение динамики подводного аппарата в контуре курса: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55450" y="3675244"/>
                <a:ext cx="11551908" cy="24541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ru-RU" sz="2400" dirty="0"/>
                  <a:t> - момент инерции вокруг вертикальной оси,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55</m:t>
                        </m:r>
                      </m:sub>
                    </m:sSub>
                  </m:oMath>
                </a14:m>
                <a:r>
                  <a:rPr lang="ru-RU" sz="2400" dirty="0"/>
                  <a:t> - присоединенный момент инерции вокруг вертикальной оси,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ru-RU" sz="2400" dirty="0"/>
                  <a:t> - угловая скорость вокруг вертикальной оси,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ru-RU" sz="2400" i="1">
                            <a:latin typeface="Cambria Math" panose="02040503050406030204" pitchFamily="18" charset="0"/>
                          </a:rPr>
                          <m:t>д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ru-RU" sz="2400" dirty="0"/>
                  <a:t> - момент движительно-рулевого комплекса вокруг вертикальной оси,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ru-RU" sz="2400" i="1">
                            <a:latin typeface="Cambria Math" panose="02040503050406030204" pitchFamily="18" charset="0"/>
                          </a:rPr>
                          <m:t>г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ru-RU" sz="2400" dirty="0"/>
                  <a:t> - гидродинамический момент сопротивления вращению вокруг вертикальной оси,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ru-RU" sz="2400" i="1">
                            <a:latin typeface="Cambria Math" panose="02040503050406030204" pitchFamily="18" charset="0"/>
                          </a:rPr>
                          <m:t>в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ru-RU" sz="2400" dirty="0"/>
                  <a:t> - возмущающий момент вокруг вертикальной оси.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450" y="3675244"/>
                <a:ext cx="11551908" cy="2454198"/>
              </a:xfrm>
              <a:prstGeom prst="rect">
                <a:avLst/>
              </a:prstGeom>
              <a:blipFill>
                <a:blip r:embed="rId3"/>
                <a:stretch>
                  <a:fillRect l="-369" t="-1741" r="-633" b="-373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951127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36097-2706-6BF6-9139-0C93ABDA9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08E0D6-AAE1-6B5D-9AA0-1B34B725D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109" y="365125"/>
            <a:ext cx="11892591" cy="602029"/>
          </a:xfrm>
        </p:spPr>
        <p:txBody>
          <a:bodyPr>
            <a:normAutofit fontScale="90000"/>
          </a:bodyPr>
          <a:lstStyle/>
          <a:p>
            <a:r>
              <a:rPr lang="ru-RU" dirty="0"/>
              <a:t>Гидродинамический момент сопротивления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3DF9BF0-A0D8-588C-56D0-F7F8ACF95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pPr/>
              <a:t>9</a:t>
            </a:fld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217444" y="1835387"/>
                <a:ext cx="5458408" cy="5880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ru-RU" sz="2800" b="0" i="1" smtClean="0">
                              <a:latin typeface="Cambria Math" panose="02040503050406030204" pitchFamily="18" charset="0"/>
                            </a:rPr>
                            <m:t>г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ru-RU" sz="2800" b="0" i="1" smtClean="0"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ru-RU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800" b="0" i="1" smtClean="0">
                              <a:latin typeface="Cambria Math" panose="02040503050406030204" pitchFamily="18" charset="0"/>
                            </a:rPr>
                            <m:t>С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begChr m:val="|"/>
                          <m:endChr m:val="|"/>
                          <m:ctrlPr>
                            <a:rPr lang="ru-RU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800" i="1">
                              <a:latin typeface="Cambria Math" panose="02040503050406030204" pitchFamily="18" charset="0"/>
                            </a:rPr>
                            <m:t>С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sz="2800" b="0" i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7444" y="1835387"/>
                <a:ext cx="5458408" cy="58804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793988" y="2796689"/>
                <a:ext cx="7211677" cy="8893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 i="1">
                            <a:latin typeface="Cambria Math" panose="02040503050406030204" pitchFamily="18" charset="0"/>
                          </a:rPr>
                          <m:t>С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𝑦𝑖</m:t>
                        </m:r>
                      </m:sub>
                    </m:sSub>
                  </m:oMath>
                </a14:m>
                <a:r>
                  <a:rPr lang="ru-RU" sz="2400" dirty="0"/>
                  <a:t>- гидродинамические коэффициенты,</a:t>
                </a:r>
              </a:p>
              <a:p>
                <a:r>
                  <a:rPr lang="ru-RU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ru-RU" sz="2400" dirty="0"/>
                  <a:t> - угловая скорость вокруг вертикальной оси.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988" y="2796689"/>
                <a:ext cx="7211677" cy="889346"/>
              </a:xfrm>
              <a:prstGeom prst="rect">
                <a:avLst/>
              </a:prstGeom>
              <a:blipFill>
                <a:blip r:embed="rId3"/>
                <a:stretch>
                  <a:fillRect l="-169" t="-4795" b="-1164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355450" y="967154"/>
            <a:ext cx="108608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Гидродинамический момент сопротивления вращению вокруг вертикальной оси: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5449" y="3856711"/>
            <a:ext cx="108608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Линеаризация гидродинамического момента путем разложения в ряд Тейлора: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Прямоугольник 4"/>
              <p:cNvSpPr/>
              <p:nvPr/>
            </p:nvSpPr>
            <p:spPr>
              <a:xfrm>
                <a:off x="1502861" y="4511719"/>
                <a:ext cx="9077421" cy="89825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г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ru-RU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ru-RU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ru-RU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С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С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sSubSup>
                            <m:sSubSupPr>
                              <m:ctrlPr>
                                <a:rPr lang="ru-RU" sz="24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ru-RU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</m:sub>
                      </m:sSub>
                      <m:r>
                        <m:rPr>
                          <m:sty m:val="p"/>
                        </m:rPr>
                        <a:rPr lang="el-GR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ru-RU" sz="24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С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Sup>
                        <m:sSubSupPr>
                          <m:ctrlP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С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5" name="Прямоугольник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2861" y="4511719"/>
                <a:ext cx="9077421" cy="89825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Прямоугольник 9"/>
              <p:cNvSpPr/>
              <p:nvPr/>
            </p:nvSpPr>
            <p:spPr>
              <a:xfrm>
                <a:off x="916713" y="5696156"/>
                <a:ext cx="10059870" cy="49084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sz="2400" dirty="0"/>
                  <a:t> - </a:t>
                </a:r>
                <a:r>
                  <a:rPr lang="ru-RU" sz="2400" dirty="0"/>
                  <a:t>точка линеаризации – наихудший с точки зрения устойчивости случай.</a:t>
                </a:r>
              </a:p>
            </p:txBody>
          </p:sp>
        </mc:Choice>
        <mc:Fallback xmlns="">
          <p:sp>
            <p:nvSpPr>
              <p:cNvPr id="10" name="Прямоугольник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713" y="5696156"/>
                <a:ext cx="10059870" cy="490840"/>
              </a:xfrm>
              <a:prstGeom prst="rect">
                <a:avLst/>
              </a:prstGeom>
              <a:blipFill>
                <a:blip r:embed="rId5"/>
                <a:stretch>
                  <a:fillRect t="-8642" b="-222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454158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36097-2706-6BF6-9139-0C93ABDA9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08E0D6-AAE1-6B5D-9AA0-1B34B725D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109" y="365125"/>
            <a:ext cx="11892591" cy="602029"/>
          </a:xfrm>
        </p:spPr>
        <p:txBody>
          <a:bodyPr>
            <a:normAutofit fontScale="90000"/>
          </a:bodyPr>
          <a:lstStyle/>
          <a:p>
            <a:r>
              <a:rPr lang="ru-RU" dirty="0"/>
              <a:t>Момент движительно-рулевого комплекса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3DF9BF0-A0D8-588C-56D0-F7F8ACF95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pPr/>
              <a:t>10</a:t>
            </a:fld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995C41F-70BA-6449-AB30-CE67CDBE314B}"/>
                  </a:ext>
                </a:extLst>
              </p:cNvPr>
              <p:cNvSpPr txBox="1"/>
              <p:nvPr/>
            </p:nvSpPr>
            <p:spPr>
              <a:xfrm>
                <a:off x="4366728" y="1070186"/>
                <a:ext cx="5311450" cy="8526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2400" u="sng" dirty="0"/>
                  <a:t>Сила тяги движителей:</a:t>
                </a:r>
                <a:endParaRPr lang="en-US" sz="2400" u="sng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ru-RU" sz="2400" b="0" i="1" smtClean="0">
                            <a:latin typeface="Cambria Math" panose="02040503050406030204" pitchFamily="18" charset="0"/>
                          </a:rPr>
                          <m:t>дв1</m:t>
                        </m:r>
                      </m:sub>
                    </m:sSub>
                    <m:r>
                      <a:rPr lang="ru-RU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ru-RU" sz="2400" i="1">
                            <a:latin typeface="Cambria Math" panose="02040503050406030204" pitchFamily="18" charset="0"/>
                          </a:rPr>
                          <m:t>дв</m:t>
                        </m:r>
                        <m:r>
                          <a:rPr lang="ru-RU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u-RU" sz="24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ru-RU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ru-RU" sz="2400" i="1">
                            <a:latin typeface="Cambria Math" panose="02040503050406030204" pitchFamily="18" charset="0"/>
                          </a:rPr>
                          <m:t>дв</m:t>
                        </m:r>
                        <m:r>
                          <a:rPr lang="ru-RU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ru-RU" sz="24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ru-RU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ru-RU" sz="2400" i="1">
                            <a:latin typeface="Cambria Math" panose="02040503050406030204" pitchFamily="18" charset="0"/>
                          </a:rPr>
                          <m:t>дв</m:t>
                        </m:r>
                        <m:r>
                          <a:rPr lang="ru-RU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ru-RU" sz="2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ru-RU" sz="2400" i="1">
                            <a:latin typeface="Cambria Math" panose="02040503050406030204" pitchFamily="18" charset="0"/>
                          </a:rPr>
                          <m:t>дв</m:t>
                        </m:r>
                      </m:sub>
                    </m:sSub>
                    <m:r>
                      <a:rPr lang="ru-RU" sz="2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ru-RU" sz="2400" i="1">
                            <a:latin typeface="Cambria Math" panose="02040503050406030204" pitchFamily="18" charset="0"/>
                          </a:rPr>
                          <m:t>дв</m:t>
                        </m:r>
                      </m:sub>
                    </m:sSub>
                  </m:oMath>
                </a14:m>
                <a:endParaRPr lang="ru-RU" sz="24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995C41F-70BA-6449-AB30-CE67CDBE31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6728" y="1070186"/>
                <a:ext cx="5311450" cy="852606"/>
              </a:xfrm>
              <a:prstGeom prst="rect">
                <a:avLst/>
              </a:prstGeom>
              <a:blipFill>
                <a:blip r:embed="rId2"/>
                <a:stretch>
                  <a:fillRect l="-1720" t="-5755" b="-503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Box 35"/>
          <p:cNvSpPr txBox="1"/>
          <p:nvPr/>
        </p:nvSpPr>
        <p:spPr>
          <a:xfrm>
            <a:off x="4366728" y="2247663"/>
            <a:ext cx="52414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u="sng" dirty="0"/>
              <a:t>Передаточная функция движителя: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3943045" y="2656115"/>
                <a:ext cx="6734987" cy="10140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ru-RU" sz="2800" b="0" i="1" smtClean="0">
                              <a:latin typeface="Cambria Math" panose="02040503050406030204" pitchFamily="18" charset="0"/>
                            </a:rPr>
                            <m:t>дв</m:t>
                          </m:r>
                        </m:sub>
                      </m:sSub>
                      <m:r>
                        <a:rPr lang="ru-RU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ru-RU" sz="2800" i="1">
                                  <a:latin typeface="Cambria Math" panose="02040503050406030204" pitchFamily="18" charset="0"/>
                                </a:rPr>
                                <m:t>дв</m:t>
                              </m:r>
                            </m:sub>
                          </m:sSub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ru-RU" sz="2800" b="0" i="1" smtClean="0">
                                  <a:latin typeface="Cambria Math" panose="02040503050406030204" pitchFamily="18" charset="0"/>
                                </a:rPr>
                                <m:t>дв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ru-RU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ru-RU" sz="2800" b="0" i="1" smtClean="0">
                                  <a:latin typeface="Cambria Math" panose="02040503050406030204" pitchFamily="18" charset="0"/>
                                </a:rPr>
                                <m:t>дв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  <m:r>
                        <a:rPr lang="en-US" sz="2800" b="0" i="0" smtClean="0">
                          <a:latin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ru-RU" sz="2800" i="1">
                              <a:latin typeface="Cambria Math" panose="02040503050406030204" pitchFamily="18" charset="0"/>
                            </a:rPr>
                            <m:t>дв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𝑈</m:t>
                      </m:r>
                      <m:f>
                        <m:f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ru-RU" sz="2800" i="1">
                                  <a:latin typeface="Cambria Math" panose="02040503050406030204" pitchFamily="18" charset="0"/>
                                </a:rPr>
                                <m:t>дв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ru-RU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ru-RU" sz="2800" i="1">
                                  <a:latin typeface="Cambria Math" panose="02040503050406030204" pitchFamily="18" charset="0"/>
                                </a:rPr>
                                <m:t>дв</m:t>
                              </m:r>
                            </m:sub>
                          </m:s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3045" y="2656115"/>
                <a:ext cx="6734987" cy="10140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TextBox 38"/>
          <p:cNvSpPr txBox="1"/>
          <p:nvPr/>
        </p:nvSpPr>
        <p:spPr>
          <a:xfrm>
            <a:off x="3382172" y="3764209"/>
            <a:ext cx="58834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u="sng" dirty="0"/>
              <a:t>Момент движительно-рулевого комплекса: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392C4AA2-AB52-3041-8811-0227DACC68F4}"/>
                  </a:ext>
                </a:extLst>
              </p:cNvPr>
              <p:cNvSpPr txBox="1"/>
              <p:nvPr/>
            </p:nvSpPr>
            <p:spPr>
              <a:xfrm>
                <a:off x="834593" y="4388463"/>
                <a:ext cx="10791824" cy="5572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ru-RU" sz="2800" i="1">
                              <a:latin typeface="Cambria Math" panose="02040503050406030204" pitchFamily="18" charset="0"/>
                            </a:rPr>
                            <m:t>д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ru-RU" sz="2800" i="1">
                              <a:latin typeface="Cambria Math" panose="02040503050406030204" pitchFamily="18" charset="0"/>
                            </a:rPr>
                            <m:t>дв1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ru-RU" sz="2800" i="1">
                              <a:latin typeface="Cambria Math" panose="02040503050406030204" pitchFamily="18" charset="0"/>
                            </a:rPr>
                            <m:t>дв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ru-RU" sz="2800" i="1">
                              <a:latin typeface="Cambria Math" panose="02040503050406030204" pitchFamily="18" charset="0"/>
                            </a:rPr>
                            <m:t>дв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ru-RU" sz="2800" i="1">
                              <a:latin typeface="Cambria Math" panose="02040503050406030204" pitchFamily="18" charset="0"/>
                            </a:rPr>
                            <m:t>дв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ru-RU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𝑎</m:t>
                      </m:r>
                      <m:sSub>
                        <m:sSub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ru-RU" sz="2800" i="1">
                              <a:latin typeface="Cambria Math" panose="02040503050406030204" pitchFamily="18" charset="0"/>
                            </a:rPr>
                            <m:t>дв</m:t>
                          </m:r>
                        </m:sub>
                      </m:sSub>
                      <m:r>
                        <a:rPr lang="ru-RU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𝑎</m:t>
                      </m:r>
                      <m:sSub>
                        <m:sSub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ru-RU" sz="2800" i="1">
                              <a:latin typeface="Cambria Math" panose="02040503050406030204" pitchFamily="18" charset="0"/>
                            </a:rPr>
                            <m:t>дв</m:t>
                          </m:r>
                        </m:sub>
                      </m:sSub>
                      <m:r>
                        <a:rPr lang="ru-RU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𝑎</m:t>
                      </m:r>
                      <m:sSub>
                        <m:sSub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ru-RU" sz="2800" i="1">
                              <a:latin typeface="Cambria Math" panose="02040503050406030204" pitchFamily="18" charset="0"/>
                            </a:rPr>
                            <m:t>дв</m:t>
                          </m:r>
                        </m:sub>
                      </m:sSub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392C4AA2-AB52-3041-8811-0227DACC68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593" y="4388463"/>
                <a:ext cx="10791824" cy="55720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Прямоугольник 40"/>
              <p:cNvSpPr/>
              <p:nvPr/>
            </p:nvSpPr>
            <p:spPr>
              <a:xfrm>
                <a:off x="5009765" y="5265541"/>
                <a:ext cx="2959785" cy="1016881"/>
              </a:xfrm>
              <a:prstGeom prst="rect">
                <a:avLst/>
              </a:prstGeom>
              <a:ln w="38100">
                <a:solidFill>
                  <a:schemeClr val="accent3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ru-RU" sz="2800" i="1">
                              <a:latin typeface="Cambria Math" panose="02040503050406030204" pitchFamily="18" charset="0"/>
                            </a:rPr>
                            <m:t>д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sz="2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𝑈</m:t>
                      </m:r>
                      <m:f>
                        <m:f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sSub>
                            <m:sSubPr>
                              <m:ctrlPr>
                                <a:rPr lang="ru-RU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ru-RU" sz="2800" i="1">
                                  <a:latin typeface="Cambria Math" panose="02040503050406030204" pitchFamily="18" charset="0"/>
                                </a:rPr>
                                <m:t>дв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ru-RU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ru-RU" sz="2800" i="1">
                                  <a:latin typeface="Cambria Math" panose="02040503050406030204" pitchFamily="18" charset="0"/>
                                </a:rPr>
                                <m:t>дв</m:t>
                              </m:r>
                            </m:sub>
                          </m:s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41" name="Прямоугольник 4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9765" y="5265541"/>
                <a:ext cx="2959785" cy="101688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solidFill>
                  <a:schemeClr val="accent3"/>
                </a:solidFill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6B228A00-CF08-5E47-8A06-A359D360AD2B}"/>
              </a:ext>
            </a:extLst>
          </p:cNvPr>
          <p:cNvSpPr/>
          <p:nvPr/>
        </p:nvSpPr>
        <p:spPr>
          <a:xfrm>
            <a:off x="1140371" y="1692424"/>
            <a:ext cx="1583596" cy="187220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grpSp>
        <p:nvGrpSpPr>
          <p:cNvPr id="43" name="Группа 42">
            <a:extLst>
              <a:ext uri="{FF2B5EF4-FFF2-40B4-BE49-F238E27FC236}">
                <a16:creationId xmlns:a16="http://schemas.microsoft.com/office/drawing/2014/main" id="{E56518F6-E99C-9748-BE10-0D0AAE25FE80}"/>
              </a:ext>
            </a:extLst>
          </p:cNvPr>
          <p:cNvGrpSpPr/>
          <p:nvPr/>
        </p:nvGrpSpPr>
        <p:grpSpPr>
          <a:xfrm rot="18928700">
            <a:off x="1302389" y="2959226"/>
            <a:ext cx="432048" cy="504056"/>
            <a:chOff x="2051720" y="2708920"/>
            <a:chExt cx="432048" cy="504056"/>
          </a:xfrm>
        </p:grpSpPr>
        <p:sp>
          <p:nvSpPr>
            <p:cNvPr id="44" name="Прямоугольник 43">
              <a:extLst>
                <a:ext uri="{FF2B5EF4-FFF2-40B4-BE49-F238E27FC236}">
                  <a16:creationId xmlns:a16="http://schemas.microsoft.com/office/drawing/2014/main" id="{44554613-C2AD-AF47-9EC0-DA07010E407F}"/>
                </a:ext>
              </a:extLst>
            </p:cNvPr>
            <p:cNvSpPr/>
            <p:nvPr/>
          </p:nvSpPr>
          <p:spPr>
            <a:xfrm>
              <a:off x="2051720" y="2708920"/>
              <a:ext cx="432048" cy="21602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 sz="2400" dirty="0"/>
            </a:p>
          </p:txBody>
        </p:sp>
        <p:sp>
          <p:nvSpPr>
            <p:cNvPr id="45" name="Прямоугольник 44">
              <a:extLst>
                <a:ext uri="{FF2B5EF4-FFF2-40B4-BE49-F238E27FC236}">
                  <a16:creationId xmlns:a16="http://schemas.microsoft.com/office/drawing/2014/main" id="{A08D1D60-8F6D-7543-9E42-04CDC81E6E2C}"/>
                </a:ext>
              </a:extLst>
            </p:cNvPr>
            <p:cNvSpPr/>
            <p:nvPr/>
          </p:nvSpPr>
          <p:spPr>
            <a:xfrm>
              <a:off x="2159732" y="2924944"/>
              <a:ext cx="216024" cy="28803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 sz="2400"/>
            </a:p>
          </p:txBody>
        </p:sp>
      </p:grpSp>
      <p:grpSp>
        <p:nvGrpSpPr>
          <p:cNvPr id="46" name="Группа 45">
            <a:extLst>
              <a:ext uri="{FF2B5EF4-FFF2-40B4-BE49-F238E27FC236}">
                <a16:creationId xmlns:a16="http://schemas.microsoft.com/office/drawing/2014/main" id="{42AA301F-AC9B-9341-991C-C1A2D7B0279B}"/>
              </a:ext>
            </a:extLst>
          </p:cNvPr>
          <p:cNvGrpSpPr/>
          <p:nvPr/>
        </p:nvGrpSpPr>
        <p:grpSpPr>
          <a:xfrm rot="2651664">
            <a:off x="2071058" y="2959350"/>
            <a:ext cx="432048" cy="504056"/>
            <a:chOff x="2051720" y="2708920"/>
            <a:chExt cx="432048" cy="504056"/>
          </a:xfrm>
        </p:grpSpPr>
        <p:sp>
          <p:nvSpPr>
            <p:cNvPr id="47" name="Прямоугольник 46">
              <a:extLst>
                <a:ext uri="{FF2B5EF4-FFF2-40B4-BE49-F238E27FC236}">
                  <a16:creationId xmlns:a16="http://schemas.microsoft.com/office/drawing/2014/main" id="{EB8B1B98-F61F-6C48-8522-162675B663DA}"/>
                </a:ext>
              </a:extLst>
            </p:cNvPr>
            <p:cNvSpPr/>
            <p:nvPr/>
          </p:nvSpPr>
          <p:spPr>
            <a:xfrm>
              <a:off x="2051720" y="2708920"/>
              <a:ext cx="432048" cy="21602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 sz="2400"/>
            </a:p>
          </p:txBody>
        </p:sp>
        <p:sp>
          <p:nvSpPr>
            <p:cNvPr id="48" name="Прямоугольник 47">
              <a:extLst>
                <a:ext uri="{FF2B5EF4-FFF2-40B4-BE49-F238E27FC236}">
                  <a16:creationId xmlns:a16="http://schemas.microsoft.com/office/drawing/2014/main" id="{783F246D-7FE0-6542-9987-48B5C516CA21}"/>
                </a:ext>
              </a:extLst>
            </p:cNvPr>
            <p:cNvSpPr/>
            <p:nvPr/>
          </p:nvSpPr>
          <p:spPr>
            <a:xfrm>
              <a:off x="2159732" y="2924944"/>
              <a:ext cx="216024" cy="28803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 sz="2400"/>
            </a:p>
          </p:txBody>
        </p:sp>
      </p:grpSp>
      <p:grpSp>
        <p:nvGrpSpPr>
          <p:cNvPr id="49" name="Группа 48">
            <a:extLst>
              <a:ext uri="{FF2B5EF4-FFF2-40B4-BE49-F238E27FC236}">
                <a16:creationId xmlns:a16="http://schemas.microsoft.com/office/drawing/2014/main" id="{F49E8BA9-EA71-BB4F-99F7-8981EE079F61}"/>
              </a:ext>
            </a:extLst>
          </p:cNvPr>
          <p:cNvGrpSpPr/>
          <p:nvPr/>
        </p:nvGrpSpPr>
        <p:grpSpPr>
          <a:xfrm rot="8136174">
            <a:off x="2070953" y="1901271"/>
            <a:ext cx="432048" cy="504056"/>
            <a:chOff x="2051720" y="2708920"/>
            <a:chExt cx="432048" cy="504056"/>
          </a:xfrm>
        </p:grpSpPr>
        <p:sp>
          <p:nvSpPr>
            <p:cNvPr id="50" name="Прямоугольник 49">
              <a:extLst>
                <a:ext uri="{FF2B5EF4-FFF2-40B4-BE49-F238E27FC236}">
                  <a16:creationId xmlns:a16="http://schemas.microsoft.com/office/drawing/2014/main" id="{B15B0E54-1DE3-7A43-AB42-9E7463809108}"/>
                </a:ext>
              </a:extLst>
            </p:cNvPr>
            <p:cNvSpPr/>
            <p:nvPr/>
          </p:nvSpPr>
          <p:spPr>
            <a:xfrm>
              <a:off x="2051720" y="2708920"/>
              <a:ext cx="432048" cy="21602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 sz="2400" dirty="0"/>
            </a:p>
          </p:txBody>
        </p:sp>
        <p:sp>
          <p:nvSpPr>
            <p:cNvPr id="51" name="Прямоугольник 50">
              <a:extLst>
                <a:ext uri="{FF2B5EF4-FFF2-40B4-BE49-F238E27FC236}">
                  <a16:creationId xmlns:a16="http://schemas.microsoft.com/office/drawing/2014/main" id="{D28485E5-641A-054D-ABC9-0A1A95CF7CFE}"/>
                </a:ext>
              </a:extLst>
            </p:cNvPr>
            <p:cNvSpPr/>
            <p:nvPr/>
          </p:nvSpPr>
          <p:spPr>
            <a:xfrm>
              <a:off x="2159732" y="2924944"/>
              <a:ext cx="216024" cy="28803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 sz="2400"/>
            </a:p>
          </p:txBody>
        </p:sp>
      </p:grpSp>
      <p:grpSp>
        <p:nvGrpSpPr>
          <p:cNvPr id="52" name="Группа 51">
            <a:extLst>
              <a:ext uri="{FF2B5EF4-FFF2-40B4-BE49-F238E27FC236}">
                <a16:creationId xmlns:a16="http://schemas.microsoft.com/office/drawing/2014/main" id="{E9107460-FE09-8F4B-BBCD-60A84B928608}"/>
              </a:ext>
            </a:extLst>
          </p:cNvPr>
          <p:cNvGrpSpPr/>
          <p:nvPr/>
        </p:nvGrpSpPr>
        <p:grpSpPr>
          <a:xfrm rot="13539375">
            <a:off x="1302883" y="1901835"/>
            <a:ext cx="432048" cy="504056"/>
            <a:chOff x="2051720" y="2708920"/>
            <a:chExt cx="432048" cy="504056"/>
          </a:xfrm>
        </p:grpSpPr>
        <p:sp>
          <p:nvSpPr>
            <p:cNvPr id="53" name="Прямоугольник 52">
              <a:extLst>
                <a:ext uri="{FF2B5EF4-FFF2-40B4-BE49-F238E27FC236}">
                  <a16:creationId xmlns:a16="http://schemas.microsoft.com/office/drawing/2014/main" id="{19C37F9A-7069-7149-9371-64CC30D57923}"/>
                </a:ext>
              </a:extLst>
            </p:cNvPr>
            <p:cNvSpPr/>
            <p:nvPr/>
          </p:nvSpPr>
          <p:spPr>
            <a:xfrm>
              <a:off x="2051720" y="2708920"/>
              <a:ext cx="432048" cy="21602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 sz="2400" dirty="0"/>
            </a:p>
          </p:txBody>
        </p:sp>
        <p:sp>
          <p:nvSpPr>
            <p:cNvPr id="54" name="Прямоугольник 53">
              <a:extLst>
                <a:ext uri="{FF2B5EF4-FFF2-40B4-BE49-F238E27FC236}">
                  <a16:creationId xmlns:a16="http://schemas.microsoft.com/office/drawing/2014/main" id="{04EEBC01-FC5C-AF49-BA02-C3639763101C}"/>
                </a:ext>
              </a:extLst>
            </p:cNvPr>
            <p:cNvSpPr/>
            <p:nvPr/>
          </p:nvSpPr>
          <p:spPr>
            <a:xfrm>
              <a:off x="2159732" y="2924944"/>
              <a:ext cx="216024" cy="28803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 sz="2400"/>
            </a:p>
          </p:txBody>
        </p:sp>
      </p:grpSp>
      <p:cxnSp>
        <p:nvCxnSpPr>
          <p:cNvPr id="55" name="Прямая со стрелкой 54">
            <a:extLst>
              <a:ext uri="{FF2B5EF4-FFF2-40B4-BE49-F238E27FC236}">
                <a16:creationId xmlns:a16="http://schemas.microsoft.com/office/drawing/2014/main" id="{022E1CB1-AAA4-524F-903A-9EFBBBC71735}"/>
              </a:ext>
            </a:extLst>
          </p:cNvPr>
          <p:cNvCxnSpPr>
            <a:cxnSpLocks/>
          </p:cNvCxnSpPr>
          <p:nvPr/>
        </p:nvCxnSpPr>
        <p:spPr>
          <a:xfrm flipV="1">
            <a:off x="1931879" y="1332384"/>
            <a:ext cx="0" cy="138581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Прямая со стрелкой 55">
            <a:extLst>
              <a:ext uri="{FF2B5EF4-FFF2-40B4-BE49-F238E27FC236}">
                <a16:creationId xmlns:a16="http://schemas.microsoft.com/office/drawing/2014/main" id="{08C2E927-B518-334D-8E1B-92D9656040DE}"/>
              </a:ext>
            </a:extLst>
          </p:cNvPr>
          <p:cNvCxnSpPr>
            <a:cxnSpLocks/>
          </p:cNvCxnSpPr>
          <p:nvPr/>
        </p:nvCxnSpPr>
        <p:spPr>
          <a:xfrm flipV="1">
            <a:off x="1931879" y="2714432"/>
            <a:ext cx="1296144" cy="377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Прямая со стрелкой 56">
            <a:extLst>
              <a:ext uri="{FF2B5EF4-FFF2-40B4-BE49-F238E27FC236}">
                <a16:creationId xmlns:a16="http://schemas.microsoft.com/office/drawing/2014/main" id="{67F3BA3E-B80A-7744-B50C-F3EB6F4453D9}"/>
              </a:ext>
            </a:extLst>
          </p:cNvPr>
          <p:cNvCxnSpPr>
            <a:stCxn id="51" idx="0"/>
          </p:cNvCxnSpPr>
          <p:nvPr/>
        </p:nvCxnSpPr>
        <p:spPr>
          <a:xfrm>
            <a:off x="2312167" y="2179025"/>
            <a:ext cx="305488" cy="30548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Прямая со стрелкой 57">
            <a:extLst>
              <a:ext uri="{FF2B5EF4-FFF2-40B4-BE49-F238E27FC236}">
                <a16:creationId xmlns:a16="http://schemas.microsoft.com/office/drawing/2014/main" id="{D54B2017-61D9-6C48-BE21-5DAF7BE673DE}"/>
              </a:ext>
            </a:extLst>
          </p:cNvPr>
          <p:cNvCxnSpPr>
            <a:cxnSpLocks/>
            <a:stCxn id="53" idx="2"/>
          </p:cNvCxnSpPr>
          <p:nvPr/>
        </p:nvCxnSpPr>
        <p:spPr>
          <a:xfrm flipH="1">
            <a:off x="1214814" y="2179029"/>
            <a:ext cx="278345" cy="26983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Прямая со стрелкой 58">
            <a:extLst>
              <a:ext uri="{FF2B5EF4-FFF2-40B4-BE49-F238E27FC236}">
                <a16:creationId xmlns:a16="http://schemas.microsoft.com/office/drawing/2014/main" id="{8252559B-C5B7-6140-8891-54850318B0DC}"/>
              </a:ext>
            </a:extLst>
          </p:cNvPr>
          <p:cNvCxnSpPr>
            <a:cxnSpLocks/>
            <a:stCxn id="48" idx="0"/>
          </p:cNvCxnSpPr>
          <p:nvPr/>
        </p:nvCxnSpPr>
        <p:spPr>
          <a:xfrm flipV="1">
            <a:off x="2312180" y="2876578"/>
            <a:ext cx="295817" cy="30898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Прямая со стрелкой 59">
            <a:extLst>
              <a:ext uri="{FF2B5EF4-FFF2-40B4-BE49-F238E27FC236}">
                <a16:creationId xmlns:a16="http://schemas.microsoft.com/office/drawing/2014/main" id="{052E786E-5456-974F-83EF-6DBF00C6724C}"/>
              </a:ext>
            </a:extLst>
          </p:cNvPr>
          <p:cNvCxnSpPr>
            <a:cxnSpLocks/>
            <a:stCxn id="45" idx="0"/>
          </p:cNvCxnSpPr>
          <p:nvPr/>
        </p:nvCxnSpPr>
        <p:spPr>
          <a:xfrm flipH="1" flipV="1">
            <a:off x="1214814" y="2876578"/>
            <a:ext cx="278354" cy="30900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780BFD8E-58E1-164A-838A-0CB85328A035}"/>
              </a:ext>
            </a:extLst>
          </p:cNvPr>
          <p:cNvSpPr txBox="1"/>
          <p:nvPr/>
        </p:nvSpPr>
        <p:spPr>
          <a:xfrm>
            <a:off x="1988543" y="1155360"/>
            <a:ext cx="2613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x</a:t>
            </a:r>
            <a:endParaRPr lang="ru-RU" sz="24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C32C7F1-DF85-0042-8362-3B3408D42355}"/>
              </a:ext>
            </a:extLst>
          </p:cNvPr>
          <p:cNvSpPr txBox="1"/>
          <p:nvPr/>
        </p:nvSpPr>
        <p:spPr>
          <a:xfrm>
            <a:off x="3272987" y="2505152"/>
            <a:ext cx="2613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z</a:t>
            </a:r>
            <a:endParaRPr lang="ru-R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25B1A60B-2C5E-0648-BA50-C50A43BC487D}"/>
                  </a:ext>
                </a:extLst>
              </p:cNvPr>
              <p:cNvSpPr txBox="1"/>
              <p:nvPr/>
            </p:nvSpPr>
            <p:spPr>
              <a:xfrm>
                <a:off x="658436" y="2313947"/>
                <a:ext cx="288032" cy="3855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дв1</m:t>
                          </m:r>
                        </m:sub>
                      </m:sSub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25B1A60B-2C5E-0648-BA50-C50A43BC48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436" y="2313947"/>
                <a:ext cx="288032" cy="385555"/>
              </a:xfrm>
              <a:prstGeom prst="rect">
                <a:avLst/>
              </a:prstGeom>
              <a:blipFill>
                <a:blip r:embed="rId6"/>
                <a:stretch>
                  <a:fillRect r="-95745" b="-634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9D722C5C-15D5-DD44-A133-94B2E3DBE692}"/>
                  </a:ext>
                </a:extLst>
              </p:cNvPr>
              <p:cNvSpPr txBox="1"/>
              <p:nvPr/>
            </p:nvSpPr>
            <p:spPr>
              <a:xfrm>
                <a:off x="2687961" y="2333756"/>
                <a:ext cx="459835" cy="3855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дв2</m:t>
                          </m:r>
                        </m:sub>
                      </m:sSub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9D722C5C-15D5-DD44-A133-94B2E3DBE6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7961" y="2333756"/>
                <a:ext cx="459835" cy="385555"/>
              </a:xfrm>
              <a:prstGeom prst="rect">
                <a:avLst/>
              </a:prstGeom>
              <a:blipFill>
                <a:blip r:embed="rId7"/>
                <a:stretch>
                  <a:fillRect r="-21333" b="-634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54EA9C65-B0EF-F147-99F7-9F05ACF34496}"/>
                  </a:ext>
                </a:extLst>
              </p:cNvPr>
              <p:cNvSpPr txBox="1"/>
              <p:nvPr/>
            </p:nvSpPr>
            <p:spPr>
              <a:xfrm>
                <a:off x="645651" y="2787778"/>
                <a:ext cx="459835" cy="3855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дв3</m:t>
                          </m:r>
                        </m:sub>
                      </m:sSub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54EA9C65-B0EF-F147-99F7-9F05ACF344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651" y="2787778"/>
                <a:ext cx="459835" cy="385555"/>
              </a:xfrm>
              <a:prstGeom prst="rect">
                <a:avLst/>
              </a:prstGeom>
              <a:blipFill>
                <a:blip r:embed="rId8"/>
                <a:stretch>
                  <a:fillRect r="-21333" b="-468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AE215B5D-A80E-9D48-801C-2040F773CC1E}"/>
                  </a:ext>
                </a:extLst>
              </p:cNvPr>
              <p:cNvSpPr txBox="1"/>
              <p:nvPr/>
            </p:nvSpPr>
            <p:spPr>
              <a:xfrm>
                <a:off x="2686627" y="2791231"/>
                <a:ext cx="459835" cy="3855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дв4</m:t>
                          </m:r>
                        </m:sub>
                      </m:sSub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AE215B5D-A80E-9D48-801C-2040F773CC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6627" y="2791231"/>
                <a:ext cx="459835" cy="385555"/>
              </a:xfrm>
              <a:prstGeom prst="rect">
                <a:avLst/>
              </a:prstGeom>
              <a:blipFill>
                <a:blip r:embed="rId9"/>
                <a:stretch>
                  <a:fillRect r="-21333" b="-634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7" name="Прямая соединительная линия 66">
            <a:extLst>
              <a:ext uri="{FF2B5EF4-FFF2-40B4-BE49-F238E27FC236}">
                <a16:creationId xmlns:a16="http://schemas.microsoft.com/office/drawing/2014/main" id="{DAE64631-4169-46AA-96F8-AEC0C76287A6}"/>
              </a:ext>
            </a:extLst>
          </p:cNvPr>
          <p:cNvCxnSpPr>
            <a:cxnSpLocks/>
          </p:cNvCxnSpPr>
          <p:nvPr/>
        </p:nvCxnSpPr>
        <p:spPr>
          <a:xfrm flipH="1" flipV="1">
            <a:off x="1458716" y="2232690"/>
            <a:ext cx="468000" cy="468000"/>
          </a:xfrm>
          <a:prstGeom prst="line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F2FF166D-24DD-4336-A2D7-DB351A414F20}"/>
              </a:ext>
            </a:extLst>
          </p:cNvPr>
          <p:cNvSpPr txBox="1"/>
          <p:nvPr/>
        </p:nvSpPr>
        <p:spPr>
          <a:xfrm>
            <a:off x="1516788" y="2431056"/>
            <a:ext cx="2148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699804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36097-2706-6BF6-9139-0C93ABDA9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63901" y="3915518"/>
            <a:ext cx="9913799" cy="28182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08E0D6-AAE1-6B5D-9AA0-1B34B725D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109" y="365125"/>
            <a:ext cx="11892591" cy="602029"/>
          </a:xfrm>
        </p:spPr>
        <p:txBody>
          <a:bodyPr>
            <a:normAutofit fontScale="90000"/>
          </a:bodyPr>
          <a:lstStyle/>
          <a:p>
            <a:r>
              <a:rPr lang="ru-RU" dirty="0"/>
              <a:t>Модель подводного аппарата в контуре курса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3DF9BF0-A0D8-588C-56D0-F7F8ACF95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pPr/>
              <a:t>11</a:t>
            </a:fld>
            <a:endParaRPr lang="ru-RU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7295" y="966166"/>
            <a:ext cx="9702403" cy="29503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253359" y="966166"/>
            <a:ext cx="2881727" cy="461665"/>
          </a:xfrm>
          <a:prstGeom prst="rect">
            <a:avLst/>
          </a:prstGeom>
          <a:noFill/>
          <a:ln w="38100"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ru-RU" sz="2400" dirty="0"/>
              <a:t>Нелинейная модель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3359" y="4055882"/>
            <a:ext cx="3628176" cy="461665"/>
          </a:xfrm>
          <a:prstGeom prst="rect">
            <a:avLst/>
          </a:prstGeom>
          <a:noFill/>
          <a:ln w="38100"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ru-RU" sz="2400" dirty="0"/>
              <a:t>Линеаризованная модель</a:t>
            </a:r>
          </a:p>
        </p:txBody>
      </p:sp>
    </p:spTree>
    <p:extLst>
      <p:ext uri="{BB962C8B-B14F-4D97-AF65-F5344CB8AC3E}">
        <p14:creationId xmlns:p14="http://schemas.microsoft.com/office/powerpoint/2010/main" val="19004406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5CCC7-E79F-3AE6-9212-E8DB1038B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5CAC8EC-8F2C-BB9E-9B05-382C98C2354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D5DE7D-8C88-BDD8-DFB2-A0AD4D29C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Задача</a:t>
            </a:r>
            <a:r>
              <a:rPr lang="en-US" dirty="0"/>
              <a:t> 1</a:t>
            </a:r>
            <a:endParaRPr lang="ru-RU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483531CD-CF08-C99D-FA61-4AAB801BB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pPr/>
              <a:t>12</a:t>
            </a:fld>
            <a:endParaRPr lang="ru-RU"/>
          </a:p>
        </p:txBody>
      </p:sp>
      <p:sp>
        <p:nvSpPr>
          <p:cNvPr id="9" name="Содержимое 4">
            <a:extLst>
              <a:ext uri="{FF2B5EF4-FFF2-40B4-BE49-F238E27FC236}">
                <a16:creationId xmlns:a16="http://schemas.microsoft.com/office/drawing/2014/main" id="{876F03EA-4698-40BD-B464-F6CD2D34B945}"/>
              </a:ext>
            </a:extLst>
          </p:cNvPr>
          <p:cNvSpPr txBox="1">
            <a:spLocks/>
          </p:cNvSpPr>
          <p:nvPr/>
        </p:nvSpPr>
        <p:spPr>
          <a:xfrm>
            <a:off x="254523" y="967155"/>
            <a:ext cx="11764651" cy="22612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dirty="0"/>
              <a:t>Построить модель подводного аппарата в контуре дифферента</a:t>
            </a:r>
            <a:r>
              <a:rPr lang="en-US" dirty="0"/>
              <a:t> </a:t>
            </a:r>
            <a:r>
              <a:rPr lang="ru-RU" dirty="0"/>
              <a:t>и в контуре крена.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ru-RU" sz="2400" u="sng" dirty="0"/>
              <a:t>Требования: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ru-RU" sz="2400" dirty="0"/>
              <a:t>Необходимо построить нелинейную модель. Затем отдельно ее линеаризованный вид.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ru-RU" sz="2400" dirty="0"/>
              <a:t>Сравнить работу нелинейной и линеаризованной модели.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15498110-C5DF-452B-8059-D1538C1756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0751" y="3149692"/>
            <a:ext cx="7963552" cy="3538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5031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61131-2DEB-E3BC-A398-4636493CA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DBF078-1D53-F8D9-AA5D-B12A322EE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109" y="365125"/>
            <a:ext cx="11892591" cy="602029"/>
          </a:xfrm>
        </p:spPr>
        <p:txBody>
          <a:bodyPr>
            <a:normAutofit fontScale="90000"/>
          </a:bodyPr>
          <a:lstStyle/>
          <a:p>
            <a:r>
              <a:rPr lang="ru-RU" dirty="0"/>
              <a:t>Параметры подводного аппарата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B85AEC0E-3D55-72EF-3812-556B7CB4C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pPr/>
              <a:t>13</a:t>
            </a:fld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Таблица 10">
                <a:extLst>
                  <a:ext uri="{FF2B5EF4-FFF2-40B4-BE49-F238E27FC236}">
                    <a16:creationId xmlns:a16="http://schemas.microsoft.com/office/drawing/2014/main" id="{B0ECD889-03E0-49BE-94AD-EB4F90FE179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98611618"/>
                  </p:ext>
                </p:extLst>
              </p:nvPr>
            </p:nvGraphicFramePr>
            <p:xfrm>
              <a:off x="3218999" y="1054037"/>
              <a:ext cx="6096000" cy="5263136"/>
            </p:xfrm>
            <a:graphic>
              <a:graphicData uri="http://schemas.openxmlformats.org/drawingml/2006/table">
                <a:tbl>
                  <a:tblPr firstRow="1" bandRow="1">
                    <a:tableStyleId>{8799B23B-EC83-4686-B30A-512413B5E67A}</a:tableStyleId>
                  </a:tblPr>
                  <a:tblGrid>
                    <a:gridCol w="2032000">
                      <a:extLst>
                        <a:ext uri="{9D8B030D-6E8A-4147-A177-3AD203B41FA5}">
                          <a16:colId xmlns:a16="http://schemas.microsoft.com/office/drawing/2014/main" val="1629187588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4118183865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308904734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mtClean="0">
                                        <a:latin typeface="Cambria Math" panose="02040503050406030204" pitchFamily="18" charset="0"/>
                                      </a:rPr>
                                      <m:t>𝝀</m:t>
                                    </m:r>
                                  </m:e>
                                  <m:sub>
                                    <m:r>
                                      <a:rPr lang="en-US" smtClean="0">
                                        <a:latin typeface="Cambria Math" panose="02040503050406030204" pitchFamily="18" charset="0"/>
                                      </a:rPr>
                                      <m:t>𝟒𝟒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mtClean="0">
                                        <a:latin typeface="Cambria Math" panose="02040503050406030204" pitchFamily="18" charset="0"/>
                                      </a:rPr>
                                      <m:t>𝝀</m:t>
                                    </m:r>
                                  </m:e>
                                  <m:sub>
                                    <m:r>
                                      <a:rPr lang="en-US" smtClean="0">
                                        <a:latin typeface="Cambria Math" panose="02040503050406030204" pitchFamily="18" charset="0"/>
                                      </a:rPr>
                                      <m:t>𝟓𝟓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mtClean="0">
                                        <a:latin typeface="Cambria Math" panose="02040503050406030204" pitchFamily="18" charset="0"/>
                                      </a:rPr>
                                      <m:t>𝝀</m:t>
                                    </m:r>
                                  </m:e>
                                  <m:sub>
                                    <m:r>
                                      <a:rPr lang="en-US" smtClean="0">
                                        <a:latin typeface="Cambria Math" panose="02040503050406030204" pitchFamily="18" charset="0"/>
                                      </a:rPr>
                                      <m:t>𝟔𝟔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906928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mtClean="0">
                                    <a:latin typeface="Cambria Math" panose="02040503050406030204" pitchFamily="18" charset="0"/>
                                  </a:rPr>
                                  <m:t>112 </m:t>
                                </m:r>
                                <m:r>
                                  <a:rPr lang="ru-RU" smtClean="0">
                                    <a:latin typeface="Cambria Math" panose="02040503050406030204" pitchFamily="18" charset="0"/>
                                  </a:rPr>
                                  <m:t>кг∙</m:t>
                                </m:r>
                                <m:sSup>
                                  <m:sSupPr>
                                    <m:ctrlPr>
                                      <a:rPr lang="ru-RU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ru-RU" smtClean="0">
                                        <a:latin typeface="Cambria Math" panose="02040503050406030204" pitchFamily="18" charset="0"/>
                                      </a:rPr>
                                      <m:t>м</m:t>
                                    </m:r>
                                  </m:e>
                                  <m:sup>
                                    <m:r>
                                      <a:rPr lang="ru-RU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ru-RU" smtClean="0">
                                    <a:latin typeface="Cambria Math" panose="02040503050406030204" pitchFamily="18" charset="0"/>
                                  </a:rPr>
                                  <m:t>26</m:t>
                                </m:r>
                                <m:r>
                                  <a:rPr lang="en-US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ru-RU" smtClean="0">
                                    <a:latin typeface="Cambria Math" panose="02040503050406030204" pitchFamily="18" charset="0"/>
                                  </a:rPr>
                                  <m:t>кг∙</m:t>
                                </m:r>
                                <m:sSup>
                                  <m:sSupPr>
                                    <m:ctrlPr>
                                      <a:rPr lang="ru-RU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ru-RU" smtClean="0">
                                        <a:latin typeface="Cambria Math" panose="02040503050406030204" pitchFamily="18" charset="0"/>
                                      </a:rPr>
                                      <m:t>м</m:t>
                                    </m:r>
                                  </m:e>
                                  <m:sup>
                                    <m:r>
                                      <a:rPr lang="ru-RU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ru-RU" smtClean="0"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  <m:r>
                                  <a:rPr lang="en-US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ru-RU" smtClean="0">
                                    <a:latin typeface="Cambria Math" panose="02040503050406030204" pitchFamily="18" charset="0"/>
                                  </a:rPr>
                                  <m:t>кг∙</m:t>
                                </m:r>
                                <m:sSup>
                                  <m:sSupPr>
                                    <m:ctrlPr>
                                      <a:rPr lang="ru-RU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ru-RU" smtClean="0">
                                        <a:latin typeface="Cambria Math" panose="02040503050406030204" pitchFamily="18" charset="0"/>
                                      </a:rPr>
                                      <m:t>м</m:t>
                                    </m:r>
                                  </m:e>
                                  <m:sup>
                                    <m:r>
                                      <a:rPr lang="ru-RU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825446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mtClean="0">
                                        <a:latin typeface="Cambria Math" panose="02040503050406030204" pitchFamily="18" charset="0"/>
                                      </a:rPr>
                                      <m:t>𝐽</m:t>
                                    </m:r>
                                  </m:e>
                                  <m:sub>
                                    <m:r>
                                      <a:rPr lang="en-US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mtClean="0">
                                        <a:latin typeface="Cambria Math" panose="02040503050406030204" pitchFamily="18" charset="0"/>
                                      </a:rPr>
                                      <m:t>𝐽</m:t>
                                    </m:r>
                                  </m:e>
                                  <m:sub>
                                    <m:r>
                                      <a:rPr lang="en-US" smtClean="0"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mtClean="0">
                                        <a:latin typeface="Cambria Math" panose="02040503050406030204" pitchFamily="18" charset="0"/>
                                      </a:rPr>
                                      <m:t>𝐽</m:t>
                                    </m:r>
                                  </m:e>
                                  <m:sub>
                                    <m:r>
                                      <a:rPr lang="en-US" smtClean="0">
                                        <a:latin typeface="Cambria Math" panose="02040503050406030204" pitchFamily="18" charset="0"/>
                                      </a:rPr>
                                      <m:t>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215209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ru-RU" smtClean="0">
                                    <a:latin typeface="Cambria Math" panose="02040503050406030204" pitchFamily="18" charset="0"/>
                                  </a:rPr>
                                  <m:t>15</m:t>
                                </m:r>
                                <m:r>
                                  <a:rPr lang="en-US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ru-RU" smtClean="0">
                                    <a:latin typeface="Cambria Math" panose="02040503050406030204" pitchFamily="18" charset="0"/>
                                  </a:rPr>
                                  <m:t>кг∙</m:t>
                                </m:r>
                                <m:sSup>
                                  <m:sSupPr>
                                    <m:ctrlPr>
                                      <a:rPr lang="ru-RU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ru-RU" smtClean="0">
                                        <a:latin typeface="Cambria Math" panose="02040503050406030204" pitchFamily="18" charset="0"/>
                                      </a:rPr>
                                      <m:t>м</m:t>
                                    </m:r>
                                  </m:e>
                                  <m:sup>
                                    <m:r>
                                      <a:rPr lang="ru-RU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ru-RU" smtClean="0">
                                    <a:latin typeface="Cambria Math" panose="02040503050406030204" pitchFamily="18" charset="0"/>
                                  </a:rPr>
                                  <m:t>28</m:t>
                                </m:r>
                                <m:r>
                                  <a:rPr lang="en-US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ru-RU" smtClean="0">
                                    <a:latin typeface="Cambria Math" panose="02040503050406030204" pitchFamily="18" charset="0"/>
                                  </a:rPr>
                                  <m:t>кг∙</m:t>
                                </m:r>
                                <m:sSup>
                                  <m:sSupPr>
                                    <m:ctrlPr>
                                      <a:rPr lang="ru-RU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ru-RU" smtClean="0">
                                        <a:latin typeface="Cambria Math" panose="02040503050406030204" pitchFamily="18" charset="0"/>
                                      </a:rPr>
                                      <m:t>м</m:t>
                                    </m:r>
                                  </m:e>
                                  <m:sup>
                                    <m:r>
                                      <a:rPr lang="ru-RU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ru-RU" smtClean="0">
                                    <a:latin typeface="Cambria Math" panose="02040503050406030204" pitchFamily="18" charset="0"/>
                                  </a:rPr>
                                  <m:t>26</m:t>
                                </m:r>
                                <m:r>
                                  <a:rPr lang="en-US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ru-RU" smtClean="0">
                                    <a:latin typeface="Cambria Math" panose="02040503050406030204" pitchFamily="18" charset="0"/>
                                  </a:rPr>
                                  <m:t>кг∙</m:t>
                                </m:r>
                                <m:sSup>
                                  <m:sSupPr>
                                    <m:ctrlPr>
                                      <a:rPr lang="ru-RU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ru-RU" smtClean="0">
                                        <a:latin typeface="Cambria Math" panose="02040503050406030204" pitchFamily="18" charset="0"/>
                                      </a:rPr>
                                      <m:t>м</m:t>
                                    </m:r>
                                  </m:e>
                                  <m:sup>
                                    <m:r>
                                      <a:rPr lang="ru-RU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434358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smtClean="0">
                                        <a:latin typeface="Cambria Math" panose="02040503050406030204" pitchFamily="18" charset="0"/>
                                      </a:rPr>
                                      <m:t>𝝎</m:t>
                                    </m:r>
                                    <m:r>
                                      <a:rPr lang="en-US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  <m:r>
                                      <a:rPr lang="en-US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smtClean="0">
                                        <a:latin typeface="Cambria Math" panose="02040503050406030204" pitchFamily="18" charset="0"/>
                                      </a:rPr>
                                      <m:t>𝝎</m:t>
                                    </m:r>
                                    <m:r>
                                      <a:rPr lang="en-US" smtClean="0"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  <m:r>
                                      <a:rPr lang="en-US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smtClean="0">
                                        <a:latin typeface="Cambria Math" panose="02040503050406030204" pitchFamily="18" charset="0"/>
                                      </a:rPr>
                                      <m:t>𝝎</m:t>
                                    </m:r>
                                    <m:r>
                                      <a:rPr lang="en-US" smtClean="0">
                                        <a:latin typeface="Cambria Math" panose="02040503050406030204" pitchFamily="18" charset="0"/>
                                      </a:rPr>
                                      <m:t>𝒛</m:t>
                                    </m:r>
                                    <m:r>
                                      <a:rPr lang="en-US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8667838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mtClean="0">
                                    <a:latin typeface="Cambria Math" panose="02040503050406030204" pitchFamily="18" charset="0"/>
                                  </a:rPr>
                                  <m:t>92 кг∙</m:t>
                                </m:r>
                                <m:sSup>
                                  <m:sSupPr>
                                    <m:ctrlPr>
                                      <a:rPr lang="ru-RU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ru-RU" smtClean="0">
                                        <a:latin typeface="Cambria Math" panose="02040503050406030204" pitchFamily="18" charset="0"/>
                                      </a:rPr>
                                      <m:t>м</m:t>
                                    </m:r>
                                  </m:e>
                                  <m:sup>
                                    <m:r>
                                      <a:rPr lang="ru-RU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mtClean="0">
                                    <a:latin typeface="Cambria Math" panose="02040503050406030204" pitchFamily="18" charset="0"/>
                                  </a:rPr>
                                  <m:t>96 кг∙</m:t>
                                </m:r>
                                <m:sSup>
                                  <m:sSupPr>
                                    <m:ctrlPr>
                                      <a:rPr lang="ru-RU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ru-RU" smtClean="0">
                                        <a:latin typeface="Cambria Math" panose="02040503050406030204" pitchFamily="18" charset="0"/>
                                      </a:rPr>
                                      <m:t>м</m:t>
                                    </m:r>
                                  </m:e>
                                  <m:sup>
                                    <m:r>
                                      <a:rPr lang="ru-RU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mtClean="0">
                                    <a:latin typeface="Cambria Math" panose="02040503050406030204" pitchFamily="18" charset="0"/>
                                  </a:rPr>
                                  <m:t>98 кг∙</m:t>
                                </m:r>
                                <m:sSup>
                                  <m:sSupPr>
                                    <m:ctrlPr>
                                      <a:rPr lang="ru-RU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ru-RU" smtClean="0">
                                        <a:latin typeface="Cambria Math" panose="02040503050406030204" pitchFamily="18" charset="0"/>
                                      </a:rPr>
                                      <m:t>м</m:t>
                                    </m:r>
                                  </m:e>
                                  <m:sup>
                                    <m:r>
                                      <a:rPr lang="ru-RU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7901399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smtClean="0">
                                        <a:latin typeface="Cambria Math" panose="02040503050406030204" pitchFamily="18" charset="0"/>
                                      </a:rPr>
                                      <m:t>𝝎</m:t>
                                    </m:r>
                                    <m:r>
                                      <a:rPr lang="en-US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  <m:r>
                                      <a:rPr lang="en-US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smtClean="0">
                                        <a:latin typeface="Cambria Math" panose="02040503050406030204" pitchFamily="18" charset="0"/>
                                      </a:rPr>
                                      <m:t>𝝎</m:t>
                                    </m:r>
                                    <m:r>
                                      <a:rPr lang="en-US" smtClean="0"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  <m:r>
                                      <a:rPr lang="en-US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smtClean="0">
                                        <a:latin typeface="Cambria Math" panose="02040503050406030204" pitchFamily="18" charset="0"/>
                                      </a:rPr>
                                      <m:t>𝝎</m:t>
                                    </m:r>
                                    <m:r>
                                      <a:rPr lang="en-US" smtClean="0">
                                        <a:latin typeface="Cambria Math" panose="02040503050406030204" pitchFamily="18" charset="0"/>
                                      </a:rPr>
                                      <m:t>𝒛</m:t>
                                    </m:r>
                                    <m:r>
                                      <a:rPr lang="en-US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8993751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mtClean="0">
                                    <a:latin typeface="Cambria Math" panose="02040503050406030204" pitchFamily="18" charset="0"/>
                                  </a:rPr>
                                  <m:t>9,2 кг∙</m:t>
                                </m:r>
                                <m:sSup>
                                  <m:sSupPr>
                                    <m:ctrlPr>
                                      <a:rPr lang="ru-RU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ru-RU" smtClean="0">
                                        <a:latin typeface="Cambria Math" panose="02040503050406030204" pitchFamily="18" charset="0"/>
                                      </a:rPr>
                                      <m:t>м</m:t>
                                    </m:r>
                                  </m:e>
                                  <m:sup>
                                    <m:r>
                                      <a:rPr lang="ru-RU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ru-RU" smtClean="0">
                                    <a:latin typeface="Cambria Math" panose="02040503050406030204" pitchFamily="18" charset="0"/>
                                  </a:rPr>
                                  <m:t>/с</m:t>
                                </m:r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mtClean="0">
                                    <a:latin typeface="Cambria Math" panose="02040503050406030204" pitchFamily="18" charset="0"/>
                                  </a:rPr>
                                  <m:t>9,6 кг∙</m:t>
                                </m:r>
                                <m:sSup>
                                  <m:sSupPr>
                                    <m:ctrlPr>
                                      <a:rPr lang="ru-RU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ru-RU" smtClean="0">
                                        <a:latin typeface="Cambria Math" panose="02040503050406030204" pitchFamily="18" charset="0"/>
                                      </a:rPr>
                                      <m:t>м</m:t>
                                    </m:r>
                                  </m:e>
                                  <m:sup>
                                    <m:r>
                                      <a:rPr lang="ru-RU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ru-RU" smtClean="0">
                                    <a:latin typeface="Cambria Math" panose="02040503050406030204" pitchFamily="18" charset="0"/>
                                  </a:rPr>
                                  <m:t>/с</m:t>
                                </m:r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mtClean="0">
                                    <a:latin typeface="Cambria Math" panose="02040503050406030204" pitchFamily="18" charset="0"/>
                                  </a:rPr>
                                  <m:t>9,8 кг∙</m:t>
                                </m:r>
                                <m:sSup>
                                  <m:sSupPr>
                                    <m:ctrlPr>
                                      <a:rPr lang="ru-RU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ru-RU" smtClean="0">
                                        <a:latin typeface="Cambria Math" panose="02040503050406030204" pitchFamily="18" charset="0"/>
                                      </a:rPr>
                                      <m:t>м</m:t>
                                    </m:r>
                                  </m:e>
                                  <m:sup>
                                    <m:r>
                                      <a:rPr lang="ru-RU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ru-RU" smtClean="0">
                                    <a:latin typeface="Cambria Math" panose="02040503050406030204" pitchFamily="18" charset="0"/>
                                  </a:rPr>
                                  <m:t>/с</m:t>
                                </m:r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5223489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ru-RU" smtClean="0">
                                        <a:latin typeface="Cambria Math" panose="02040503050406030204" pitchFamily="18" charset="0"/>
                                      </a:rPr>
                                      <m:t>дв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ru-RU" smtClean="0">
                                        <a:latin typeface="Cambria Math" panose="02040503050406030204" pitchFamily="18" charset="0"/>
                                      </a:rPr>
                                      <m:t>дв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mtClean="0">
                                        <a:latin typeface="Cambria Math" panose="02040503050406030204" pitchFamily="18" charset="0"/>
                                      </a:rPr>
                                      <m:t>𝑈</m:t>
                                    </m:r>
                                  </m:e>
                                  <m:sub>
                                    <m:r>
                                      <a:rPr lang="en-US" smtClean="0">
                                        <a:latin typeface="Cambria Math" panose="02040503050406030204" pitchFamily="18" charset="0"/>
                                      </a:rPr>
                                      <m:t>𝒎𝒂𝒙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275748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mtClean="0">
                                    <a:latin typeface="Cambria Math" panose="02040503050406030204" pitchFamily="18" charset="0"/>
                                  </a:rPr>
                                  <m:t>15 Н/В</m:t>
                                </m:r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mtClean="0">
                                    <a:latin typeface="Cambria Math" panose="02040503050406030204" pitchFamily="18" charset="0"/>
                                  </a:rPr>
                                  <m:t>0,15 с</m:t>
                                </m:r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mtClean="0">
                                    <a:latin typeface="Cambria Math" panose="02040503050406030204" pitchFamily="18" charset="0"/>
                                  </a:rPr>
                                  <m:t>10 В</m:t>
                                </m:r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0332204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068306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mtClean="0">
                                    <a:latin typeface="Cambria Math" panose="02040503050406030204" pitchFamily="18" charset="0"/>
                                  </a:rPr>
                                  <m:t>0,4 м</m:t>
                                </m:r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mtClean="0">
                                    <a:latin typeface="Cambria Math" panose="02040503050406030204" pitchFamily="18" charset="0"/>
                                  </a:rPr>
                                  <m:t>0,2 м</m:t>
                                </m:r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mtClean="0">
                                    <a:latin typeface="Cambria Math" panose="02040503050406030204" pitchFamily="18" charset="0"/>
                                  </a:rPr>
                                  <m:t>0,15 м</m:t>
                                </m:r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073353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6785264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mtClean="0">
                                    <a:latin typeface="Cambria Math" panose="02040503050406030204" pitchFamily="18" charset="0"/>
                                  </a:rPr>
                                  <m:t>110 кг</m:t>
                                </m:r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mtClean="0">
                                    <a:latin typeface="Cambria Math" panose="02040503050406030204" pitchFamily="18" charset="0"/>
                                  </a:rPr>
                                  <m:t>0,1 м</m:t>
                                </m:r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mtClean="0">
                                    <a:latin typeface="Cambria Math" panose="02040503050406030204" pitchFamily="18" charset="0"/>
                                  </a:rPr>
                                  <m:t>0,2 </m:t>
                                </m:r>
                                <m:sSup>
                                  <m:sSupPr>
                                    <m:ctrlPr>
                                      <a:rPr lang="ru-RU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ru-RU" smtClean="0">
                                        <a:latin typeface="Cambria Math" panose="02040503050406030204" pitchFamily="18" charset="0"/>
                                      </a:rPr>
                                      <m:t>м</m:t>
                                    </m:r>
                                  </m:e>
                                  <m:sup>
                                    <m:r>
                                      <a:rPr lang="ru-RU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669164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Таблица 10">
                <a:extLst>
                  <a:ext uri="{FF2B5EF4-FFF2-40B4-BE49-F238E27FC236}">
                    <a16:creationId xmlns:a16="http://schemas.microsoft.com/office/drawing/2014/main" id="{B0ECD889-03E0-49BE-94AD-EB4F90FE179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98611618"/>
                  </p:ext>
                </p:extLst>
              </p:nvPr>
            </p:nvGraphicFramePr>
            <p:xfrm>
              <a:off x="3218999" y="1054037"/>
              <a:ext cx="6096000" cy="5268536"/>
            </p:xfrm>
            <a:graphic>
              <a:graphicData uri="http://schemas.openxmlformats.org/drawingml/2006/table">
                <a:tbl>
                  <a:tblPr firstRow="1" bandRow="1">
                    <a:tableStyleId>{8799B23B-EC83-4686-B30A-512413B5E67A}</a:tableStyleId>
                  </a:tblPr>
                  <a:tblGrid>
                    <a:gridCol w="2032000">
                      <a:extLst>
                        <a:ext uri="{9D8B030D-6E8A-4147-A177-3AD203B41FA5}">
                          <a16:colId xmlns:a16="http://schemas.microsoft.com/office/drawing/2014/main" val="1629187588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4118183865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308904734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299" t="-1639" r="-200599" b="-1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100601" t="-1639" r="-101201" b="-1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1639" r="-898" b="-13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9069282"/>
                      </a:ext>
                    </a:extLst>
                  </a:tr>
                  <a:tr h="371920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299" t="-101639" r="-200599" b="-12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100601" t="-101639" r="-101201" b="-12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101639" r="-898" b="-12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2544691"/>
                      </a:ext>
                    </a:extLst>
                  </a:tr>
                  <a:tr h="390970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299" t="-192188" r="-200599" b="-10656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100601" t="-192188" r="-101201" b="-10656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192188" r="-898" b="-106562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1520978"/>
                      </a:ext>
                    </a:extLst>
                  </a:tr>
                  <a:tr h="371920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299" t="-306557" r="-200599" b="-10180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100601" t="-306557" r="-101201" b="-10180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306557" r="-898" b="-10180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43435839"/>
                      </a:ext>
                    </a:extLst>
                  </a:tr>
                  <a:tr h="390970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299" t="-381538" r="-200599" b="-8553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100601" t="-381538" r="-101201" b="-8553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381538" r="-898" b="-85538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86678389"/>
                      </a:ext>
                    </a:extLst>
                  </a:tr>
                  <a:tr h="371920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299" t="-513115" r="-200599" b="-8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100601" t="-513115" r="-101201" b="-8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513115" r="-898" b="-8114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79013990"/>
                      </a:ext>
                    </a:extLst>
                  </a:tr>
                  <a:tr h="390970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299" t="-584375" r="-200599" b="-6734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100601" t="-584375" r="-101201" b="-6734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584375" r="-898" b="-6734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89937518"/>
                      </a:ext>
                    </a:extLst>
                  </a:tr>
                  <a:tr h="371920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299" t="-718033" r="-200599" b="-6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100601" t="-718033" r="-101201" b="-6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718033" r="-898" b="-6065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52234898"/>
                      </a:ext>
                    </a:extLst>
                  </a:tr>
                  <a:tr h="381826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299" t="-792063" r="-200599" b="-4873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100601" t="-792063" r="-101201" b="-4873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792063" r="-898" b="-48730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275748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299" t="-921311" r="-200599" b="-4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100601" t="-921311" r="-101201" b="-4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921311" r="-898" b="-4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0332204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299" t="-1021311" r="-200599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100601" t="-1021311" r="-101201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1021311" r="-898" b="-3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068306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299" t="-1121311" r="-200599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100601" t="-1121311" r="-101201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1121311" r="-898" b="-2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073353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299" t="-1221311" r="-200599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100601" t="-1221311" r="-101201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1221311" r="-898" b="-1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67852642"/>
                      </a:ext>
                    </a:extLst>
                  </a:tr>
                  <a:tr h="371920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299" t="-1321311" r="-200599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100601" t="-1321311" r="-101201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1321311" r="-898" b="-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669164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644705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4A978-0304-B59F-1A08-2C9565406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C31AF1B-8CFB-6CFA-2502-80C79C4AC23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3EFAA1-0593-9988-C709-6150E1BBF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Задача</a:t>
            </a:r>
            <a:r>
              <a:rPr lang="en-US" dirty="0"/>
              <a:t> </a:t>
            </a:r>
            <a:r>
              <a:rPr lang="ru-RU" dirty="0"/>
              <a:t>2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BB0FDDE3-8D8C-6CDB-2CA9-5D26ECF45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pPr/>
              <a:t>14</a:t>
            </a:fld>
            <a:endParaRPr lang="ru-RU"/>
          </a:p>
        </p:txBody>
      </p:sp>
      <p:sp>
        <p:nvSpPr>
          <p:cNvPr id="9" name="Содержимое 4">
            <a:extLst>
              <a:ext uri="{FF2B5EF4-FFF2-40B4-BE49-F238E27FC236}">
                <a16:creationId xmlns:a16="http://schemas.microsoft.com/office/drawing/2014/main" id="{7F0DF03E-F1AA-2912-7952-CE643952F6AE}"/>
              </a:ext>
            </a:extLst>
          </p:cNvPr>
          <p:cNvSpPr txBox="1">
            <a:spLocks/>
          </p:cNvSpPr>
          <p:nvPr/>
        </p:nvSpPr>
        <p:spPr>
          <a:xfrm>
            <a:off x="348793" y="967155"/>
            <a:ext cx="11511026" cy="2261238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dirty="0"/>
              <a:t>Построить модель подводного аппарата в контуре глубины и контуре марша.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ru-RU" sz="2400" u="sng" dirty="0"/>
              <a:t>Требования: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ru-RU" sz="2400" dirty="0"/>
              <a:t>Необходимо построить нелинейную модель. Затем отдельно ее линеаризованный вид.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ru-RU" sz="2400" dirty="0"/>
              <a:t>Сравнить работу нелинейной и линеаризованной модели.</a:t>
            </a:r>
          </a:p>
        </p:txBody>
      </p:sp>
    </p:spTree>
    <p:extLst>
      <p:ext uri="{BB962C8B-B14F-4D97-AF65-F5344CB8AC3E}">
        <p14:creationId xmlns:p14="http://schemas.microsoft.com/office/powerpoint/2010/main" val="22277016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2A702-241F-0FD7-205A-C58F52528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3CE877-36EB-5C57-407D-8AF72887F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109" y="365125"/>
            <a:ext cx="11892591" cy="602029"/>
          </a:xfrm>
        </p:spPr>
        <p:txBody>
          <a:bodyPr>
            <a:normAutofit fontScale="90000"/>
          </a:bodyPr>
          <a:lstStyle/>
          <a:p>
            <a:r>
              <a:rPr lang="ru-RU" dirty="0"/>
              <a:t>Параметры подводного аппарата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9B05353B-4736-F4B7-58AE-FF5B18F70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pPr/>
              <a:t>15</a:t>
            </a:fld>
            <a:endParaRPr lang="ru-RU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1" name="Таблица 10">
                <a:extLst>
                  <a:ext uri="{FF2B5EF4-FFF2-40B4-BE49-F238E27FC236}">
                    <a16:creationId xmlns:a16="http://schemas.microsoft.com/office/drawing/2014/main" id="{5100395D-A139-3AC5-54A9-483E94C7524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1369918"/>
                  </p:ext>
                </p:extLst>
              </p:nvPr>
            </p:nvGraphicFramePr>
            <p:xfrm>
              <a:off x="3200146" y="1449962"/>
              <a:ext cx="6096000" cy="4651186"/>
            </p:xfrm>
            <a:graphic>
              <a:graphicData uri="http://schemas.openxmlformats.org/drawingml/2006/table">
                <a:tbl>
                  <a:tblPr firstRow="1" bandRow="1">
                    <a:tableStyleId>{8799B23B-EC83-4686-B30A-512413B5E67A}</a:tableStyleId>
                  </a:tblPr>
                  <a:tblGrid>
                    <a:gridCol w="2032000">
                      <a:extLst>
                        <a:ext uri="{9D8B030D-6E8A-4147-A177-3AD203B41FA5}">
                          <a16:colId xmlns:a16="http://schemas.microsoft.com/office/drawing/2014/main" val="1629187588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4118183865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308904734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2400" smtClean="0"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sz="2400" b="0" smtClean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2400"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sz="2400" b="0" smtClean="0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2400"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sz="2400" b="0" smtClean="0">
                                        <a:latin typeface="Cambria Math" panose="02040503050406030204" pitchFamily="18" charset="0"/>
                                      </a:rPr>
                                      <m:t>33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906928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98 </m:t>
                                </m:r>
                                <m:r>
                                  <a:rPr lang="ru-RU" sz="2400" b="0" smtClean="0">
                                    <a:latin typeface="Cambria Math" panose="02040503050406030204" pitchFamily="18" charset="0"/>
                                  </a:rPr>
                                  <m:t>кг</m:t>
                                </m:r>
                              </m:oMath>
                            </m:oMathPara>
                          </a14:m>
                          <a:endParaRPr lang="ru-RU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0" smtClean="0">
                                    <a:latin typeface="Cambria Math" panose="02040503050406030204" pitchFamily="18" charset="0"/>
                                  </a:rPr>
                                  <m:t>104 </m:t>
                                </m:r>
                                <m:r>
                                  <a:rPr lang="ru-RU" sz="2400" b="0" smtClean="0">
                                    <a:latin typeface="Cambria Math" panose="02040503050406030204" pitchFamily="18" charset="0"/>
                                  </a:rPr>
                                  <m:t>кг</m:t>
                                </m:r>
                              </m:oMath>
                            </m:oMathPara>
                          </a14:m>
                          <a:endParaRPr lang="ru-RU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0" smtClean="0">
                                    <a:latin typeface="Cambria Math" panose="02040503050406030204" pitchFamily="18" charset="0"/>
                                  </a:rPr>
                                  <m:t>106 </m:t>
                                </m:r>
                                <m:r>
                                  <a:rPr lang="ru-RU" sz="2400" b="0" smtClean="0">
                                    <a:latin typeface="Cambria Math" panose="02040503050406030204" pitchFamily="18" charset="0"/>
                                  </a:rPr>
                                  <m:t>кг</m:t>
                                </m:r>
                              </m:oMath>
                            </m:oMathPara>
                          </a14:m>
                          <a:endParaRPr lang="ru-RU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825446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2400" b="0" smtClean="0">
                                        <a:latin typeface="Cambria Math" panose="02040503050406030204" pitchFamily="18" charset="0"/>
                                      </a:rPr>
                                      <m:t>С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2400" b="0" i="0" smtClean="0">
                                        <a:latin typeface="Cambria Math" panose="02040503050406030204" pitchFamily="18" charset="0"/>
                                      </a:rPr>
                                      <m:t>v</m:t>
                                    </m:r>
                                    <m:r>
                                      <a:rPr lang="en-US" sz="2400" b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2400" b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2400" b="0" smtClean="0">
                                        <a:latin typeface="Cambria Math" panose="02040503050406030204" pitchFamily="18" charset="0"/>
                                      </a:rPr>
                                      <m:t>С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2400" b="0" i="0" smtClean="0">
                                        <a:latin typeface="Cambria Math" panose="02040503050406030204" pitchFamily="18" charset="0"/>
                                      </a:rPr>
                                      <m:t>v</m:t>
                                    </m:r>
                                    <m:r>
                                      <a:rPr lang="en-US" sz="2400" b="0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a:rPr lang="en-US" sz="2400" b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2400" b="0" smtClean="0">
                                        <a:latin typeface="Cambria Math" panose="02040503050406030204" pitchFamily="18" charset="0"/>
                                      </a:rPr>
                                      <m:t>С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2400" b="0" i="0" smtClean="0">
                                        <a:latin typeface="Cambria Math" panose="02040503050406030204" pitchFamily="18" charset="0"/>
                                      </a:rPr>
                                      <m:t>v</m:t>
                                    </m:r>
                                    <m:r>
                                      <a:rPr lang="en-US" sz="2400" b="0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  <m:r>
                                      <a:rPr lang="en-US" sz="2400" b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215209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0" smtClean="0">
                                    <a:latin typeface="Cambria Math" panose="02040503050406030204" pitchFamily="18" charset="0"/>
                                  </a:rPr>
                                  <m:t>59</m:t>
                                </m:r>
                                <m:r>
                                  <a:rPr lang="ru-RU" sz="2400" b="0" smtClean="0">
                                    <a:latin typeface="Cambria Math" panose="02040503050406030204" pitchFamily="18" charset="0"/>
                                  </a:rPr>
                                  <m:t> кг/м</m:t>
                                </m:r>
                              </m:oMath>
                            </m:oMathPara>
                          </a14:m>
                          <a:endParaRPr lang="ru-RU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0" smtClean="0">
                                    <a:latin typeface="Cambria Math" panose="02040503050406030204" pitchFamily="18" charset="0"/>
                                  </a:rPr>
                                  <m:t>62</m:t>
                                </m:r>
                                <m:r>
                                  <a:rPr lang="ru-RU" sz="2400" b="0" smtClean="0">
                                    <a:latin typeface="Cambria Math" panose="02040503050406030204" pitchFamily="18" charset="0"/>
                                  </a:rPr>
                                  <m:t> кг/м</m:t>
                                </m:r>
                              </m:oMath>
                            </m:oMathPara>
                          </a14:m>
                          <a:endParaRPr lang="ru-RU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0" smtClean="0">
                                    <a:latin typeface="Cambria Math" panose="02040503050406030204" pitchFamily="18" charset="0"/>
                                  </a:rPr>
                                  <m:t>64</m:t>
                                </m:r>
                                <m:r>
                                  <a:rPr lang="ru-RU" sz="2400" b="0" smtClean="0">
                                    <a:latin typeface="Cambria Math" panose="02040503050406030204" pitchFamily="18" charset="0"/>
                                  </a:rPr>
                                  <m:t> кг/м</m:t>
                                </m:r>
                              </m:oMath>
                            </m:oMathPara>
                          </a14:m>
                          <a:endParaRPr lang="ru-RU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434358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2400" b="0" smtClean="0">
                                        <a:latin typeface="Cambria Math" panose="02040503050406030204" pitchFamily="18" charset="0"/>
                                      </a:rPr>
                                      <m:t>С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2400" b="0" i="0" smtClean="0">
                                        <a:latin typeface="Cambria Math" panose="02040503050406030204" pitchFamily="18" charset="0"/>
                                      </a:rPr>
                                      <m:t>v</m:t>
                                    </m:r>
                                    <m:r>
                                      <a:rPr lang="en-US" sz="2400" b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2400" b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2400" b="0" smtClean="0">
                                        <a:latin typeface="Cambria Math" panose="02040503050406030204" pitchFamily="18" charset="0"/>
                                      </a:rPr>
                                      <m:t>С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2400" b="0" i="0" smtClean="0">
                                        <a:latin typeface="Cambria Math" panose="02040503050406030204" pitchFamily="18" charset="0"/>
                                      </a:rPr>
                                      <m:t>v</m:t>
                                    </m:r>
                                    <m:r>
                                      <a:rPr lang="en-US" sz="2400" b="0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a:rPr lang="en-US" sz="2400" b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2400" b="0" smtClean="0">
                                        <a:latin typeface="Cambria Math" panose="02040503050406030204" pitchFamily="18" charset="0"/>
                                      </a:rPr>
                                      <m:t>С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2400" b="0" i="0" smtClean="0">
                                        <a:latin typeface="Cambria Math" panose="02040503050406030204" pitchFamily="18" charset="0"/>
                                      </a:rPr>
                                      <m:t>v</m:t>
                                    </m:r>
                                    <m:r>
                                      <a:rPr lang="en-US" sz="2400" b="0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  <m:r>
                                      <a:rPr lang="en-US" sz="2400" b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8667838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n-US" sz="2400" b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400" b="0" i="0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  <m:r>
                                  <a:rPr lang="ru-RU" sz="2400" b="0" smtClean="0">
                                    <a:latin typeface="Cambria Math" panose="02040503050406030204" pitchFamily="18" charset="0"/>
                                  </a:rPr>
                                  <m:t> кг/с</m:t>
                                </m:r>
                              </m:oMath>
                            </m:oMathPara>
                          </a14:m>
                          <a:endParaRPr lang="ru-RU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0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  <m:r>
                                  <a:rPr lang="en-US" sz="2400" b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400" b="0" i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ru-RU" sz="2400" b="0" smtClean="0">
                                    <a:latin typeface="Cambria Math" panose="02040503050406030204" pitchFamily="18" charset="0"/>
                                  </a:rPr>
                                  <m:t> кг/с</m:t>
                                </m:r>
                              </m:oMath>
                            </m:oMathPara>
                          </a14:m>
                          <a:endParaRPr lang="ru-RU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0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  <m:r>
                                  <a:rPr lang="en-US" sz="2400" b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400" b="0" i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ru-RU" sz="2400" b="0" smtClean="0">
                                    <a:latin typeface="Cambria Math" panose="02040503050406030204" pitchFamily="18" charset="0"/>
                                  </a:rPr>
                                  <m:t> кг/с</m:t>
                                </m:r>
                              </m:oMath>
                            </m:oMathPara>
                          </a14:m>
                          <a:endParaRPr lang="ru-RU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7901399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ru-RU" sz="2400" b="0" smtClean="0">
                                        <a:latin typeface="Cambria Math" panose="02040503050406030204" pitchFamily="18" charset="0"/>
                                      </a:rPr>
                                      <m:t>дв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ru-RU" sz="2400">
                                        <a:latin typeface="Cambria Math" panose="02040503050406030204" pitchFamily="18" charset="0"/>
                                      </a:rPr>
                                      <m:t>дв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smtClean="0">
                                        <a:latin typeface="Cambria Math" panose="02040503050406030204" pitchFamily="18" charset="0"/>
                                      </a:rPr>
                                      <m:t>𝑈</m:t>
                                    </m:r>
                                  </m:e>
                                  <m:sub>
                                    <m:r>
                                      <a:rPr lang="en-US" sz="2400" b="0" smtClean="0">
                                        <a:latin typeface="Cambria Math" panose="02040503050406030204" pitchFamily="18" charset="0"/>
                                      </a:rPr>
                                      <m:t>𝑚𝑎𝑥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8993751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2400" b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ru-RU" sz="2400" b="0" i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n-US" sz="2400" b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f>
                                  <m:fPr>
                                    <m:type m:val="lin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ru-RU" sz="2400" b="0" smtClean="0">
                                        <a:latin typeface="Cambria Math" panose="02040503050406030204" pitchFamily="18" charset="0"/>
                                      </a:rPr>
                                      <m:t>Н</m:t>
                                    </m:r>
                                  </m:num>
                                  <m:den>
                                    <m:r>
                                      <a:rPr lang="ru-RU" sz="2400" b="0" smtClean="0">
                                        <a:latin typeface="Cambria Math" panose="02040503050406030204" pitchFamily="18" charset="0"/>
                                      </a:rPr>
                                      <m:t>В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ru-RU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24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sz="2400" b="0" smtClean="0">
                                    <a:latin typeface="Cambria Math" panose="02040503050406030204" pitchFamily="18" charset="0"/>
                                  </a:rPr>
                                  <m:t>,15 </m:t>
                                </m:r>
                                <m:r>
                                  <a:rPr lang="en-US" sz="2400" b="0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oMath>
                            </m:oMathPara>
                          </a14:m>
                          <a:endParaRPr lang="ru-RU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smtClean="0">
                                    <a:latin typeface="Cambria Math" panose="02040503050406030204" pitchFamily="18" charset="0"/>
                                  </a:rPr>
                                  <m:t>10 </m:t>
                                </m:r>
                                <m:r>
                                  <a:rPr lang="ru-RU" sz="2400" b="0" smtClean="0">
                                    <a:latin typeface="Cambria Math" panose="02040503050406030204" pitchFamily="18" charset="0"/>
                                  </a:rPr>
                                  <m:t>В</m:t>
                                </m:r>
                              </m:oMath>
                            </m:oMathPara>
                          </a14:m>
                          <a:endParaRPr lang="ru-RU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5223489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oMath>
                            </m:oMathPara>
                          </a14:m>
                          <a:endParaRPr lang="ru-RU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sz="2400" b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275748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0" smtClean="0">
                                    <a:latin typeface="Cambria Math" panose="02040503050406030204" pitchFamily="18" charset="0"/>
                                  </a:rPr>
                                  <m:t>110</m:t>
                                </m:r>
                                <m:r>
                                  <a:rPr lang="en-US" sz="2400" b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ru-RU" sz="2400" b="0" smtClean="0">
                                    <a:latin typeface="Cambria Math" panose="02040503050406030204" pitchFamily="18" charset="0"/>
                                  </a:rPr>
                                  <m:t>кг</m:t>
                                </m:r>
                              </m:oMath>
                            </m:oMathPara>
                          </a14:m>
                          <a:endParaRPr lang="ru-RU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24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sz="2400" b="0" smtClean="0">
                                    <a:latin typeface="Cambria Math" panose="02040503050406030204" pitchFamily="18" charset="0"/>
                                  </a:rPr>
                                  <m:t>,1 </m:t>
                                </m:r>
                                <m:r>
                                  <a:rPr lang="ru-RU" sz="2400" b="0" smtClean="0">
                                    <a:latin typeface="Cambria Math" panose="02040503050406030204" pitchFamily="18" charset="0"/>
                                  </a:rPr>
                                  <m:t>м</m:t>
                                </m:r>
                              </m:oMath>
                            </m:oMathPara>
                          </a14:m>
                          <a:endParaRPr lang="ru-RU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ru-RU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0332204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1" name="Таблица 10">
                <a:extLst>
                  <a:ext uri="{FF2B5EF4-FFF2-40B4-BE49-F238E27FC236}">
                    <a16:creationId xmlns:a16="http://schemas.microsoft.com/office/drawing/2014/main" id="{5100395D-A139-3AC5-54A9-483E94C7524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1369918"/>
                  </p:ext>
                </p:extLst>
              </p:nvPr>
            </p:nvGraphicFramePr>
            <p:xfrm>
              <a:off x="3200146" y="1449962"/>
              <a:ext cx="6096000" cy="4651186"/>
            </p:xfrm>
            <a:graphic>
              <a:graphicData uri="http://schemas.openxmlformats.org/drawingml/2006/table">
                <a:tbl>
                  <a:tblPr firstRow="1" bandRow="1">
                    <a:tableStyleId>{8799B23B-EC83-4686-B30A-512413B5E67A}</a:tableStyleId>
                  </a:tblPr>
                  <a:tblGrid>
                    <a:gridCol w="2032000">
                      <a:extLst>
                        <a:ext uri="{9D8B030D-6E8A-4147-A177-3AD203B41FA5}">
                          <a16:colId xmlns:a16="http://schemas.microsoft.com/office/drawing/2014/main" val="1629187588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4118183865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308904734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99" t="-1333" r="-200898" b="-92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601" t="-1333" r="-101502" b="-92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000" t="-1333" r="-1198" b="-921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906928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99" t="-101333" r="-200898" b="-82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601" t="-101333" r="-101502" b="-82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000" t="-101333" r="-1198" b="-821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2544691"/>
                      </a:ext>
                    </a:extLst>
                  </a:tr>
                  <a:tr h="486093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99" t="-188750" r="-200898" b="-67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601" t="-188750" r="-101502" b="-67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000" t="-188750" r="-1198" b="-67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152097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99" t="-308000" r="-200898" b="-614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601" t="-308000" r="-101502" b="-614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000" t="-308000" r="-1198" b="-614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43435839"/>
                      </a:ext>
                    </a:extLst>
                  </a:tr>
                  <a:tr h="486093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99" t="-382500" r="-200898" b="-476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601" t="-382500" r="-101502" b="-476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000" t="-382500" r="-1198" b="-4762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86678389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99" t="-514667" r="-200898" b="-40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601" t="-514667" r="-101502" b="-40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000" t="-514667" r="-1198" b="-408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79013990"/>
                      </a:ext>
                    </a:extLst>
                  </a:tr>
                  <a:tr h="478600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99" t="-583544" r="-200898" b="-2873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601" t="-583544" r="-101502" b="-2873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000" t="-583544" r="-1198" b="-28734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8993751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99" t="-720000" r="-200898" b="-20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601" t="-720000" r="-101502" b="-20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000" t="-720000" r="-1198" b="-202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5223489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99" t="-820000" r="-200898" b="-10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601" t="-820000" r="-101502" b="-10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275748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99" t="-920000" r="-200898" b="-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601" t="-920000" r="-101502" b="-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ru-RU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0332204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01183846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плый синий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2739</TotalTime>
  <Words>867</Words>
  <Application>Microsoft Office PowerPoint</Application>
  <PresentationFormat>Широкоэкранный</PresentationFormat>
  <Paragraphs>206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Cambria Math</vt:lpstr>
      <vt:lpstr>Тема Office</vt:lpstr>
      <vt:lpstr>Основы моделирования и исследования систем подводных аппаратов</vt:lpstr>
      <vt:lpstr>Математическая модель подводного аппарата</vt:lpstr>
      <vt:lpstr>Системы координат</vt:lpstr>
      <vt:lpstr>Влияние среды на подводный аппарат</vt:lpstr>
      <vt:lpstr>Математическая модель подводного аппарата</vt:lpstr>
      <vt:lpstr>Обращенные уравнения динамики</vt:lpstr>
      <vt:lpstr>Модель подводного аппарата в контуре курса</vt:lpstr>
      <vt:lpstr>Модель подводного аппарата в контуре курса</vt:lpstr>
      <vt:lpstr>Гидродинамический момент сопротивления</vt:lpstr>
      <vt:lpstr>Момент движительно-рулевого комплекса</vt:lpstr>
      <vt:lpstr>Модель подводного аппарата в контуре курса</vt:lpstr>
      <vt:lpstr>Задача 1</vt:lpstr>
      <vt:lpstr>Параметры подводного аппарата</vt:lpstr>
      <vt:lpstr>Задача 2</vt:lpstr>
      <vt:lpstr>Параметры подводного аппарата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Основы моделирования и исследования систем подводных аппаратов</dc:title>
  <dc:creator>Анна Сергеевна Ромашко</dc:creator>
  <cp:lastModifiedBy>Анна Сергеевна Ромашко</cp:lastModifiedBy>
  <cp:revision>109</cp:revision>
  <dcterms:created xsi:type="dcterms:W3CDTF">2026-08-31T05:10:56Z</dcterms:created>
  <dcterms:modified xsi:type="dcterms:W3CDTF">2026-10-20T04:48:00Z</dcterms:modified>
</cp:coreProperties>
</file>