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3"/>
  </p:notesMasterIdLst>
  <p:sldIdLst>
    <p:sldId id="258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BCE"/>
    <a:srgbClr val="54A3D8"/>
    <a:srgbClr val="63CDDF"/>
    <a:srgbClr val="F57041"/>
    <a:srgbClr val="F467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DA842-A32B-DAE1-968B-B27C92854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849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Данные как результаты моделирования и исследования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D7838A-C07D-FA8A-BDF8-F58643FF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6D82F3-9BCB-4590-EBD6-CAFD26C6615E}"/>
              </a:ext>
            </a:extLst>
          </p:cNvPr>
          <p:cNvSpPr txBox="1"/>
          <p:nvPr/>
        </p:nvSpPr>
        <p:spPr>
          <a:xfrm>
            <a:off x="2702349" y="1533068"/>
            <a:ext cx="6620760" cy="1323439"/>
          </a:xfrm>
          <a:prstGeom prst="rect">
            <a:avLst/>
          </a:prstGeom>
          <a:noFill/>
          <a:ln w="38100">
            <a:solidFill>
              <a:srgbClr val="63CDDF"/>
            </a:solidFill>
          </a:ln>
        </p:spPr>
        <p:txBody>
          <a:bodyPr wrap="square" rtlCol="0">
            <a:spAutoFit/>
          </a:bodyPr>
          <a:lstStyle/>
          <a:p>
            <a:r>
              <a:rPr lang="ru-RU" sz="2000" dirty="0"/>
              <a:t>Типы данных: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/>
              <a:t>временные ряды изменения исследуемых параметров;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/>
              <a:t>реакции модели на типовые воздействия;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000" dirty="0"/>
              <a:t>наборы параметрических зависимостей…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38572-071D-747E-6A36-7DD00AAA4562}"/>
              </a:ext>
            </a:extLst>
          </p:cNvPr>
          <p:cNvSpPr txBox="1"/>
          <p:nvPr/>
        </p:nvSpPr>
        <p:spPr>
          <a:xfrm>
            <a:off x="472910" y="3167191"/>
            <a:ext cx="4261702" cy="646331"/>
          </a:xfrm>
          <a:prstGeom prst="rect">
            <a:avLst/>
          </a:prstGeom>
          <a:noFill/>
          <a:ln w="38100">
            <a:solidFill>
              <a:srgbClr val="54A3D8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Представимы в виде последовательности значений переменных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C6A04-2E54-B806-6FCC-1134632FFAB0}"/>
              </a:ext>
            </a:extLst>
          </p:cNvPr>
          <p:cNvSpPr txBox="1"/>
          <p:nvPr/>
        </p:nvSpPr>
        <p:spPr>
          <a:xfrm>
            <a:off x="2966301" y="4188491"/>
            <a:ext cx="2670928" cy="369332"/>
          </a:xfrm>
          <a:prstGeom prst="rect">
            <a:avLst/>
          </a:prstGeom>
          <a:noFill/>
          <a:ln w="38100">
            <a:solidFill>
              <a:srgbClr val="54A3D8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Записываются в таблицы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F9921-88DF-4855-8EB4-DEFDEBD1F870}"/>
              </a:ext>
            </a:extLst>
          </p:cNvPr>
          <p:cNvSpPr txBox="1"/>
          <p:nvPr/>
        </p:nvSpPr>
        <p:spPr>
          <a:xfrm>
            <a:off x="4734611" y="4932792"/>
            <a:ext cx="3684309" cy="369332"/>
          </a:xfrm>
          <a:prstGeom prst="rect">
            <a:avLst/>
          </a:prstGeom>
          <a:noFill/>
          <a:ln w="38100">
            <a:solidFill>
              <a:srgbClr val="54A3D8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Хранятся в файлах и базах данных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B5697-32AA-E1C6-2911-DBFB1F9FA1DD}"/>
              </a:ext>
            </a:extLst>
          </p:cNvPr>
          <p:cNvSpPr txBox="1"/>
          <p:nvPr/>
        </p:nvSpPr>
        <p:spPr>
          <a:xfrm>
            <a:off x="6667217" y="5676242"/>
            <a:ext cx="5079479" cy="646331"/>
          </a:xfrm>
          <a:prstGeom prst="rect">
            <a:avLst/>
          </a:prstGeom>
          <a:noFill/>
          <a:ln w="38100">
            <a:solidFill>
              <a:srgbClr val="54A3D8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Анализируются и сравниваются в виде графиков, сравнительных таблиц</a:t>
            </a:r>
          </a:p>
        </p:txBody>
      </p:sp>
    </p:spTree>
    <p:extLst>
      <p:ext uri="{BB962C8B-B14F-4D97-AF65-F5344CB8AC3E}">
        <p14:creationId xmlns:p14="http://schemas.microsoft.com/office/powerpoint/2010/main" val="206411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1C398A-5F50-C098-03F0-65529637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</a:t>
            </a:r>
            <a:r>
              <a:rPr lang="en-US" dirty="0"/>
              <a:t>Git </a:t>
            </a:r>
            <a:r>
              <a:rPr lang="ru-RU" dirty="0"/>
              <a:t>в </a:t>
            </a:r>
            <a:r>
              <a:rPr lang="en-US" dirty="0"/>
              <a:t>Windows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A02D68-E261-C137-44B5-349B0211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C17321-604C-EE72-7871-B6877B5F8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685" y="967154"/>
            <a:ext cx="3915321" cy="4467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F42F69-877F-69A1-B612-1731C05E9E2B}"/>
              </a:ext>
            </a:extLst>
          </p:cNvPr>
          <p:cNvSpPr txBox="1"/>
          <p:nvPr/>
        </p:nvSpPr>
        <p:spPr>
          <a:xfrm>
            <a:off x="6608191" y="2189220"/>
            <a:ext cx="1008668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Правой кнопкой мыши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55D10521-31DB-A69D-B2C6-D7E1B74775C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112525" y="3112550"/>
            <a:ext cx="711722" cy="42250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0277AB8-36C9-6C56-1BEC-C8F49C56D51D}"/>
              </a:ext>
            </a:extLst>
          </p:cNvPr>
          <p:cNvSpPr/>
          <p:nvPr/>
        </p:nvSpPr>
        <p:spPr>
          <a:xfrm>
            <a:off x="7824247" y="4270342"/>
            <a:ext cx="1630837" cy="22624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0CEE44F-A5EE-61C3-5A05-FCB34728C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475" y="5489268"/>
            <a:ext cx="3086531" cy="1095528"/>
          </a:xfrm>
          <a:prstGeom prst="rect">
            <a:avLst/>
          </a:prstGeom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04EEE57B-45E3-6B19-FD7D-CAEC8FD40D1D}"/>
              </a:ext>
            </a:extLst>
          </p:cNvPr>
          <p:cNvCxnSpPr>
            <a:cxnSpLocks/>
          </p:cNvCxnSpPr>
          <p:nvPr/>
        </p:nvCxnSpPr>
        <p:spPr>
          <a:xfrm>
            <a:off x="9112577" y="4550851"/>
            <a:ext cx="0" cy="11811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9AD329D-BBDB-210E-24E0-1918931EE6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9" y="1573563"/>
            <a:ext cx="5414091" cy="4142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693721-20A3-9655-90BF-7E605D3C1D0D}"/>
              </a:ext>
            </a:extLst>
          </p:cNvPr>
          <p:cNvSpPr txBox="1"/>
          <p:nvPr/>
        </p:nvSpPr>
        <p:spPr>
          <a:xfrm>
            <a:off x="681909" y="1001529"/>
            <a:ext cx="4964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Скачать приложение с официального сайта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94A9B964-9FD5-4E46-4425-826957731650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3350449" y="1348083"/>
            <a:ext cx="38506" cy="2254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86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53E25-1FE8-19E7-E389-2F6D281C9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репозиторием на </a:t>
            </a:r>
            <a:r>
              <a:rPr lang="en-US" dirty="0"/>
              <a:t>GitHub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D4A501-4446-8269-2623-C76B553B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7619" y="6322573"/>
            <a:ext cx="506018" cy="365125"/>
          </a:xfrm>
        </p:spPr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09A0A4-84BC-F405-77D3-9358467AD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19" y="1872722"/>
            <a:ext cx="4881249" cy="311255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E242E7-4221-A050-C50F-3B0068FD8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3017" y="967154"/>
            <a:ext cx="3598433" cy="5815995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6525094E-1559-9FCB-4D30-AC87AD2F8497}"/>
              </a:ext>
            </a:extLst>
          </p:cNvPr>
          <p:cNvCxnSpPr>
            <a:cxnSpLocks/>
          </p:cNvCxnSpPr>
          <p:nvPr/>
        </p:nvCxnSpPr>
        <p:spPr>
          <a:xfrm>
            <a:off x="2894029" y="1694614"/>
            <a:ext cx="810705" cy="5950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7528ECB-AEC9-91F1-3B98-EA2C0B7BE346}"/>
              </a:ext>
            </a:extLst>
          </p:cNvPr>
          <p:cNvSpPr txBox="1"/>
          <p:nvPr/>
        </p:nvSpPr>
        <p:spPr>
          <a:xfrm>
            <a:off x="282019" y="1330884"/>
            <a:ext cx="4015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После входа в аккаунт на </a:t>
            </a:r>
            <a:r>
              <a:rPr lang="en-US" sz="2000" dirty="0"/>
              <a:t>GitHub</a:t>
            </a:r>
            <a:endParaRPr lang="ru-RU" sz="2000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7A4274E-2D4B-DC0E-DFB3-37B8A04501BB}"/>
              </a:ext>
            </a:extLst>
          </p:cNvPr>
          <p:cNvSpPr/>
          <p:nvPr/>
        </p:nvSpPr>
        <p:spPr>
          <a:xfrm>
            <a:off x="3704734" y="2289622"/>
            <a:ext cx="499621" cy="36373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13DD2BB-EFB3-354E-A542-031ABC21AB95}"/>
              </a:ext>
            </a:extLst>
          </p:cNvPr>
          <p:cNvSpPr/>
          <p:nvPr/>
        </p:nvSpPr>
        <p:spPr>
          <a:xfrm>
            <a:off x="2592897" y="2997724"/>
            <a:ext cx="1253240" cy="2629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F0D84A9-0BA3-E856-C03D-DA98D5317333}"/>
              </a:ext>
            </a:extLst>
          </p:cNvPr>
          <p:cNvCxnSpPr>
            <a:cxnSpLocks/>
          </p:cNvCxnSpPr>
          <p:nvPr/>
        </p:nvCxnSpPr>
        <p:spPr>
          <a:xfrm flipV="1">
            <a:off x="3884370" y="1945250"/>
            <a:ext cx="2113977" cy="118624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075FAA8-9588-3E3C-FD88-447BB645C137}"/>
              </a:ext>
            </a:extLst>
          </p:cNvPr>
          <p:cNvSpPr/>
          <p:nvPr/>
        </p:nvSpPr>
        <p:spPr>
          <a:xfrm>
            <a:off x="7335625" y="1285414"/>
            <a:ext cx="2165825" cy="5873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107776-FF52-3AA9-89DD-0901BE773AD2}"/>
              </a:ext>
            </a:extLst>
          </p:cNvPr>
          <p:cNvSpPr txBox="1"/>
          <p:nvPr/>
        </p:nvSpPr>
        <p:spPr>
          <a:xfrm>
            <a:off x="9501450" y="1412244"/>
            <a:ext cx="251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Придумать название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36F70C53-7088-8BE5-912E-486A89FC01D0}"/>
              </a:ext>
            </a:extLst>
          </p:cNvPr>
          <p:cNvSpPr/>
          <p:nvPr/>
        </p:nvSpPr>
        <p:spPr>
          <a:xfrm>
            <a:off x="6096000" y="2359698"/>
            <a:ext cx="3405450" cy="5873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DF3474-A87E-B8CF-CFFF-4C97B998D342}"/>
              </a:ext>
            </a:extLst>
          </p:cNvPr>
          <p:cNvSpPr txBox="1"/>
          <p:nvPr/>
        </p:nvSpPr>
        <p:spPr>
          <a:xfrm>
            <a:off x="9599103" y="2257444"/>
            <a:ext cx="2513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Добавить краткое описание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091A9E1-ED7F-3462-2D2D-680A968F2A4F}"/>
              </a:ext>
            </a:extLst>
          </p:cNvPr>
          <p:cNvSpPr/>
          <p:nvPr/>
        </p:nvSpPr>
        <p:spPr>
          <a:xfrm>
            <a:off x="6193653" y="3332619"/>
            <a:ext cx="3307797" cy="73975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9F0A8-8090-2421-5374-F5D7341D2862}"/>
              </a:ext>
            </a:extLst>
          </p:cNvPr>
          <p:cNvSpPr txBox="1"/>
          <p:nvPr/>
        </p:nvSpPr>
        <p:spPr>
          <a:xfrm>
            <a:off x="9540655" y="3012735"/>
            <a:ext cx="25139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Установить область видимости на </a:t>
            </a:r>
            <a:r>
              <a:rPr lang="en-US" sz="2000" dirty="0"/>
              <a:t>Private</a:t>
            </a:r>
            <a:r>
              <a:rPr lang="ru-RU" sz="2000" dirty="0"/>
              <a:t>, чтобы Ваша работа оставалась только Вашей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7BB2AD96-8626-0438-7AB4-3CA9724A9707}"/>
              </a:ext>
            </a:extLst>
          </p:cNvPr>
          <p:cNvSpPr/>
          <p:nvPr/>
        </p:nvSpPr>
        <p:spPr>
          <a:xfrm>
            <a:off x="8399282" y="6322573"/>
            <a:ext cx="1102167" cy="46057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43945B-53AD-E25F-D0BE-D44228590EE6}"/>
              </a:ext>
            </a:extLst>
          </p:cNvPr>
          <p:cNvSpPr txBox="1"/>
          <p:nvPr/>
        </p:nvSpPr>
        <p:spPr>
          <a:xfrm>
            <a:off x="9352192" y="5922463"/>
            <a:ext cx="251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Создать репозиторий</a:t>
            </a:r>
          </a:p>
        </p:txBody>
      </p:sp>
    </p:spTree>
    <p:extLst>
      <p:ext uri="{BB962C8B-B14F-4D97-AF65-F5344CB8AC3E}">
        <p14:creationId xmlns:p14="http://schemas.microsoft.com/office/powerpoint/2010/main" val="1486184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679F8-F880-E1C3-EE29-043D12FD6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385ABD8-0CAB-34B9-8F1E-D5F4663C7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341" y="1122322"/>
            <a:ext cx="3667027" cy="537055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BF7FFCA-DE5D-E01A-5D89-5840D8EFB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32" y="936517"/>
            <a:ext cx="3062435" cy="547316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7F632-F373-7726-4063-9A633F2F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репозиторием на </a:t>
            </a:r>
            <a:r>
              <a:rPr lang="en-US" dirty="0"/>
              <a:t>GitHub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21E71D-DAF0-6121-A7EC-5253336E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7619" y="6322573"/>
            <a:ext cx="506018" cy="365125"/>
          </a:xfrm>
        </p:spPr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F1059C-A8CA-F2BC-EA29-04853E4686B2}"/>
              </a:ext>
            </a:extLst>
          </p:cNvPr>
          <p:cNvSpPr txBox="1"/>
          <p:nvPr/>
        </p:nvSpPr>
        <p:spPr>
          <a:xfrm>
            <a:off x="3138616" y="1297452"/>
            <a:ext cx="3224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Нажать кнопку пригласить, чтобы добавить меня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848F534-E04C-4D8A-D655-AE2B0A1CE9A8}"/>
              </a:ext>
            </a:extLst>
          </p:cNvPr>
          <p:cNvSpPr/>
          <p:nvPr/>
        </p:nvSpPr>
        <p:spPr>
          <a:xfrm>
            <a:off x="575560" y="3016577"/>
            <a:ext cx="979863" cy="3272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ECBA883-6259-A23F-72B9-01C54B69FB93}"/>
              </a:ext>
            </a:extLst>
          </p:cNvPr>
          <p:cNvCxnSpPr>
            <a:cxnSpLocks/>
          </p:cNvCxnSpPr>
          <p:nvPr/>
        </p:nvCxnSpPr>
        <p:spPr>
          <a:xfrm flipH="1">
            <a:off x="1555423" y="2005338"/>
            <a:ext cx="2392198" cy="11997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87C7E13E-10DF-6392-7528-4EF2916A067A}"/>
              </a:ext>
            </a:extLst>
          </p:cNvPr>
          <p:cNvSpPr/>
          <p:nvPr/>
        </p:nvSpPr>
        <p:spPr>
          <a:xfrm>
            <a:off x="10211325" y="5840134"/>
            <a:ext cx="979863" cy="3272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37279241-678B-338A-6E0A-88308E0CA8AE}"/>
              </a:ext>
            </a:extLst>
          </p:cNvPr>
          <p:cNvCxnSpPr>
            <a:cxnSpLocks/>
          </p:cNvCxnSpPr>
          <p:nvPr/>
        </p:nvCxnSpPr>
        <p:spPr>
          <a:xfrm flipV="1">
            <a:off x="1555423" y="1616969"/>
            <a:ext cx="6535918" cy="172687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21352C0-A4A3-06F0-B6C2-E585CFA5B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95" y="3205113"/>
            <a:ext cx="4248873" cy="2035918"/>
          </a:xfrm>
          <a:prstGeom prst="rect">
            <a:avLst/>
          </a:prstGeom>
        </p:spPr>
      </p:pic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B937EDF4-45A9-EE8F-3CE8-3F417E62CB29}"/>
              </a:ext>
            </a:extLst>
          </p:cNvPr>
          <p:cNvCxnSpPr>
            <a:cxnSpLocks/>
          </p:cNvCxnSpPr>
          <p:nvPr/>
        </p:nvCxnSpPr>
        <p:spPr>
          <a:xfrm flipH="1" flipV="1">
            <a:off x="7079530" y="4223072"/>
            <a:ext cx="3131795" cy="17806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9EE0C9AC-DA54-7898-31C8-A3B7E60C76FC}"/>
              </a:ext>
            </a:extLst>
          </p:cNvPr>
          <p:cNvSpPr/>
          <p:nvPr/>
        </p:nvSpPr>
        <p:spPr>
          <a:xfrm>
            <a:off x="6567079" y="4774277"/>
            <a:ext cx="1210034" cy="3727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F7CFE0-2A50-2629-3A38-FA2C04934BF2}"/>
              </a:ext>
            </a:extLst>
          </p:cNvPr>
          <p:cNvSpPr txBox="1"/>
          <p:nvPr/>
        </p:nvSpPr>
        <p:spPr>
          <a:xfrm>
            <a:off x="4741706" y="5392126"/>
            <a:ext cx="1895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Ввести мой ник</a:t>
            </a:r>
          </a:p>
        </p:txBody>
      </p: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D918EC8D-1890-F61E-DE5E-7B939315679F}"/>
              </a:ext>
            </a:extLst>
          </p:cNvPr>
          <p:cNvCxnSpPr>
            <a:cxnSpLocks/>
          </p:cNvCxnSpPr>
          <p:nvPr/>
        </p:nvCxnSpPr>
        <p:spPr>
          <a:xfrm flipH="1" flipV="1">
            <a:off x="4631951" y="4141255"/>
            <a:ext cx="984100" cy="13734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309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33A91-195D-458E-7D46-833A294E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12" y="365126"/>
            <a:ext cx="11717522" cy="5869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локальным и удаленным репозиториями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11FE1B-FB32-40AC-9B76-373C4604A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90769D-8128-0A5E-0741-59F4C1397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46" b="5846"/>
          <a:stretch>
            <a:fillRect/>
          </a:stretch>
        </p:blipFill>
        <p:spPr>
          <a:xfrm>
            <a:off x="216812" y="1442297"/>
            <a:ext cx="5070254" cy="23567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CAC68B-1663-4151-0F80-0B4523B34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82" y="4060139"/>
            <a:ext cx="6315964" cy="2262434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275F232-C371-3010-CE20-C65232F3FEB3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751939" y="3798998"/>
            <a:ext cx="0" cy="2901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704E9-03B5-4F60-802E-CC66248C9F10}"/>
              </a:ext>
            </a:extLst>
          </p:cNvPr>
          <p:cNvSpPr txBox="1"/>
          <p:nvPr/>
        </p:nvSpPr>
        <p:spPr>
          <a:xfrm>
            <a:off x="216812" y="952106"/>
            <a:ext cx="6315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Скопировать с </a:t>
            </a:r>
            <a:r>
              <a:rPr lang="en-US" sz="2000" dirty="0"/>
              <a:t>GitHub</a:t>
            </a:r>
            <a:r>
              <a:rPr lang="ru-RU" sz="2000" dirty="0"/>
              <a:t>, вставить в консоль, нажать </a:t>
            </a:r>
            <a:r>
              <a:rPr lang="en-US" sz="2000" dirty="0"/>
              <a:t>Enter</a:t>
            </a:r>
            <a:endParaRPr lang="ru-RU" sz="20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C9397CB-C517-7755-ED22-F0F0B3A92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04" y="2129914"/>
            <a:ext cx="3124208" cy="19833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7B25AE-CC77-E70C-C29D-2268F4CAB999}"/>
              </a:ext>
            </a:extLst>
          </p:cNvPr>
          <p:cNvSpPr txBox="1"/>
          <p:nvPr/>
        </p:nvSpPr>
        <p:spPr>
          <a:xfrm>
            <a:off x="5425370" y="1705902"/>
            <a:ext cx="3571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Теперь в папке на компьютере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E260C6-2EBD-8214-2DCC-A317B63F3CD5}"/>
              </a:ext>
            </a:extLst>
          </p:cNvPr>
          <p:cNvSpPr txBox="1"/>
          <p:nvPr/>
        </p:nvSpPr>
        <p:spPr>
          <a:xfrm>
            <a:off x="9359383" y="1729804"/>
            <a:ext cx="1971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Теперь в </a:t>
            </a:r>
            <a:r>
              <a:rPr lang="en-US" sz="2000" dirty="0"/>
              <a:t>GitHub</a:t>
            </a:r>
            <a:endParaRPr lang="ru-RU" sz="200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9ED65F4-623D-3AD4-6EBE-3566F0824A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126" y="2107455"/>
            <a:ext cx="3124208" cy="4107105"/>
          </a:xfrm>
          <a:prstGeom prst="rect">
            <a:avLst/>
          </a:prstGeom>
        </p:spPr>
      </p:pic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EDF751D7-951C-D5C2-7695-048E4162141E}"/>
              </a:ext>
            </a:extLst>
          </p:cNvPr>
          <p:cNvCxnSpPr>
            <a:cxnSpLocks/>
          </p:cNvCxnSpPr>
          <p:nvPr/>
        </p:nvCxnSpPr>
        <p:spPr>
          <a:xfrm flipV="1">
            <a:off x="5171697" y="3497344"/>
            <a:ext cx="477507" cy="7013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12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31C85-A03D-5E78-7389-389870C63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1" y="365125"/>
            <a:ext cx="12009749" cy="549275"/>
          </a:xfrm>
        </p:spPr>
        <p:txBody>
          <a:bodyPr>
            <a:normAutofit fontScale="90000"/>
          </a:bodyPr>
          <a:lstStyle/>
          <a:p>
            <a:r>
              <a:rPr lang="ru-RU" dirty="0"/>
              <a:t>Добавление/удаление/замена файлов в репозитории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1850E4-1BA5-0DBB-B1F6-6411B2C6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6B16EB-38A2-836D-0A61-9C762FD47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9" y="1399615"/>
            <a:ext cx="2129166" cy="14849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649B59-1D69-96D8-FDD2-E2C1C64ED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98" y="3473975"/>
            <a:ext cx="5515745" cy="17909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C3BA6B-1B84-2980-DEC7-EB81B5F2B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94" y="5998614"/>
            <a:ext cx="5323853" cy="5878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CB760DB-DE19-8E76-CCC5-985CB9758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839" y="2804602"/>
            <a:ext cx="5477639" cy="107647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069B9CF-7CFF-8644-EAD7-8D0A6778B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98" y="1419295"/>
            <a:ext cx="5439534" cy="57158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8C8A35F-9F31-22F7-E775-A098F6BDF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267" y="4780910"/>
            <a:ext cx="5404520" cy="1768527"/>
          </a:xfrm>
          <a:prstGeom prst="rect">
            <a:avLst/>
          </a:prstGeom>
        </p:spPr>
      </p:pic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968FFF3-D1E1-DA96-7D26-AE158203B9AE}"/>
              </a:ext>
            </a:extLst>
          </p:cNvPr>
          <p:cNvSpPr/>
          <p:nvPr/>
        </p:nvSpPr>
        <p:spPr>
          <a:xfrm>
            <a:off x="386498" y="999241"/>
            <a:ext cx="5420405" cy="376607"/>
          </a:xfrm>
          <a:prstGeom prst="roundRect">
            <a:avLst/>
          </a:prstGeom>
          <a:noFill/>
          <a:ln w="38100">
            <a:solidFill>
              <a:srgbClr val="2CA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1. Добавить/удалить/заменить файл в папке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9E659287-5271-E5A3-E2DF-A96C9FF4EC84}"/>
              </a:ext>
            </a:extLst>
          </p:cNvPr>
          <p:cNvSpPr/>
          <p:nvPr/>
        </p:nvSpPr>
        <p:spPr>
          <a:xfrm>
            <a:off x="386498" y="2884573"/>
            <a:ext cx="5420404" cy="571580"/>
          </a:xfrm>
          <a:prstGeom prst="roundRect">
            <a:avLst/>
          </a:prstGeom>
          <a:noFill/>
          <a:ln w="38100">
            <a:solidFill>
              <a:srgbClr val="2CA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2. Командой </a:t>
            </a:r>
            <a:r>
              <a:rPr lang="en-US" b="1" dirty="0">
                <a:solidFill>
                  <a:schemeClr val="tx1"/>
                </a:solidFill>
              </a:rPr>
              <a:t>git status </a:t>
            </a:r>
            <a:r>
              <a:rPr lang="ru-RU" dirty="0">
                <a:solidFill>
                  <a:schemeClr val="tx1"/>
                </a:solidFill>
              </a:rPr>
              <a:t>убедиться, 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что </a:t>
            </a:r>
            <a:r>
              <a:rPr lang="en-US" dirty="0">
                <a:solidFill>
                  <a:schemeClr val="tx1"/>
                </a:solidFill>
              </a:rPr>
              <a:t>git </a:t>
            </a:r>
            <a:r>
              <a:rPr lang="ru-RU" dirty="0">
                <a:solidFill>
                  <a:schemeClr val="tx1"/>
                </a:solidFill>
              </a:rPr>
              <a:t>видит изменениям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59B984A0-2358-803B-7D58-96CB2F2A0476}"/>
              </a:ext>
            </a:extLst>
          </p:cNvPr>
          <p:cNvSpPr/>
          <p:nvPr/>
        </p:nvSpPr>
        <p:spPr>
          <a:xfrm>
            <a:off x="398583" y="5321368"/>
            <a:ext cx="5408327" cy="587809"/>
          </a:xfrm>
          <a:prstGeom prst="roundRect">
            <a:avLst/>
          </a:prstGeom>
          <a:noFill/>
          <a:ln w="38100">
            <a:solidFill>
              <a:srgbClr val="2CA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3. Командой </a:t>
            </a:r>
            <a:r>
              <a:rPr lang="en-US" b="1" dirty="0">
                <a:solidFill>
                  <a:schemeClr val="tx1"/>
                </a:solidFill>
              </a:rPr>
              <a:t>git add </a:t>
            </a:r>
            <a:r>
              <a:rPr lang="ru-RU" b="1" dirty="0" err="1">
                <a:solidFill>
                  <a:schemeClr val="tx1"/>
                </a:solidFill>
              </a:rPr>
              <a:t>Имя_файла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добавить изменения под контроль версий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27A93519-8B7A-2E66-5412-2F97FFD6D26D}"/>
              </a:ext>
            </a:extLst>
          </p:cNvPr>
          <p:cNvSpPr/>
          <p:nvPr/>
        </p:nvSpPr>
        <p:spPr>
          <a:xfrm>
            <a:off x="6162698" y="968704"/>
            <a:ext cx="5439534" cy="376607"/>
          </a:xfrm>
          <a:prstGeom prst="roundRect">
            <a:avLst/>
          </a:prstGeom>
          <a:noFill/>
          <a:ln w="38100">
            <a:solidFill>
              <a:srgbClr val="2CA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4. Командой </a:t>
            </a:r>
            <a:r>
              <a:rPr lang="en-US" b="1" dirty="0">
                <a:solidFill>
                  <a:schemeClr val="tx1"/>
                </a:solidFill>
              </a:rPr>
              <a:t>git commit </a:t>
            </a:r>
            <a:r>
              <a:rPr lang="ru-RU" dirty="0">
                <a:solidFill>
                  <a:schemeClr val="tx1"/>
                </a:solidFill>
              </a:rPr>
              <a:t>зафиксировать изменения.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809E49E3-54FD-BD25-D77F-D965169CE683}"/>
              </a:ext>
            </a:extLst>
          </p:cNvPr>
          <p:cNvSpPr/>
          <p:nvPr/>
        </p:nvSpPr>
        <p:spPr>
          <a:xfrm>
            <a:off x="6162698" y="2064859"/>
            <a:ext cx="5439534" cy="643815"/>
          </a:xfrm>
          <a:prstGeom prst="roundRect">
            <a:avLst/>
          </a:prstGeom>
          <a:noFill/>
          <a:ln w="38100">
            <a:solidFill>
              <a:srgbClr val="2CA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5. В появившемся файле кратко описать изменения, сохранить файл командой </a:t>
            </a:r>
            <a:r>
              <a:rPr lang="en-US" b="1" dirty="0" err="1">
                <a:solidFill>
                  <a:schemeClr val="tx1"/>
                </a:solidFill>
              </a:rPr>
              <a:t>Ctrl+S</a:t>
            </a:r>
            <a:r>
              <a:rPr lang="ru-RU" dirty="0">
                <a:solidFill>
                  <a:schemeClr val="tx1"/>
                </a:solidFill>
              </a:rPr>
              <a:t> и закрыть.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BF79A35-2CAB-52E9-EA08-EBBA04763AA4}"/>
              </a:ext>
            </a:extLst>
          </p:cNvPr>
          <p:cNvSpPr/>
          <p:nvPr/>
        </p:nvSpPr>
        <p:spPr>
          <a:xfrm>
            <a:off x="6183985" y="4037497"/>
            <a:ext cx="5439534" cy="643815"/>
          </a:xfrm>
          <a:prstGeom prst="roundRect">
            <a:avLst/>
          </a:prstGeom>
          <a:noFill/>
          <a:ln w="38100">
            <a:solidFill>
              <a:srgbClr val="2CAB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r>
              <a:rPr lang="ru-RU" dirty="0">
                <a:solidFill>
                  <a:schemeClr val="tx1"/>
                </a:solidFill>
              </a:rPr>
              <a:t>. Командой </a:t>
            </a:r>
            <a:r>
              <a:rPr lang="en-US" b="1" dirty="0">
                <a:solidFill>
                  <a:schemeClr val="tx1"/>
                </a:solidFill>
              </a:rPr>
              <a:t>git push </a:t>
            </a:r>
            <a:r>
              <a:rPr lang="ru-RU" dirty="0">
                <a:solidFill>
                  <a:schemeClr val="tx1"/>
                </a:solidFill>
              </a:rPr>
              <a:t>отправить изменения на удаленный репозиторий.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7DE35FF6-29CA-7E58-2626-7DEA2E4EF5CE}"/>
              </a:ext>
            </a:extLst>
          </p:cNvPr>
          <p:cNvCxnSpPr/>
          <p:nvPr/>
        </p:nvCxnSpPr>
        <p:spPr>
          <a:xfrm>
            <a:off x="6024794" y="999241"/>
            <a:ext cx="0" cy="5587181"/>
          </a:xfrm>
          <a:prstGeom prst="line">
            <a:avLst/>
          </a:prstGeom>
          <a:ln w="38100">
            <a:solidFill>
              <a:srgbClr val="2CAB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51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8">
            <a:extLst>
              <a:ext uri="{FF2B5EF4-FFF2-40B4-BE49-F238E27FC236}">
                <a16:creationId xmlns:a16="http://schemas.microsoft.com/office/drawing/2014/main" id="{22FAA570-0571-857D-094F-392F159B8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71" y="1564162"/>
            <a:ext cx="4504544" cy="109307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790A78A-F3D2-2AA3-9E6E-C17FFA698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358" y="1873688"/>
            <a:ext cx="7498081" cy="481401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C1DF6-4AE0-BE75-E5EE-D11980BF0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Чтение данных из файла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7B18AA9-C3D6-0559-73BF-591BF7E0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0D7D7-FBA7-4068-AA54-D1B5F396C1A1}"/>
              </a:ext>
            </a:extLst>
          </p:cNvPr>
          <p:cNvSpPr txBox="1"/>
          <p:nvPr/>
        </p:nvSpPr>
        <p:spPr>
          <a:xfrm>
            <a:off x="529471" y="1074440"/>
            <a:ext cx="8143189" cy="369332"/>
          </a:xfrm>
          <a:prstGeom prst="rect">
            <a:avLst/>
          </a:prstGeom>
          <a:noFill/>
          <a:ln w="38100">
            <a:solidFill>
              <a:srgbClr val="54A3D8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Файл содержит данные в виде </a:t>
            </a:r>
            <a:r>
              <a:rPr lang="ru-RU" b="1" dirty="0"/>
              <a:t>таблицы</a:t>
            </a:r>
            <a:r>
              <a:rPr lang="ru-RU" dirty="0"/>
              <a:t>. Допустимы как </a:t>
            </a:r>
            <a:r>
              <a:rPr lang="en-US" dirty="0"/>
              <a:t>csv</a:t>
            </a:r>
            <a:r>
              <a:rPr lang="ru-RU" dirty="0"/>
              <a:t>, так и </a:t>
            </a:r>
            <a:r>
              <a:rPr lang="en-US" dirty="0"/>
              <a:t>Excel </a:t>
            </a:r>
            <a:r>
              <a:rPr lang="ru-RU" dirty="0"/>
              <a:t>форматы.</a:t>
            </a:r>
          </a:p>
        </p:txBody>
      </p:sp>
      <p:sp>
        <p:nvSpPr>
          <p:cNvPr id="7" name="Скругленный прямоугольник 5">
            <a:extLst>
              <a:ext uri="{FF2B5EF4-FFF2-40B4-BE49-F238E27FC236}">
                <a16:creationId xmlns:a16="http://schemas.microsoft.com/office/drawing/2014/main" id="{09171E12-7DDA-BD30-6DFA-87EEAD2279CD}"/>
              </a:ext>
            </a:extLst>
          </p:cNvPr>
          <p:cNvSpPr/>
          <p:nvPr/>
        </p:nvSpPr>
        <p:spPr>
          <a:xfrm>
            <a:off x="2937521" y="1829213"/>
            <a:ext cx="484032" cy="7764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8072AEBD-834D-D4DE-6C4E-F669506B16A0}"/>
              </a:ext>
            </a:extLst>
          </p:cNvPr>
          <p:cNvCxnSpPr>
            <a:cxnSpLocks/>
          </p:cNvCxnSpPr>
          <p:nvPr/>
        </p:nvCxnSpPr>
        <p:spPr>
          <a:xfrm>
            <a:off x="3421553" y="2217440"/>
            <a:ext cx="612805" cy="2995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Скругленный прямоугольник 5">
            <a:extLst>
              <a:ext uri="{FF2B5EF4-FFF2-40B4-BE49-F238E27FC236}">
                <a16:creationId xmlns:a16="http://schemas.microsoft.com/office/drawing/2014/main" id="{5E7F3FE2-F2EF-C9F5-734D-909CF878FE6F}"/>
              </a:ext>
            </a:extLst>
          </p:cNvPr>
          <p:cNvSpPr/>
          <p:nvPr/>
        </p:nvSpPr>
        <p:spPr>
          <a:xfrm>
            <a:off x="10552154" y="2338917"/>
            <a:ext cx="720080" cy="86409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6558358E-3B8B-4159-7FC6-F3EED77888B5}"/>
              </a:ext>
            </a:extLst>
          </p:cNvPr>
          <p:cNvCxnSpPr>
            <a:cxnSpLocks/>
          </p:cNvCxnSpPr>
          <p:nvPr/>
        </p:nvCxnSpPr>
        <p:spPr>
          <a:xfrm flipH="1" flipV="1">
            <a:off x="6986087" y="2790333"/>
            <a:ext cx="622081" cy="86652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2F3959-F378-D3CE-2B4E-EBC5F6F63469}"/>
              </a:ext>
            </a:extLst>
          </p:cNvPr>
          <p:cNvSpPr txBox="1"/>
          <p:nvPr/>
        </p:nvSpPr>
        <p:spPr>
          <a:xfrm>
            <a:off x="7606118" y="3472190"/>
            <a:ext cx="3537640" cy="36933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В какой форме загрузить данные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F7760A-6F2E-B223-704A-5003F538D199}"/>
              </a:ext>
            </a:extLst>
          </p:cNvPr>
          <p:cNvSpPr txBox="1"/>
          <p:nvPr/>
        </p:nvSpPr>
        <p:spPr>
          <a:xfrm>
            <a:off x="209572" y="3141379"/>
            <a:ext cx="3240925" cy="36933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Диапазон данных для загрузки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358F82E9-F562-B41B-EDE7-2967CFC6C5A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450497" y="2605667"/>
            <a:ext cx="1162526" cy="72037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C5340EF-E47E-BF72-143B-D7CE32AC4582}"/>
              </a:ext>
            </a:extLst>
          </p:cNvPr>
          <p:cNvSpPr txBox="1"/>
          <p:nvPr/>
        </p:nvSpPr>
        <p:spPr>
          <a:xfrm>
            <a:off x="190316" y="4430838"/>
            <a:ext cx="3537640" cy="92333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Как будут называться переменные, в которые будут загружены данные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3CF2D204-0DB6-C0AA-EA86-605ED6A1862B}"/>
              </a:ext>
            </a:extLst>
          </p:cNvPr>
          <p:cNvCxnSpPr>
            <a:cxnSpLocks/>
          </p:cNvCxnSpPr>
          <p:nvPr/>
        </p:nvCxnSpPr>
        <p:spPr>
          <a:xfrm flipV="1">
            <a:off x="3727956" y="3656856"/>
            <a:ext cx="532959" cy="77398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09DFC1E-7942-05B7-8466-AD6FD9384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320" y="4849363"/>
            <a:ext cx="3331119" cy="1838335"/>
          </a:xfrm>
          <a:prstGeom prst="rect">
            <a:avLst/>
          </a:prstGeom>
        </p:spPr>
      </p:pic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946761BC-C890-9E67-A2AB-3A6728F444E5}"/>
              </a:ext>
            </a:extLst>
          </p:cNvPr>
          <p:cNvCxnSpPr>
            <a:cxnSpLocks/>
          </p:cNvCxnSpPr>
          <p:nvPr/>
        </p:nvCxnSpPr>
        <p:spPr>
          <a:xfrm>
            <a:off x="7297127" y="3689641"/>
            <a:ext cx="904193" cy="190988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53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465AFE-08D6-A132-AA53-B12F689E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71"/>
          <a:stretch>
            <a:fillRect/>
          </a:stretch>
        </p:blipFill>
        <p:spPr>
          <a:xfrm>
            <a:off x="362855" y="901432"/>
            <a:ext cx="8776508" cy="242306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6646D5-2E7B-60AB-A015-E3B9280C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95" y="2956683"/>
            <a:ext cx="7712024" cy="386157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428E60-6EE9-62A7-B19A-845336E9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Чтение данных из файла в коде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E41A945-295E-8420-D916-B98AF5F4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752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01E1A-BD3E-5A45-40D5-CCE4BB4C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несколькими файлами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1B052E4-51E7-CC2C-31C7-C2C906B0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B3D088-F96E-C843-A2AB-2A786076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688" y="931124"/>
            <a:ext cx="9013438" cy="35283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47860A-58EC-5BF3-A5BB-61D47B0AA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46" y="4459516"/>
            <a:ext cx="11719707" cy="196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19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4BF9A42-EBB7-5014-A7A2-BA593110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561" y="3657008"/>
            <a:ext cx="3254823" cy="293685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1C27E-B649-7FFD-E962-E2A694E3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Выгрузка данных из файла </a:t>
            </a:r>
            <a:r>
              <a:rPr lang="en-US" dirty="0" err="1"/>
              <a:t>MatLab</a:t>
            </a:r>
            <a:r>
              <a:rPr lang="ru-RU" dirty="0"/>
              <a:t>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6E974B-C4C4-886A-FFE8-4E460E1A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DEAE62-AE59-8979-9155-83B5FF612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87" y="965476"/>
            <a:ext cx="7406012" cy="163632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386F84-F7CF-5437-6826-81BBA0A08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387" y="2601798"/>
            <a:ext cx="4230174" cy="23951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4149FD-A4C9-2AF3-19DA-EBF42A6F1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384" y="1499701"/>
            <a:ext cx="3683838" cy="5081688"/>
          </a:xfrm>
          <a:prstGeom prst="rect">
            <a:avLst/>
          </a:prstGeom>
        </p:spPr>
      </p:pic>
      <p:sp>
        <p:nvSpPr>
          <p:cNvPr id="7" name="Скругленный прямоугольник 5">
            <a:extLst>
              <a:ext uri="{FF2B5EF4-FFF2-40B4-BE49-F238E27FC236}">
                <a16:creationId xmlns:a16="http://schemas.microsoft.com/office/drawing/2014/main" id="{82DE8E67-545C-1C9A-1EAD-0E6B26D2773A}"/>
              </a:ext>
            </a:extLst>
          </p:cNvPr>
          <p:cNvSpPr/>
          <p:nvPr/>
        </p:nvSpPr>
        <p:spPr>
          <a:xfrm>
            <a:off x="7915434" y="3685597"/>
            <a:ext cx="3438366" cy="2958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5C79772-806C-64B8-9295-9712EBD8DC3A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638746" y="2505891"/>
            <a:ext cx="4325016" cy="186328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5">
            <a:extLst>
              <a:ext uri="{FF2B5EF4-FFF2-40B4-BE49-F238E27FC236}">
                <a16:creationId xmlns:a16="http://schemas.microsoft.com/office/drawing/2014/main" id="{552C3910-7E57-1E45-7EF3-BDDBA2DAB2A9}"/>
              </a:ext>
            </a:extLst>
          </p:cNvPr>
          <p:cNvSpPr/>
          <p:nvPr/>
        </p:nvSpPr>
        <p:spPr>
          <a:xfrm>
            <a:off x="7963762" y="4249993"/>
            <a:ext cx="2867636" cy="23837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F42F8D7A-1D37-F678-738B-8FEB3715FD76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788058" y="2601798"/>
            <a:ext cx="2127376" cy="1231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4FEFAE-D84D-CBD7-49E4-7BAC13A36B93}"/>
              </a:ext>
            </a:extLst>
          </p:cNvPr>
          <p:cNvSpPr txBox="1"/>
          <p:nvPr/>
        </p:nvSpPr>
        <p:spPr>
          <a:xfrm>
            <a:off x="692151" y="5333728"/>
            <a:ext cx="3409242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From File </a:t>
            </a:r>
            <a:r>
              <a:rPr lang="ru-RU" dirty="0"/>
              <a:t>умеет читать данные только из файлов формата </a:t>
            </a:r>
            <a:r>
              <a:rPr lang="en-US" dirty="0"/>
              <a:t>mat </a:t>
            </a:r>
            <a:r>
              <a:rPr lang="ru-RU" dirty="0"/>
              <a:t>версии </a:t>
            </a:r>
            <a:r>
              <a:rPr lang="en-US" dirty="0"/>
              <a:t>7.3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411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E14B9BD-B724-1E27-5754-AD831EB7D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336" y="1082320"/>
            <a:ext cx="5052495" cy="145097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35C0E2-358B-83B7-9592-4CC74C6E6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68" y="2625625"/>
            <a:ext cx="3969034" cy="40958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AB8CF-1ED7-0A86-3E00-D38C6F48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Выгрузка данных из файла </a:t>
            </a:r>
            <a:r>
              <a:rPr lang="en-US" dirty="0"/>
              <a:t>csv</a:t>
            </a:r>
            <a:r>
              <a:rPr lang="ru-RU" dirty="0"/>
              <a:t>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46FB98-CC4D-83DA-C9D7-AAFFB036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273B26-E416-65EA-901B-6B1FF9355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419" y="1108517"/>
            <a:ext cx="3875900" cy="5531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4EAF92-4BC4-E57E-A401-25B9C84C940D}"/>
              </a:ext>
            </a:extLst>
          </p:cNvPr>
          <p:cNvSpPr txBox="1"/>
          <p:nvPr/>
        </p:nvSpPr>
        <p:spPr>
          <a:xfrm>
            <a:off x="4495914" y="2663882"/>
            <a:ext cx="3105592" cy="36933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Обязательно расширение </a:t>
            </a:r>
            <a:r>
              <a:rPr lang="en-US" dirty="0"/>
              <a:t>csv</a:t>
            </a:r>
            <a:endParaRPr lang="ru-RU" dirty="0"/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E20E3660-6A32-7C1D-103D-91DC974C369A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601506" y="2848548"/>
            <a:ext cx="760278" cy="42999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336AFC-A749-F575-E434-0750E3DF0BE7}"/>
              </a:ext>
            </a:extLst>
          </p:cNvPr>
          <p:cNvSpPr txBox="1"/>
          <p:nvPr/>
        </p:nvSpPr>
        <p:spPr>
          <a:xfrm>
            <a:off x="3537559" y="3824787"/>
            <a:ext cx="3897680" cy="36933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Имя листа совпадает с именем файла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DA3F8B77-8FF9-F744-6BD8-070407F3F2D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435239" y="3579454"/>
            <a:ext cx="1039458" cy="42999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98407F-0198-BA7F-8291-24F2B2CD939D}"/>
              </a:ext>
            </a:extLst>
          </p:cNvPr>
          <p:cNvSpPr txBox="1"/>
          <p:nvPr/>
        </p:nvSpPr>
        <p:spPr>
          <a:xfrm>
            <a:off x="463628" y="1389360"/>
            <a:ext cx="2056708" cy="64633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Первый столбец содержит время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92A4F0FB-A809-DEDA-941C-F8E9E3735D3E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083708" y="2035691"/>
            <a:ext cx="408274" cy="124285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88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A21F5-25C3-826A-A81D-D90FC574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Выгрузка данных из файла </a:t>
            </a:r>
            <a:r>
              <a:rPr lang="en-US" dirty="0"/>
              <a:t>Excel</a:t>
            </a:r>
            <a:r>
              <a:rPr lang="ru-RU" dirty="0"/>
              <a:t>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CE5310F-4D35-0DBA-11BB-62D3AC56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8BB74E-C4A1-7F9E-9F86-B230DF0894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183"/>
          <a:stretch>
            <a:fillRect/>
          </a:stretch>
        </p:blipFill>
        <p:spPr>
          <a:xfrm>
            <a:off x="423417" y="2216681"/>
            <a:ext cx="3620162" cy="44893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F23B98-DBBD-7866-0D56-E57821935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883" y="1043921"/>
            <a:ext cx="3974704" cy="570989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27DA0D-967F-0BCD-1F18-CCE466A9E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41" y="1104746"/>
            <a:ext cx="5541110" cy="11604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E768CF-306C-1593-EE0C-43B3D8B565A6}"/>
              </a:ext>
            </a:extLst>
          </p:cNvPr>
          <p:cNvSpPr txBox="1"/>
          <p:nvPr/>
        </p:nvSpPr>
        <p:spPr>
          <a:xfrm>
            <a:off x="4632185" y="3732508"/>
            <a:ext cx="2321241" cy="64633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Необходимо указать имя листа </a:t>
            </a:r>
            <a:r>
              <a:rPr lang="en-US" dirty="0"/>
              <a:t>excel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9C4E6DA-BE8B-A956-479F-60B40D9F520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6953426" y="3629025"/>
            <a:ext cx="1295224" cy="42664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2342CBD-F63F-E744-4332-8CD1C818AFC9}"/>
              </a:ext>
            </a:extLst>
          </p:cNvPr>
          <p:cNvSpPr txBox="1"/>
          <p:nvPr/>
        </p:nvSpPr>
        <p:spPr>
          <a:xfrm>
            <a:off x="4250742" y="2267049"/>
            <a:ext cx="1815804" cy="64633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Первый столбец содержит время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BBBFC2B8-0EB3-77F1-E639-CC00416D4EFB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1419225" y="2913380"/>
            <a:ext cx="3739419" cy="167943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37FCCF-7CC0-0D16-1918-755FBE07CED0}"/>
              </a:ext>
            </a:extLst>
          </p:cNvPr>
          <p:cNvSpPr txBox="1"/>
          <p:nvPr/>
        </p:nvSpPr>
        <p:spPr>
          <a:xfrm>
            <a:off x="5385371" y="5081580"/>
            <a:ext cx="1872208" cy="64633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Столбцы могут иметь заголовки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0EF2F53-C073-E656-B9CF-FCBF2322737A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067050" y="4781550"/>
            <a:ext cx="2318321" cy="62319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378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AE6F5-DFD7-0BC8-C6B2-B4F69C8A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6" y="365125"/>
            <a:ext cx="11858920" cy="602029"/>
          </a:xfrm>
        </p:spPr>
        <p:txBody>
          <a:bodyPr>
            <a:normAutofit fontScale="90000"/>
          </a:bodyPr>
          <a:lstStyle/>
          <a:p>
            <a:r>
              <a:rPr lang="ru-RU" dirty="0"/>
              <a:t>Выгрузка данных из переменных </a:t>
            </a:r>
            <a:r>
              <a:rPr lang="en-US" dirty="0"/>
              <a:t>Workspace </a:t>
            </a:r>
            <a:r>
              <a:rPr lang="ru-RU" dirty="0"/>
              <a:t>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34D6480-26F1-6434-96F4-2928F502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BADBE5-AE6A-673F-C103-90274B166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18" y="967154"/>
            <a:ext cx="3350088" cy="13577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B577B1-54FD-F2AB-D36B-5B2B04A91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79" y="1203350"/>
            <a:ext cx="3914403" cy="5221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AAA5BC-F07D-2DB2-F372-E615E9DC81B3}"/>
              </a:ext>
            </a:extLst>
          </p:cNvPr>
          <p:cNvSpPr txBox="1"/>
          <p:nvPr/>
        </p:nvSpPr>
        <p:spPr>
          <a:xfrm>
            <a:off x="4971946" y="1254831"/>
            <a:ext cx="2422804" cy="1200329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Переменная типа </a:t>
            </a:r>
            <a:r>
              <a:rPr lang="en-US" dirty="0"/>
              <a:t>timeseries </a:t>
            </a:r>
            <a:r>
              <a:rPr lang="ru-RU" dirty="0"/>
              <a:t>позволяет задать привязку данных ко времени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93168426-0899-CF4F-DEB4-998BB02778D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183348" y="2455160"/>
            <a:ext cx="1506547" cy="1844083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43B83B-8294-C6A5-BAFB-AA5B83E0B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36" y="2455160"/>
            <a:ext cx="4335482" cy="3918905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FE48296-031D-C376-F846-3A862584941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251489" y="2455160"/>
            <a:ext cx="1931859" cy="9738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722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0D92D-2291-BC9A-DEAA-4B849030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Оформление графиков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11B5CDB-F7DA-6344-F039-AA1636DE2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4B2F49-D19B-A281-CAF0-4D496FAC7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7" y="967154"/>
            <a:ext cx="5235436" cy="473238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4D3A3F-ABE9-5D7E-DAF7-FF5F4FF5F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643" y="1713453"/>
            <a:ext cx="5734621" cy="4870361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4783C72D-C412-FC5B-7DB1-DEA7F5537B0B}"/>
              </a:ext>
            </a:extLst>
          </p:cNvPr>
          <p:cNvCxnSpPr>
            <a:cxnSpLocks/>
          </p:cNvCxnSpPr>
          <p:nvPr/>
        </p:nvCxnSpPr>
        <p:spPr>
          <a:xfrm flipV="1">
            <a:off x="2724346" y="2026763"/>
            <a:ext cx="3289955" cy="65987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088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A2EA-449F-5C23-378B-7B3961DE2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64613-A84B-CD66-9758-3AE2B9B8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Оформление графиков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266CED-D566-1E3F-39F1-D6AC1918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796099-1984-F1CA-7FE7-B0F09748B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69" y="1008168"/>
            <a:ext cx="6134129" cy="5273390"/>
          </a:xfrm>
          <a:prstGeom prst="rect">
            <a:avLst/>
          </a:prstGeom>
        </p:spPr>
      </p:pic>
      <p:sp>
        <p:nvSpPr>
          <p:cNvPr id="8" name="Скругленный прямоугольник 5">
            <a:extLst>
              <a:ext uri="{FF2B5EF4-FFF2-40B4-BE49-F238E27FC236}">
                <a16:creationId xmlns:a16="http://schemas.microsoft.com/office/drawing/2014/main" id="{EEEFC956-126D-A3DF-4436-7D6C7318A33A}"/>
              </a:ext>
            </a:extLst>
          </p:cNvPr>
          <p:cNvSpPr/>
          <p:nvPr/>
        </p:nvSpPr>
        <p:spPr>
          <a:xfrm>
            <a:off x="1563111" y="4178996"/>
            <a:ext cx="1224136" cy="2160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4093A2-3DC9-B233-19DF-29A87E8A7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999" y="967154"/>
            <a:ext cx="3605108" cy="5489349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E6C76333-2878-3122-2237-DBA0E74C8EC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787247" y="1244338"/>
            <a:ext cx="4594752" cy="304267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5188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99D2-21DC-A46D-FCB6-25FA5BA0C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DABCC-51E5-E9F9-7F57-C92A91EC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Оформление графиков в </a:t>
            </a:r>
            <a:r>
              <a:rPr lang="en-US" dirty="0"/>
              <a:t>Simulink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7B5607-4486-1897-9F98-C5DE4C576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9CD88C-EC03-3C59-2C48-6911022F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03" y="1246436"/>
            <a:ext cx="3519532" cy="534252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73B82E-D2EF-C037-F97A-49B51B91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76" y="1246436"/>
            <a:ext cx="6485419" cy="52464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4E35CF-2972-4B23-5CE0-27EC97E920A1}"/>
              </a:ext>
            </a:extLst>
          </p:cNvPr>
          <p:cNvSpPr txBox="1"/>
          <p:nvPr/>
        </p:nvSpPr>
        <p:spPr>
          <a:xfrm>
            <a:off x="5665942" y="967154"/>
            <a:ext cx="3416509" cy="40011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/>
              <a:t>Изменение шрифта подписей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A76DC216-C0EB-78D7-1309-1B04F5CD5EB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374197" y="1367264"/>
            <a:ext cx="2140302" cy="153512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E2A6015-3166-286C-F0E9-792B16092A8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278252" y="1367264"/>
            <a:ext cx="1095945" cy="469417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301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F463-EDA4-05B8-31EA-7397F3CB8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3ABCA22-0CA4-3439-D76A-2AAB1B711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03" y="2624698"/>
            <a:ext cx="9088338" cy="407638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78D7BD-1AD7-ED31-93E2-B499DAB1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Оформление графиков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46904E5-EC40-87EF-2B9E-C9CD80DB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F178120-5E5E-9B07-6364-A0557C6F4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62" y="967154"/>
            <a:ext cx="5786605" cy="165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5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27D21-792B-513F-726F-56523209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5E001-BECF-206F-CB22-7F0E4ADE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Оформление графиков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57CF2DE-0549-6C31-4745-91273B17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2468F9-3D5E-E12A-0BE0-8671F0431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4" y="1359478"/>
            <a:ext cx="3020868" cy="16659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41AE08-B714-5AD1-E58B-06AEA9FDD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37" y="3025398"/>
            <a:ext cx="7239788" cy="366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8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650FE-15E8-8C46-EC9E-DB8FBDB8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4CC422-5384-2924-E2A8-834C084F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Оформление графиков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A9676D5-DD2F-5573-444E-CC8CD8F7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3A6373-8AF3-1820-D603-4605E0BB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76" y="967154"/>
            <a:ext cx="6249272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36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CCC7-E79F-3AE6-9212-E8DB1038B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5CAC8EC-8F2C-BB9E-9B05-382C98C235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5DE7D-8C88-BDD8-DFB2-A0AD4D29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83531CD-CF08-C99D-FA61-4AAB801B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042FDA9B-7D1F-2BD1-F1EE-391258C0F112}"/>
              </a:ext>
            </a:extLst>
          </p:cNvPr>
          <p:cNvSpPr txBox="1">
            <a:spLocks/>
          </p:cNvSpPr>
          <p:nvPr/>
        </p:nvSpPr>
        <p:spPr>
          <a:xfrm>
            <a:off x="540062" y="1244563"/>
            <a:ext cx="11319756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Разработать </a:t>
            </a:r>
            <a:r>
              <a:rPr lang="en-US" dirty="0">
                <a:latin typeface="Arial" pitchFamily="34" charset="0"/>
                <a:cs typeface="Arial" pitchFamily="34" charset="0"/>
              </a:rPr>
              <a:t>script </a:t>
            </a:r>
            <a:r>
              <a:rPr lang="ru-RU" dirty="0">
                <a:latin typeface="Arial" pitchFamily="34" charset="0"/>
                <a:cs typeface="Arial" pitchFamily="34" charset="0"/>
              </a:rPr>
              <a:t>для автоматизации построения графиков по файлам данных используя алгоритм проведения исследований.</a:t>
            </a:r>
          </a:p>
          <a:p>
            <a:pPr marL="0" indent="0">
              <a:buNone/>
            </a:pPr>
            <a:endParaRPr lang="ru-RU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Подсказки:</a:t>
            </a:r>
          </a:p>
          <a:p>
            <a:pPr>
              <a:buFontTx/>
              <a:buChar char="-"/>
            </a:pPr>
            <a:r>
              <a:rPr lang="ru-RU" dirty="0">
                <a:latin typeface="Arial" pitchFamily="34" charset="0"/>
                <a:cs typeface="Arial" pitchFamily="34" charset="0"/>
              </a:rPr>
              <a:t>файлов данных может быть много, но они могут содержать данные об одних и тех же величинах при разных условиях;</a:t>
            </a:r>
          </a:p>
          <a:p>
            <a:pPr>
              <a:buFontTx/>
              <a:buChar char="-"/>
            </a:pPr>
            <a:r>
              <a:rPr lang="ru-RU" dirty="0">
                <a:latin typeface="Arial" pitchFamily="34" charset="0"/>
                <a:cs typeface="Arial" pitchFamily="34" charset="0"/>
              </a:rPr>
              <a:t>графики будут использоваться для анализа данных и написания отчетов. </a:t>
            </a:r>
          </a:p>
        </p:txBody>
      </p:sp>
    </p:spTree>
    <p:extLst>
      <p:ext uri="{BB962C8B-B14F-4D97-AF65-F5344CB8AC3E}">
        <p14:creationId xmlns:p14="http://schemas.microsoft.com/office/powerpoint/2010/main" val="12925031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1150</TotalTime>
  <Words>436</Words>
  <Application>Microsoft Office PowerPoint</Application>
  <PresentationFormat>Широкоэкранный</PresentationFormat>
  <Paragraphs>86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Тема Office</vt:lpstr>
      <vt:lpstr>Основы моделирования и исследования систем подводных аппаратов</vt:lpstr>
      <vt:lpstr>Данные как результаты моделирования и исследования</vt:lpstr>
      <vt:lpstr>Работа с Git в Windows</vt:lpstr>
      <vt:lpstr>Работа с репозиторием на GitHub</vt:lpstr>
      <vt:lpstr>Работа с репозиторием на GitHub</vt:lpstr>
      <vt:lpstr>Работа с локальным и удаленным репозиториями</vt:lpstr>
      <vt:lpstr>Добавление/удаление/замена файлов в репозитории</vt:lpstr>
      <vt:lpstr>Чтение данных из файла</vt:lpstr>
      <vt:lpstr>Чтение данных из файла в коде</vt:lpstr>
      <vt:lpstr>Работа с несколькими файлами</vt:lpstr>
      <vt:lpstr>Выгрузка данных из файла MatLab в Simulink</vt:lpstr>
      <vt:lpstr>Выгрузка данных из файла csv в Simulink</vt:lpstr>
      <vt:lpstr>Выгрузка данных из файла Excel в Simulink</vt:lpstr>
      <vt:lpstr>Выгрузка данных из переменных Workspace в Simulink</vt:lpstr>
      <vt:lpstr>Оформление графиков в Simulink</vt:lpstr>
      <vt:lpstr>Оформление графиков в Simulink</vt:lpstr>
      <vt:lpstr>Оформление графиков в Simulink</vt:lpstr>
      <vt:lpstr>Оформление графиков в MatLab</vt:lpstr>
      <vt:lpstr>Оформление графиков в MatLab</vt:lpstr>
      <vt:lpstr>Оформление графиков в MatLab</vt:lpstr>
      <vt:lpstr>Задача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Анна Сергеевна Ромашко</dc:creator>
  <cp:lastModifiedBy>Анна Сергеевна Ромашко</cp:lastModifiedBy>
  <cp:revision>34</cp:revision>
  <dcterms:created xsi:type="dcterms:W3CDTF">2026-08-31T05:10:56Z</dcterms:created>
  <dcterms:modified xsi:type="dcterms:W3CDTF">2026-09-02T07:29:18Z</dcterms:modified>
</cp:coreProperties>
</file>